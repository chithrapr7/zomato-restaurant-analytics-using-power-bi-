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7829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"Good [morning/afternoon]. My name is Chithra P R from PGDA Batch 45.
Today I will present my capstone project — a Power BI analytics dashboard built on Zomato's global restaurant dataset.
This project covers the complete data analytics pipeline — from raw data to a fully interactive dashboard with real business insights.
I will walk you through the problem statement, data architecture, cleaning steps, DAX measures, and the key findings from the dashboard."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(AGENDA):
"Let me quickly walk you through the agenda.
We have 8 sections today — starting from the problem statement, then data, cleaning, measures, and ending with insights and conclusion.
The entire presentation is designed to follow the standard data analytics workflow — from problem to solution."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(PROBLEM STATEMENT):
"The problem this project addresses is very clear — Zomato generates enormous amounts of restaurant data every day, but raw data alone is useless without structure and analysis.
There are three layers to this problem:
First, the business problem — stakeholders have no tool to understand performance patterns.
Second, the data problem — a flat CSV with outliers and missing values cannot be analyzed directly.
Third, the solution we needed — a structured data model with calculated measures and an interactive dashboard.
My project solves all three."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(PROJECT OVERVIEW):
"The objective of this project was to convert a flat, unanalyzed CSV file into a fully interactive Power BI dashboard.
The dataset comes from Zomato's public restaurant data — covering 9,551 restaurants across 15 countries and 6 continents.
I used Power BI Desktop as my main tool, Power Query for data cleaning, and DAX for writing 20 calculated measures.
The final output is a 2-page dashboard — Page 1 for overall performance analysis, Page 2 for continent and country-level deep dive."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(DATASET &amp; EDA):
"Before building the dashboard, I first explored the dataset to understand its structure.
The data has 9,551 rows and 21 columns — all in a single flat CSV file.
During exploratory analysis, I discovered several important patterns:
India dominates with 90.6% of all restaurants. North Indian cuisine is the most common.
Only 25.7% of restaurants offer online delivery and just 12.1% have table booking.
Critically, 2,148 restaurants are completely unrated — which I had to handle carefully in my DAX measures.
These EDA findings directly shaped both my data cleaning approach and dashboard design."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(DATA ARCHITECTURE):
"Rather than working with a single flat table, I designed a 3-table Star Schema — which is the industry-standard approach for analytical data models.
The center of the schema is the Performance_Fact table, which holds all the measurable data — ratings, cost, votes, delivery status.
This connects to Restaurant_Dim via Restaurant ID — which gives us location and cuisine information.
It also connects to Country_Dim via Country Code — which enables continent-level filtering.
A critical setting was changing the Cross Filter Direction to BOTH on all relationships. Without this, continent and country filters were not working correctly on the charts."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(DAX MEASURES):
"I wrote 20 DAX measures spread across the 3 tables.
The most important ones are:
Weighted Avg Rating — which uses CALCULATE with a filter to exclude zero-rated restaurants.
Delivery Rating Uplift — which uses VAR to compute the difference in rating between delivery and non-delivery restaurants.
India Share % — which uses a cross-table CALCULATE to compare India's count against the total.
All percentage measures use the DIVIDE function to safely handle division by zero.
The measures are what power all the KPI cards and chart calculations in the dashboard."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(DASHBOARD PAGE 1):
"This is Page 1 of my Power BI dashboard — the main performance analysis page.
At the top you can see 6 KPI cards showing the headline numbers — 9,551 restaurants, 3.44 average rating, 1 million votes, ₹583 average cost, 25.7% online delivery, and 3.15% excellent ratings.
Below that are 8 interactive charts.
The cuisines bar chart shows North Indian is most popular with 936 restaurants.
The rating distribution donut shows that Average is the most common rating at 39%.
The most interesting chart is the delivery vs rating comparison — restaurants with delivery are rated 0.78 points higher on average.
All 8 charts respond dynamically to the 4 slicers on the left — Continent, Country, Price Range, and Rating Text."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(DASHBOARD PAGE 2):
"Page 2 is the deep dive analysis page — focused on continent and country level comparisons.
The first chart shows average rating by continent — and surprisingly, Africa has the highest average rating at 4.21, followed by Europe at 4.19. Asia, despite having the most restaurants, has the lowest average at 3.37.
The second chart shows average cost by continent — Asia appears highest at ₹1,293 because it includes expensive restaurants from Singapore, UAE and Philippines alongside cheaper Indian restaurants.
The restaurant share donut clearly shows India's 90.7% dominance in this dataset.
Both slicers — Country Name and Continent — make all 5 charts update dynamically, allowing targeted country-by-country comparison."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11 (KPIs):
"These are the key performance indicators from both dashboard pages.
On the left — Page 1 KPIs: 9,551 total restaurants, weighted average rating of 3.44, 1 million total votes, average cost of ₹583, 25.7% online delivery adoption, and 3.15% achieving Excellent rating.
On the right — Page 2 deep dive highlights: Africa leads in rating quality at 4.21, Asia has the most restaurants at 8,815, India accounts for 90.6% of the dataset, delivery restaurants have a 0.78 rating advantage, and nearly half of all restaurants are in the budget price range.
All these values are calculated using DAX measures — not simple aggregations."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12 (KEY INSIGHTS):
"These are the 6 most important business insights I extracted from the dashboard.
Insight 1: India accounts for 90.6% of the dataset — so all trends are India-centric.
Insight 2: Online delivery restaurants are rated 0.78 points higher — this is a strong finding for Zomato's business strategy.
Insight 3: Luxury restaurants are rated almost double budget restaurants — price and quality are strongly correlated.
Insight 4: Excellent restaurants receive 18 times more votes than Average-rated ones — showing quality drives viral engagement.
Insight 5: 22.5% of restaurants have never been rated — this is a major opportunity for Zomato to drive first-review campaigns.
Insight 6: Africa has the best rating quality despite the smallest presence — suggesting very selective listing standards."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13 (RECOMMENDATIONS):
"Based on the insights from my analysis, I have 4 business recommendations for Zomato:
First — promote online delivery adoption. Since delivery restaurants have consistently higher ratings, converting non-delivery restaurants could significantly improve overall platform quality scores.
Second — launch first-review campaigns targeting the 2,148 unrated restaurants. These represent a massive untapped engagement opportunity.
Third — introduce a Premium Quality badge for Price Range 4 restaurants since they consistently achieve the highest ratings.
Fourth — expand internationally into Africa and Europe where quality standards appear highest.
These recommendations are directly derived from the data, which makes them actionable and credible."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14 (CONCLUSION):
"To summarize — this project took a raw, unstructured Zomato dataset with 9,551 restaurants and transformed it into a fully analytical Power BI solution.
I built a 3-table Star Schema to properly model the data, wrote 20 DAX measures to calculate accurate KPIs, and created 2 interactive dashboard pages with drill-down capability.
The key findings are: India dominates the dataset, delivery restaurants are rated higher, luxury restaurants attract better reviews, and there's a significant opportunity in the 22.5% unrated restaurants.
This project demonstrates the complete data analytics workflow — from raw data, through cleaning, modeling, visualization, and finally to actionable business insights.
Thank you. I'm happy to answer any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23744"/>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FFFFF"/>
          </a:solidFill>
          <a:ln/>
        </p:spPr>
      </p:sp>
      <p:sp>
        <p:nvSpPr>
          <p:cNvPr id="3" name="Shape 1"/>
          <p:cNvSpPr/>
          <p:nvPr/>
        </p:nvSpPr>
        <p:spPr>
          <a:xfrm>
            <a:off x="3749040" y="256032"/>
            <a:ext cx="1645920" cy="1645920"/>
          </a:xfrm>
          <a:prstGeom prst="ellipse">
            <a:avLst/>
          </a:prstGeom>
          <a:solidFill>
            <a:srgbClr val="B8202E"/>
          </a:solidFill>
          <a:ln w="38100">
            <a:solidFill>
              <a:srgbClr val="FFFFFF"/>
            </a:solidFill>
            <a:prstDash val="solid"/>
          </a:ln>
        </p:spPr>
      </p:sp>
      <p:sp>
        <p:nvSpPr>
          <p:cNvPr id="4" name="Text 2"/>
          <p:cNvSpPr/>
          <p:nvPr/>
        </p:nvSpPr>
        <p:spPr>
          <a:xfrm>
            <a:off x="3749040" y="256032"/>
            <a:ext cx="1645920" cy="1645920"/>
          </a:xfrm>
          <a:prstGeom prst="rect">
            <a:avLst/>
          </a:prstGeom>
          <a:noFill/>
          <a:ln/>
        </p:spPr>
        <p:txBody>
          <a:bodyPr wrap="square" lIns="0" tIns="0" rIns="0" bIns="0" rtlCol="0" anchor="ctr"/>
          <a:lstStyle/>
          <a:p>
            <a:pPr marL="0" indent="0" algn="ctr">
              <a:buNone/>
            </a:pPr>
            <a:r>
              <a:rPr lang="en-US" sz="5600" b="1" dirty="0">
                <a:solidFill>
                  <a:srgbClr val="FFFFFF"/>
                </a:solidFill>
                <a:latin typeface="Calibri Black" pitchFamily="34" charset="0"/>
                <a:ea typeface="Calibri Black" pitchFamily="34" charset="-122"/>
                <a:cs typeface="Calibri Black" pitchFamily="34" charset="-120"/>
              </a:rPr>
              <a:t>Z</a:t>
            </a:r>
            <a:endParaRPr lang="en-US" sz="5600" dirty="0"/>
          </a:p>
        </p:txBody>
      </p:sp>
      <p:sp>
        <p:nvSpPr>
          <p:cNvPr id="5" name="Text 3"/>
          <p:cNvSpPr/>
          <p:nvPr/>
        </p:nvSpPr>
        <p:spPr>
          <a:xfrm>
            <a:off x="365760" y="2084832"/>
            <a:ext cx="8412480" cy="621792"/>
          </a:xfrm>
          <a:prstGeom prst="rect">
            <a:avLst/>
          </a:prstGeom>
          <a:noFill/>
          <a:ln/>
        </p:spPr>
        <p:txBody>
          <a:bodyPr wrap="square" rtlCol="0" anchor="ctr"/>
          <a:lstStyle/>
          <a:p>
            <a:pPr marL="0" indent="0" algn="ctr">
              <a:buNone/>
            </a:pPr>
            <a:r>
              <a:rPr lang="en-US" sz="3800" b="1" kern="0" spc="300" dirty="0">
                <a:solidFill>
                  <a:srgbClr val="FFFFFF"/>
                </a:solidFill>
                <a:latin typeface="Calibri" pitchFamily="34" charset="0"/>
                <a:ea typeface="Calibri" pitchFamily="34" charset="-122"/>
                <a:cs typeface="Calibri" pitchFamily="34" charset="-120"/>
              </a:rPr>
              <a:t>ZOMATO RESTAURANT</a:t>
            </a:r>
            <a:endParaRPr lang="en-US" sz="3800" dirty="0"/>
          </a:p>
        </p:txBody>
      </p:sp>
      <p:sp>
        <p:nvSpPr>
          <p:cNvPr id="6" name="Text 4"/>
          <p:cNvSpPr/>
          <p:nvPr/>
        </p:nvSpPr>
        <p:spPr>
          <a:xfrm>
            <a:off x="365760" y="2670048"/>
            <a:ext cx="8412480" cy="594360"/>
          </a:xfrm>
          <a:prstGeom prst="rect">
            <a:avLst/>
          </a:prstGeom>
          <a:noFill/>
          <a:ln/>
        </p:spPr>
        <p:txBody>
          <a:bodyPr wrap="square" rtlCol="0" anchor="ctr"/>
          <a:lstStyle/>
          <a:p>
            <a:pPr marL="0" indent="0" algn="ctr">
              <a:buNone/>
            </a:pPr>
            <a:r>
              <a:rPr lang="en-US" sz="3800" b="1" kern="0" spc="300" dirty="0">
                <a:solidFill>
                  <a:srgbClr val="FDEAEC"/>
                </a:solidFill>
                <a:latin typeface="Calibri" pitchFamily="34" charset="0"/>
                <a:ea typeface="Calibri" pitchFamily="34" charset="-122"/>
                <a:cs typeface="Calibri" pitchFamily="34" charset="-120"/>
              </a:rPr>
              <a:t>ANALYTICS DASHBOARD</a:t>
            </a:r>
            <a:endParaRPr lang="en-US" sz="3800" dirty="0"/>
          </a:p>
        </p:txBody>
      </p:sp>
      <p:sp>
        <p:nvSpPr>
          <p:cNvPr id="7" name="Text 5"/>
          <p:cNvSpPr/>
          <p:nvPr/>
        </p:nvSpPr>
        <p:spPr>
          <a:xfrm>
            <a:off x="365760" y="3383280"/>
            <a:ext cx="8412480" cy="320040"/>
          </a:xfrm>
          <a:prstGeom prst="rect">
            <a:avLst/>
          </a:prstGeom>
          <a:noFill/>
          <a:ln/>
        </p:spPr>
        <p:txBody>
          <a:bodyPr wrap="square" rtlCol="0" anchor="ctr"/>
          <a:lstStyle/>
          <a:p>
            <a:pPr marL="0" indent="0" algn="ctr">
              <a:buNone/>
            </a:pPr>
            <a:r>
              <a:rPr lang="en-US" sz="1400" dirty="0">
                <a:solidFill>
                  <a:srgbClr val="FFD0D4"/>
                </a:solidFill>
                <a:latin typeface="Calibri" pitchFamily="34" charset="0"/>
                <a:ea typeface="Calibri" pitchFamily="34" charset="-122"/>
                <a:cs typeface="Calibri" pitchFamily="34" charset="-120"/>
              </a:rPr>
              <a:t>Capstone Project  |  Power BI Analytics  |  2026</a:t>
            </a:r>
            <a:endParaRPr lang="en-US" sz="1400" dirty="0"/>
          </a:p>
        </p:txBody>
      </p:sp>
      <p:sp>
        <p:nvSpPr>
          <p:cNvPr id="8" name="Shape 6"/>
          <p:cNvSpPr/>
          <p:nvPr/>
        </p:nvSpPr>
        <p:spPr>
          <a:xfrm>
            <a:off x="2560320" y="3794760"/>
            <a:ext cx="4023360" cy="841248"/>
          </a:xfrm>
          <a:prstGeom prst="rect">
            <a:avLst/>
          </a:prstGeom>
          <a:solidFill>
            <a:srgbClr val="B8202E"/>
          </a:solidFill>
          <a:ln/>
          <a:effectLst>
            <a:outerShdw blurRad="63500" dist="25400" dir="8100000" algn="bl" rotWithShape="0">
              <a:srgbClr val="000000">
                <a:alpha val="10000"/>
              </a:srgbClr>
            </a:outerShdw>
          </a:effectLst>
        </p:spPr>
      </p:sp>
      <p:sp>
        <p:nvSpPr>
          <p:cNvPr id="9" name="Shape 7"/>
          <p:cNvSpPr/>
          <p:nvPr/>
        </p:nvSpPr>
        <p:spPr>
          <a:xfrm>
            <a:off x="2560320" y="3794760"/>
            <a:ext cx="4023360" cy="45720"/>
          </a:xfrm>
          <a:prstGeom prst="rect">
            <a:avLst/>
          </a:prstGeom>
          <a:solidFill>
            <a:srgbClr val="FFFFFF"/>
          </a:solidFill>
          <a:ln/>
        </p:spPr>
      </p:sp>
      <p:sp>
        <p:nvSpPr>
          <p:cNvPr id="10" name="Text 8"/>
          <p:cNvSpPr/>
          <p:nvPr/>
        </p:nvSpPr>
        <p:spPr>
          <a:xfrm>
            <a:off x="2560320" y="3831336"/>
            <a:ext cx="4023360" cy="237744"/>
          </a:xfrm>
          <a:prstGeom prst="rect">
            <a:avLst/>
          </a:prstGeom>
          <a:noFill/>
          <a:ln/>
        </p:spPr>
        <p:txBody>
          <a:bodyPr wrap="square" rtlCol="0" anchor="ctr"/>
          <a:lstStyle/>
          <a:p>
            <a:pPr marL="0" indent="0" algn="ctr">
              <a:buNone/>
            </a:pPr>
            <a:r>
              <a:rPr lang="en-US" sz="1100" i="1" dirty="0">
                <a:solidFill>
                  <a:srgbClr val="FFD0D4"/>
                </a:solidFill>
                <a:latin typeface="Calibri" pitchFamily="34" charset="0"/>
                <a:ea typeface="Calibri" pitchFamily="34" charset="-122"/>
                <a:cs typeface="Calibri" pitchFamily="34" charset="-120"/>
              </a:rPr>
              <a:t>Presented by</a:t>
            </a:r>
            <a:endParaRPr lang="en-US" sz="1100" dirty="0"/>
          </a:p>
        </p:txBody>
      </p:sp>
      <p:sp>
        <p:nvSpPr>
          <p:cNvPr id="11" name="Text 9"/>
          <p:cNvSpPr/>
          <p:nvPr/>
        </p:nvSpPr>
        <p:spPr>
          <a:xfrm>
            <a:off x="2560320" y="4087368"/>
            <a:ext cx="4023360" cy="310896"/>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Chithra P R</a:t>
            </a:r>
            <a:endParaRPr lang="en-US" sz="2000" dirty="0"/>
          </a:p>
        </p:txBody>
      </p:sp>
      <p:sp>
        <p:nvSpPr>
          <p:cNvPr id="12" name="Text 10"/>
          <p:cNvSpPr/>
          <p:nvPr/>
        </p:nvSpPr>
        <p:spPr>
          <a:xfrm>
            <a:off x="2560320" y="4407408"/>
            <a:ext cx="4023360" cy="201168"/>
          </a:xfrm>
          <a:prstGeom prst="rect">
            <a:avLst/>
          </a:prstGeom>
          <a:noFill/>
          <a:ln/>
        </p:spPr>
        <p:txBody>
          <a:bodyPr wrap="square" rtlCol="0" anchor="ctr"/>
          <a:lstStyle/>
          <a:p>
            <a:pPr marL="0" indent="0" algn="ctr">
              <a:buNone/>
            </a:pPr>
            <a:r>
              <a:rPr lang="en-US" sz="1100" dirty="0">
                <a:solidFill>
                  <a:srgbClr val="FFD0D4"/>
                </a:solidFill>
                <a:latin typeface="Calibri" pitchFamily="34" charset="0"/>
                <a:ea typeface="Calibri" pitchFamily="34" charset="-122"/>
                <a:cs typeface="Calibri" pitchFamily="34" charset="-120"/>
              </a:rPr>
              <a:t>PGDA Batch - 45</a:t>
            </a:r>
            <a:endParaRPr lang="en-US" sz="1100" dirty="0"/>
          </a:p>
        </p:txBody>
      </p:sp>
      <p:sp>
        <p:nvSpPr>
          <p:cNvPr id="13" name="Shape 11"/>
          <p:cNvSpPr/>
          <p:nvPr/>
        </p:nvSpPr>
        <p:spPr>
          <a:xfrm>
            <a:off x="0" y="4828032"/>
            <a:ext cx="9144000" cy="315468"/>
          </a:xfrm>
          <a:prstGeom prst="rect">
            <a:avLst/>
          </a:prstGeom>
          <a:solidFill>
            <a:srgbClr val="B8202E"/>
          </a:solidFill>
          <a:ln/>
        </p:spPr>
      </p:sp>
      <p:sp>
        <p:nvSpPr>
          <p:cNvPr id="14" name="Text 12"/>
          <p:cNvSpPr/>
          <p:nvPr/>
        </p:nvSpPr>
        <p:spPr>
          <a:xfrm>
            <a:off x="274320" y="4828032"/>
            <a:ext cx="8595360" cy="315468"/>
          </a:xfrm>
          <a:prstGeom prst="rect">
            <a:avLst/>
          </a:prstGeom>
          <a:noFill/>
          <a:ln/>
        </p:spPr>
        <p:txBody>
          <a:bodyPr wrap="square" rtlCol="0" anchor="ctr"/>
          <a:lstStyle/>
          <a:p>
            <a:pPr marL="0" indent="0" algn="ctr">
              <a:buNone/>
            </a:pP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23744"/>
          </a:solidFill>
          <a:ln/>
        </p:spPr>
      </p:sp>
      <p:sp>
        <p:nvSpPr>
          <p:cNvPr id="3" name="Shape 1"/>
          <p:cNvSpPr/>
          <p:nvPr/>
        </p:nvSpPr>
        <p:spPr>
          <a:xfrm>
            <a:off x="0" y="749808"/>
            <a:ext cx="9144000" cy="45720"/>
          </a:xfrm>
          <a:prstGeom prst="rect">
            <a:avLst/>
          </a:prstGeom>
          <a:solidFill>
            <a:srgbClr val="B8202E"/>
          </a:solidFill>
          <a:ln/>
        </p:spPr>
      </p:sp>
      <p:sp>
        <p:nvSpPr>
          <p:cNvPr id="4" name="Text 2"/>
          <p:cNvSpPr/>
          <p:nvPr/>
        </p:nvSpPr>
        <p:spPr>
          <a:xfrm>
            <a:off x="320040" y="0"/>
            <a:ext cx="8229600" cy="749808"/>
          </a:xfrm>
          <a:prstGeom prst="rect">
            <a:avLst/>
          </a:prstGeom>
          <a:noFill/>
          <a:ln/>
        </p:spPr>
        <p:txBody>
          <a:bodyPr wrap="square"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PRESENTATION AGENDA</a:t>
            </a:r>
            <a:endParaRPr lang="en-US" sz="2300" dirty="0"/>
          </a:p>
        </p:txBody>
      </p:sp>
      <p:sp>
        <p:nvSpPr>
          <p:cNvPr id="5" name="Shape 3"/>
          <p:cNvSpPr/>
          <p:nvPr/>
        </p:nvSpPr>
        <p:spPr>
          <a:xfrm>
            <a:off x="8705088" y="109728"/>
            <a:ext cx="347472" cy="347472"/>
          </a:xfrm>
          <a:prstGeom prst="ellipse">
            <a:avLst/>
          </a:prstGeom>
          <a:solidFill>
            <a:srgbClr val="B8202E"/>
          </a:solidFill>
          <a:ln/>
        </p:spPr>
      </p:sp>
      <p:sp>
        <p:nvSpPr>
          <p:cNvPr id="6" name="Text 4"/>
          <p:cNvSpPr/>
          <p:nvPr/>
        </p:nvSpPr>
        <p:spPr>
          <a:xfrm>
            <a:off x="8705088" y="1097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7" name="Shape 5"/>
          <p:cNvSpPr/>
          <p:nvPr/>
        </p:nvSpPr>
        <p:spPr>
          <a:xfrm>
            <a:off x="256032" y="960120"/>
            <a:ext cx="4242816" cy="868680"/>
          </a:xfrm>
          <a:prstGeom prst="rect">
            <a:avLst/>
          </a:prstGeom>
          <a:solidFill>
            <a:srgbClr val="FFFFFF"/>
          </a:solidFill>
          <a:ln/>
          <a:effectLst>
            <a:outerShdw blurRad="63500" dist="25400" dir="8100000" algn="bl" rotWithShape="0">
              <a:srgbClr val="000000">
                <a:alpha val="10000"/>
              </a:srgbClr>
            </a:outerShdw>
          </a:effectLst>
        </p:spPr>
      </p:sp>
      <p:sp>
        <p:nvSpPr>
          <p:cNvPr id="8" name="Shape 6"/>
          <p:cNvSpPr/>
          <p:nvPr/>
        </p:nvSpPr>
        <p:spPr>
          <a:xfrm>
            <a:off x="256032" y="960120"/>
            <a:ext cx="502920" cy="868680"/>
          </a:xfrm>
          <a:prstGeom prst="rect">
            <a:avLst/>
          </a:prstGeom>
          <a:solidFill>
            <a:srgbClr val="E23744"/>
          </a:solidFill>
          <a:ln/>
        </p:spPr>
      </p:sp>
      <p:sp>
        <p:nvSpPr>
          <p:cNvPr id="9" name="Text 7"/>
          <p:cNvSpPr/>
          <p:nvPr/>
        </p:nvSpPr>
        <p:spPr>
          <a:xfrm>
            <a:off x="256032" y="960120"/>
            <a:ext cx="502920" cy="868680"/>
          </a:xfrm>
          <a:prstGeom prst="rect">
            <a:avLst/>
          </a:prstGeom>
          <a:noFill/>
          <a:ln/>
        </p:spPr>
        <p:txBody>
          <a:bodyPr wrap="square" lIns="0" tIns="0" rIns="0" bIns="0" rtlCol="0" anchor="ctr"/>
          <a:lstStyle/>
          <a:p>
            <a:pPr marL="0" indent="0" algn="ctr">
              <a:buNone/>
            </a:pPr>
            <a:r>
              <a:rPr lang="en-US" sz="1600" b="1" dirty="0">
                <a:solidFill>
                  <a:srgbClr val="FFFFFF"/>
                </a:solidFill>
              </a:rPr>
              <a:t>01</a:t>
            </a:r>
            <a:endParaRPr lang="en-US" sz="1600" dirty="0"/>
          </a:p>
        </p:txBody>
      </p:sp>
      <p:sp>
        <p:nvSpPr>
          <p:cNvPr id="10" name="Text 8"/>
          <p:cNvSpPr/>
          <p:nvPr/>
        </p:nvSpPr>
        <p:spPr>
          <a:xfrm>
            <a:off x="850392" y="1051560"/>
            <a:ext cx="3547872" cy="292608"/>
          </a:xfrm>
          <a:prstGeom prst="rect">
            <a:avLst/>
          </a:prstGeom>
          <a:noFill/>
          <a:ln/>
        </p:spPr>
        <p:txBody>
          <a:bodyPr wrap="square" lIns="0" tIns="0" rIns="0" bIns="0" rtlCol="0" anchor="ctr"/>
          <a:lstStyle/>
          <a:p>
            <a:pPr marL="0" indent="0">
              <a:buNone/>
            </a:pPr>
            <a:r>
              <a:rPr lang="en-US" sz="1250" b="1" dirty="0">
                <a:solidFill>
                  <a:srgbClr val="2C0A0E"/>
                </a:solidFill>
                <a:latin typeface="Calibri" pitchFamily="34" charset="0"/>
                <a:ea typeface="Calibri" pitchFamily="34" charset="-122"/>
                <a:cs typeface="Calibri" pitchFamily="34" charset="-120"/>
              </a:rPr>
              <a:t>Problem Statement</a:t>
            </a:r>
            <a:endParaRPr lang="en-US" sz="1250" dirty="0"/>
          </a:p>
        </p:txBody>
      </p:sp>
      <p:sp>
        <p:nvSpPr>
          <p:cNvPr id="11" name="Text 9"/>
          <p:cNvSpPr/>
          <p:nvPr/>
        </p:nvSpPr>
        <p:spPr>
          <a:xfrm>
            <a:off x="850392" y="1380744"/>
            <a:ext cx="3547872" cy="347472"/>
          </a:xfrm>
          <a:prstGeom prst="rect">
            <a:avLst/>
          </a:prstGeom>
          <a:noFill/>
          <a:ln/>
        </p:spPr>
        <p:txBody>
          <a:bodyPr wrap="square" lIns="0" tIns="0" rIns="0" bIns="0" rtlCol="0" anchor="ctr"/>
          <a:lstStyle/>
          <a:p>
            <a:pPr marL="0" indent="0">
              <a:buNone/>
            </a:pPr>
            <a:r>
              <a:rPr lang="en-US" sz="1000" dirty="0">
                <a:solidFill>
                  <a:srgbClr val="9A4A52"/>
                </a:solidFill>
                <a:latin typeface="Calibri" pitchFamily="34" charset="0"/>
                <a:ea typeface="Calibri" pitchFamily="34" charset="-122"/>
                <a:cs typeface="Calibri" pitchFamily="34" charset="-120"/>
              </a:rPr>
              <a:t>What problem is being solved and why it matters</a:t>
            </a:r>
            <a:endParaRPr lang="en-US" sz="1000" dirty="0"/>
          </a:p>
        </p:txBody>
      </p:sp>
      <p:sp>
        <p:nvSpPr>
          <p:cNvPr id="12" name="Shape 10"/>
          <p:cNvSpPr/>
          <p:nvPr/>
        </p:nvSpPr>
        <p:spPr>
          <a:xfrm>
            <a:off x="256032" y="1965960"/>
            <a:ext cx="4242816" cy="868680"/>
          </a:xfrm>
          <a:prstGeom prst="rect">
            <a:avLst/>
          </a:prstGeom>
          <a:solidFill>
            <a:srgbClr val="FFFFFF"/>
          </a:solidFill>
          <a:ln/>
          <a:effectLst>
            <a:outerShdw blurRad="63500" dist="25400" dir="8100000" algn="bl" rotWithShape="0">
              <a:srgbClr val="000000">
                <a:alpha val="10000"/>
              </a:srgbClr>
            </a:outerShdw>
          </a:effectLst>
        </p:spPr>
      </p:sp>
      <p:sp>
        <p:nvSpPr>
          <p:cNvPr id="13" name="Shape 11"/>
          <p:cNvSpPr/>
          <p:nvPr/>
        </p:nvSpPr>
        <p:spPr>
          <a:xfrm>
            <a:off x="256032" y="1965960"/>
            <a:ext cx="502920" cy="868680"/>
          </a:xfrm>
          <a:prstGeom prst="rect">
            <a:avLst/>
          </a:prstGeom>
          <a:solidFill>
            <a:srgbClr val="B8202E"/>
          </a:solidFill>
          <a:ln/>
        </p:spPr>
      </p:sp>
      <p:sp>
        <p:nvSpPr>
          <p:cNvPr id="14" name="Text 12"/>
          <p:cNvSpPr/>
          <p:nvPr/>
        </p:nvSpPr>
        <p:spPr>
          <a:xfrm>
            <a:off x="256032" y="1965960"/>
            <a:ext cx="502920" cy="868680"/>
          </a:xfrm>
          <a:prstGeom prst="rect">
            <a:avLst/>
          </a:prstGeom>
          <a:noFill/>
          <a:ln/>
        </p:spPr>
        <p:txBody>
          <a:bodyPr wrap="square" lIns="0" tIns="0" rIns="0" bIns="0" rtlCol="0" anchor="ctr"/>
          <a:lstStyle/>
          <a:p>
            <a:pPr marL="0" indent="0" algn="ctr">
              <a:buNone/>
            </a:pPr>
            <a:r>
              <a:rPr lang="en-US" sz="1600" b="1" dirty="0">
                <a:solidFill>
                  <a:srgbClr val="FFFFFF"/>
                </a:solidFill>
              </a:rPr>
              <a:t>02</a:t>
            </a:r>
            <a:endParaRPr lang="en-US" sz="1600" dirty="0"/>
          </a:p>
        </p:txBody>
      </p:sp>
      <p:sp>
        <p:nvSpPr>
          <p:cNvPr id="15" name="Text 13"/>
          <p:cNvSpPr/>
          <p:nvPr/>
        </p:nvSpPr>
        <p:spPr>
          <a:xfrm>
            <a:off x="850392" y="2057400"/>
            <a:ext cx="3547872" cy="292608"/>
          </a:xfrm>
          <a:prstGeom prst="rect">
            <a:avLst/>
          </a:prstGeom>
          <a:noFill/>
          <a:ln/>
        </p:spPr>
        <p:txBody>
          <a:bodyPr wrap="square" lIns="0" tIns="0" rIns="0" bIns="0" rtlCol="0" anchor="ctr"/>
          <a:lstStyle/>
          <a:p>
            <a:pPr marL="0" indent="0">
              <a:buNone/>
            </a:pPr>
            <a:r>
              <a:rPr lang="en-US" sz="1250" b="1" dirty="0">
                <a:solidFill>
                  <a:srgbClr val="2C0A0E"/>
                </a:solidFill>
                <a:latin typeface="Calibri" pitchFamily="34" charset="0"/>
                <a:ea typeface="Calibri" pitchFamily="34" charset="-122"/>
                <a:cs typeface="Calibri" pitchFamily="34" charset="-120"/>
              </a:rPr>
              <a:t>Project Overview</a:t>
            </a:r>
            <a:endParaRPr lang="en-US" sz="1250" dirty="0"/>
          </a:p>
        </p:txBody>
      </p:sp>
      <p:sp>
        <p:nvSpPr>
          <p:cNvPr id="16" name="Text 14"/>
          <p:cNvSpPr/>
          <p:nvPr/>
        </p:nvSpPr>
        <p:spPr>
          <a:xfrm>
            <a:off x="850392" y="2386584"/>
            <a:ext cx="3547872" cy="347472"/>
          </a:xfrm>
          <a:prstGeom prst="rect">
            <a:avLst/>
          </a:prstGeom>
          <a:noFill/>
          <a:ln/>
        </p:spPr>
        <p:txBody>
          <a:bodyPr wrap="square" lIns="0" tIns="0" rIns="0" bIns="0" rtlCol="0" anchor="ctr"/>
          <a:lstStyle/>
          <a:p>
            <a:pPr marL="0" indent="0">
              <a:buNone/>
            </a:pPr>
            <a:r>
              <a:rPr lang="en-US" sz="1000" dirty="0">
                <a:solidFill>
                  <a:srgbClr val="9A4A52"/>
                </a:solidFill>
                <a:latin typeface="Calibri" pitchFamily="34" charset="0"/>
                <a:ea typeface="Calibri" pitchFamily="34" charset="-122"/>
                <a:cs typeface="Calibri" pitchFamily="34" charset="-120"/>
              </a:rPr>
              <a:t>Objective, data source, tools used</a:t>
            </a:r>
            <a:endParaRPr lang="en-US" sz="1000" dirty="0"/>
          </a:p>
        </p:txBody>
      </p:sp>
      <p:sp>
        <p:nvSpPr>
          <p:cNvPr id="17" name="Shape 15"/>
          <p:cNvSpPr/>
          <p:nvPr/>
        </p:nvSpPr>
        <p:spPr>
          <a:xfrm>
            <a:off x="256032" y="2971800"/>
            <a:ext cx="4242816" cy="868680"/>
          </a:xfrm>
          <a:prstGeom prst="rect">
            <a:avLst/>
          </a:prstGeom>
          <a:solidFill>
            <a:srgbClr val="FFFFFF"/>
          </a:solidFill>
          <a:ln/>
          <a:effectLst>
            <a:outerShdw blurRad="63500" dist="25400" dir="8100000" algn="bl" rotWithShape="0">
              <a:srgbClr val="000000">
                <a:alpha val="10000"/>
              </a:srgbClr>
            </a:outerShdw>
          </a:effectLst>
        </p:spPr>
      </p:sp>
      <p:sp>
        <p:nvSpPr>
          <p:cNvPr id="18" name="Shape 16"/>
          <p:cNvSpPr/>
          <p:nvPr/>
        </p:nvSpPr>
        <p:spPr>
          <a:xfrm>
            <a:off x="256032" y="2971800"/>
            <a:ext cx="502920" cy="868680"/>
          </a:xfrm>
          <a:prstGeom prst="rect">
            <a:avLst/>
          </a:prstGeom>
          <a:solidFill>
            <a:srgbClr val="E23744"/>
          </a:solidFill>
          <a:ln/>
        </p:spPr>
      </p:sp>
      <p:sp>
        <p:nvSpPr>
          <p:cNvPr id="19" name="Text 17"/>
          <p:cNvSpPr/>
          <p:nvPr/>
        </p:nvSpPr>
        <p:spPr>
          <a:xfrm>
            <a:off x="256032" y="2971800"/>
            <a:ext cx="502920" cy="868680"/>
          </a:xfrm>
          <a:prstGeom prst="rect">
            <a:avLst/>
          </a:prstGeom>
          <a:noFill/>
          <a:ln/>
        </p:spPr>
        <p:txBody>
          <a:bodyPr wrap="square" lIns="0" tIns="0" rIns="0" bIns="0" rtlCol="0" anchor="ctr"/>
          <a:lstStyle/>
          <a:p>
            <a:pPr marL="0" indent="0" algn="ctr">
              <a:buNone/>
            </a:pPr>
            <a:r>
              <a:rPr lang="en-US" sz="1600" b="1" dirty="0">
                <a:solidFill>
                  <a:srgbClr val="FFFFFF"/>
                </a:solidFill>
              </a:rPr>
              <a:t>03</a:t>
            </a:r>
            <a:endParaRPr lang="en-US" sz="1600" dirty="0"/>
          </a:p>
        </p:txBody>
      </p:sp>
      <p:sp>
        <p:nvSpPr>
          <p:cNvPr id="20" name="Text 18"/>
          <p:cNvSpPr/>
          <p:nvPr/>
        </p:nvSpPr>
        <p:spPr>
          <a:xfrm>
            <a:off x="850392" y="3063240"/>
            <a:ext cx="3547872" cy="292608"/>
          </a:xfrm>
          <a:prstGeom prst="rect">
            <a:avLst/>
          </a:prstGeom>
          <a:noFill/>
          <a:ln/>
        </p:spPr>
        <p:txBody>
          <a:bodyPr wrap="square" lIns="0" tIns="0" rIns="0" bIns="0" rtlCol="0" anchor="ctr"/>
          <a:lstStyle/>
          <a:p>
            <a:pPr marL="0" indent="0">
              <a:buNone/>
            </a:pPr>
            <a:r>
              <a:rPr lang="en-US" sz="1250" b="1" dirty="0">
                <a:solidFill>
                  <a:srgbClr val="2C0A0E"/>
                </a:solidFill>
                <a:latin typeface="Calibri" pitchFamily="34" charset="0"/>
                <a:ea typeface="Calibri" pitchFamily="34" charset="-122"/>
                <a:cs typeface="Calibri" pitchFamily="34" charset="-120"/>
              </a:rPr>
              <a:t>Dataset &amp; EDA</a:t>
            </a:r>
            <a:endParaRPr lang="en-US" sz="1250" dirty="0"/>
          </a:p>
        </p:txBody>
      </p:sp>
      <p:sp>
        <p:nvSpPr>
          <p:cNvPr id="21" name="Text 19"/>
          <p:cNvSpPr/>
          <p:nvPr/>
        </p:nvSpPr>
        <p:spPr>
          <a:xfrm>
            <a:off x="850392" y="3392424"/>
            <a:ext cx="3547872" cy="347472"/>
          </a:xfrm>
          <a:prstGeom prst="rect">
            <a:avLst/>
          </a:prstGeom>
          <a:noFill/>
          <a:ln/>
        </p:spPr>
        <p:txBody>
          <a:bodyPr wrap="square" lIns="0" tIns="0" rIns="0" bIns="0" rtlCol="0" anchor="ctr"/>
          <a:lstStyle/>
          <a:p>
            <a:pPr marL="0" indent="0">
              <a:buNone/>
            </a:pPr>
            <a:r>
              <a:rPr lang="en-US" sz="1000" dirty="0">
                <a:solidFill>
                  <a:srgbClr val="9A4A52"/>
                </a:solidFill>
                <a:latin typeface="Calibri" pitchFamily="34" charset="0"/>
                <a:ea typeface="Calibri" pitchFamily="34" charset="-122"/>
                <a:cs typeface="Calibri" pitchFamily="34" charset="-120"/>
              </a:rPr>
              <a:t>Understanding the raw data structure and distributions</a:t>
            </a:r>
            <a:endParaRPr lang="en-US" sz="1000" dirty="0"/>
          </a:p>
        </p:txBody>
      </p:sp>
      <p:sp>
        <p:nvSpPr>
          <p:cNvPr id="22" name="Shape 20"/>
          <p:cNvSpPr/>
          <p:nvPr/>
        </p:nvSpPr>
        <p:spPr>
          <a:xfrm>
            <a:off x="274320" y="3959352"/>
            <a:ext cx="4242816" cy="868680"/>
          </a:xfrm>
          <a:prstGeom prst="rect">
            <a:avLst/>
          </a:prstGeom>
          <a:solidFill>
            <a:srgbClr val="FFFFFF"/>
          </a:solidFill>
          <a:ln/>
          <a:effectLst>
            <a:outerShdw blurRad="63500" dist="25400" dir="8100000" algn="bl" rotWithShape="0">
              <a:srgbClr val="000000">
                <a:alpha val="10000"/>
              </a:srgbClr>
            </a:outerShdw>
          </a:effectLst>
        </p:spPr>
      </p:sp>
      <p:sp>
        <p:nvSpPr>
          <p:cNvPr id="23" name="Shape 21"/>
          <p:cNvSpPr/>
          <p:nvPr/>
        </p:nvSpPr>
        <p:spPr>
          <a:xfrm>
            <a:off x="256032" y="3977640"/>
            <a:ext cx="502920" cy="868680"/>
          </a:xfrm>
          <a:prstGeom prst="rect">
            <a:avLst/>
          </a:prstGeom>
          <a:solidFill>
            <a:srgbClr val="B8202E"/>
          </a:solidFill>
          <a:ln/>
        </p:spPr>
      </p:sp>
      <p:sp>
        <p:nvSpPr>
          <p:cNvPr id="24" name="Text 22"/>
          <p:cNvSpPr/>
          <p:nvPr/>
        </p:nvSpPr>
        <p:spPr>
          <a:xfrm>
            <a:off x="256032" y="3977640"/>
            <a:ext cx="502920" cy="868680"/>
          </a:xfrm>
          <a:prstGeom prst="rect">
            <a:avLst/>
          </a:prstGeom>
          <a:noFill/>
          <a:ln/>
        </p:spPr>
        <p:txBody>
          <a:bodyPr wrap="square" lIns="0" tIns="0" rIns="0" bIns="0" rtlCol="0" anchor="ctr"/>
          <a:lstStyle/>
          <a:p>
            <a:pPr marL="0" indent="0" algn="ctr">
              <a:buNone/>
            </a:pPr>
            <a:r>
              <a:rPr lang="en-US" sz="1600" b="1" dirty="0">
                <a:solidFill>
                  <a:srgbClr val="FFFFFF"/>
                </a:solidFill>
              </a:rPr>
              <a:t>04</a:t>
            </a:r>
            <a:endParaRPr lang="en-US" sz="1600" dirty="0"/>
          </a:p>
        </p:txBody>
      </p:sp>
      <p:sp>
        <p:nvSpPr>
          <p:cNvPr id="25" name="Text 23"/>
          <p:cNvSpPr/>
          <p:nvPr/>
        </p:nvSpPr>
        <p:spPr>
          <a:xfrm>
            <a:off x="850392" y="4069080"/>
            <a:ext cx="3547872" cy="292608"/>
          </a:xfrm>
          <a:prstGeom prst="rect">
            <a:avLst/>
          </a:prstGeom>
          <a:noFill/>
          <a:ln/>
        </p:spPr>
        <p:txBody>
          <a:bodyPr wrap="square" lIns="0" tIns="0" rIns="0" bIns="0" rtlCol="0" anchor="ctr"/>
          <a:lstStyle/>
          <a:p>
            <a:pPr marL="0" indent="0">
              <a:buNone/>
            </a:pPr>
            <a:r>
              <a:rPr lang="en-US" sz="1250" b="1" dirty="0">
                <a:solidFill>
                  <a:srgbClr val="2C0A0E"/>
                </a:solidFill>
                <a:latin typeface="Calibri" pitchFamily="34" charset="0"/>
                <a:ea typeface="Calibri" pitchFamily="34" charset="-122"/>
                <a:cs typeface="Calibri" pitchFamily="34" charset="-120"/>
              </a:rPr>
              <a:t>Data Architecture</a:t>
            </a:r>
            <a:endParaRPr lang="en-US" sz="1250" dirty="0"/>
          </a:p>
        </p:txBody>
      </p:sp>
      <p:sp>
        <p:nvSpPr>
          <p:cNvPr id="26" name="Text 24"/>
          <p:cNvSpPr/>
          <p:nvPr/>
        </p:nvSpPr>
        <p:spPr>
          <a:xfrm>
            <a:off x="850392" y="4398264"/>
            <a:ext cx="3547872" cy="347472"/>
          </a:xfrm>
          <a:prstGeom prst="rect">
            <a:avLst/>
          </a:prstGeom>
          <a:noFill/>
          <a:ln/>
        </p:spPr>
        <p:txBody>
          <a:bodyPr wrap="square" lIns="0" tIns="0" rIns="0" bIns="0" rtlCol="0" anchor="ctr"/>
          <a:lstStyle/>
          <a:p>
            <a:pPr marL="0" indent="0">
              <a:buNone/>
            </a:pPr>
            <a:r>
              <a:rPr lang="en-US" sz="1000" dirty="0">
                <a:solidFill>
                  <a:srgbClr val="9A4A52"/>
                </a:solidFill>
                <a:latin typeface="Calibri" pitchFamily="34" charset="0"/>
                <a:ea typeface="Calibri" pitchFamily="34" charset="-122"/>
                <a:cs typeface="Calibri" pitchFamily="34" charset="-120"/>
              </a:rPr>
              <a:t>3-table Star Schema and relationship design</a:t>
            </a:r>
            <a:endParaRPr lang="en-US" sz="1000" dirty="0"/>
          </a:p>
        </p:txBody>
      </p:sp>
      <p:sp>
        <p:nvSpPr>
          <p:cNvPr id="27" name="Shape 25"/>
          <p:cNvSpPr/>
          <p:nvPr/>
        </p:nvSpPr>
        <p:spPr>
          <a:xfrm>
            <a:off x="4700016" y="960120"/>
            <a:ext cx="4242816" cy="868680"/>
          </a:xfrm>
          <a:prstGeom prst="rect">
            <a:avLst/>
          </a:prstGeom>
          <a:solidFill>
            <a:srgbClr val="FFFFFF"/>
          </a:solidFill>
          <a:ln/>
          <a:effectLst>
            <a:outerShdw blurRad="63500" dist="25400" dir="8100000" algn="bl" rotWithShape="0">
              <a:srgbClr val="000000">
                <a:alpha val="10000"/>
              </a:srgbClr>
            </a:outerShdw>
          </a:effectLst>
        </p:spPr>
      </p:sp>
      <p:sp>
        <p:nvSpPr>
          <p:cNvPr id="28" name="Shape 26"/>
          <p:cNvSpPr/>
          <p:nvPr/>
        </p:nvSpPr>
        <p:spPr>
          <a:xfrm>
            <a:off x="4700016" y="960120"/>
            <a:ext cx="502920" cy="868680"/>
          </a:xfrm>
          <a:prstGeom prst="rect">
            <a:avLst/>
          </a:prstGeom>
          <a:solidFill>
            <a:srgbClr val="E23744"/>
          </a:solidFill>
          <a:ln/>
        </p:spPr>
      </p:sp>
      <p:sp>
        <p:nvSpPr>
          <p:cNvPr id="29" name="Text 27"/>
          <p:cNvSpPr/>
          <p:nvPr/>
        </p:nvSpPr>
        <p:spPr>
          <a:xfrm>
            <a:off x="4700016" y="960120"/>
            <a:ext cx="502920" cy="868680"/>
          </a:xfrm>
          <a:prstGeom prst="rect">
            <a:avLst/>
          </a:prstGeom>
          <a:noFill/>
          <a:ln/>
        </p:spPr>
        <p:txBody>
          <a:bodyPr wrap="square" lIns="0" tIns="0" rIns="0" bIns="0" rtlCol="0" anchor="ctr"/>
          <a:lstStyle/>
          <a:p>
            <a:pPr marL="0" indent="0" algn="ctr">
              <a:buNone/>
            </a:pPr>
            <a:r>
              <a:rPr lang="en-US" sz="1600" b="1" dirty="0">
                <a:solidFill>
                  <a:srgbClr val="FFFFFF"/>
                </a:solidFill>
              </a:rPr>
              <a:t>05</a:t>
            </a:r>
            <a:endParaRPr lang="en-US" sz="1600" dirty="0"/>
          </a:p>
        </p:txBody>
      </p:sp>
      <p:sp>
        <p:nvSpPr>
          <p:cNvPr id="30" name="Text 28"/>
          <p:cNvSpPr/>
          <p:nvPr/>
        </p:nvSpPr>
        <p:spPr>
          <a:xfrm>
            <a:off x="5294376" y="1051560"/>
            <a:ext cx="3547872" cy="292608"/>
          </a:xfrm>
          <a:prstGeom prst="rect">
            <a:avLst/>
          </a:prstGeom>
          <a:noFill/>
          <a:ln/>
        </p:spPr>
        <p:txBody>
          <a:bodyPr wrap="square" lIns="0" tIns="0" rIns="0" bIns="0" rtlCol="0" anchor="ctr"/>
          <a:lstStyle/>
          <a:p>
            <a:pPr marL="0" indent="0">
              <a:buNone/>
            </a:pPr>
            <a:r>
              <a:rPr lang="en-US" sz="1250" b="1" dirty="0">
                <a:solidFill>
                  <a:srgbClr val="2C0A0E"/>
                </a:solidFill>
                <a:latin typeface="Calibri" pitchFamily="34" charset="0"/>
                <a:ea typeface="Calibri" pitchFamily="34" charset="-122"/>
                <a:cs typeface="Calibri" pitchFamily="34" charset="-120"/>
              </a:rPr>
              <a:t>Data Cleaning</a:t>
            </a:r>
            <a:endParaRPr lang="en-US" sz="1250" dirty="0"/>
          </a:p>
        </p:txBody>
      </p:sp>
      <p:sp>
        <p:nvSpPr>
          <p:cNvPr id="31" name="Text 29"/>
          <p:cNvSpPr/>
          <p:nvPr/>
        </p:nvSpPr>
        <p:spPr>
          <a:xfrm>
            <a:off x="5294376" y="1380744"/>
            <a:ext cx="3547872" cy="347472"/>
          </a:xfrm>
          <a:prstGeom prst="rect">
            <a:avLst/>
          </a:prstGeom>
          <a:noFill/>
          <a:ln/>
        </p:spPr>
        <p:txBody>
          <a:bodyPr wrap="square" lIns="0" tIns="0" rIns="0" bIns="0" rtlCol="0" anchor="ctr"/>
          <a:lstStyle/>
          <a:p>
            <a:pPr marL="0" indent="0">
              <a:buNone/>
            </a:pPr>
            <a:r>
              <a:rPr lang="en-US" sz="1000" dirty="0">
                <a:solidFill>
                  <a:srgbClr val="9A4A52"/>
                </a:solidFill>
                <a:latin typeface="Calibri" pitchFamily="34" charset="0"/>
                <a:ea typeface="Calibri" pitchFamily="34" charset="-122"/>
                <a:cs typeface="Calibri" pitchFamily="34" charset="-120"/>
              </a:rPr>
              <a:t>Power Query transformations and outlier fixes</a:t>
            </a:r>
            <a:endParaRPr lang="en-US" sz="1000" dirty="0"/>
          </a:p>
        </p:txBody>
      </p:sp>
      <p:sp>
        <p:nvSpPr>
          <p:cNvPr id="32" name="Shape 30"/>
          <p:cNvSpPr/>
          <p:nvPr/>
        </p:nvSpPr>
        <p:spPr>
          <a:xfrm>
            <a:off x="4700016" y="1965960"/>
            <a:ext cx="4242816" cy="868680"/>
          </a:xfrm>
          <a:prstGeom prst="rect">
            <a:avLst/>
          </a:prstGeom>
          <a:solidFill>
            <a:srgbClr val="FFFFFF"/>
          </a:solidFill>
          <a:ln/>
          <a:effectLst>
            <a:outerShdw blurRad="63500" dist="25400" dir="8100000" algn="bl" rotWithShape="0">
              <a:srgbClr val="000000">
                <a:alpha val="10000"/>
              </a:srgbClr>
            </a:outerShdw>
          </a:effectLst>
        </p:spPr>
      </p:sp>
      <p:sp>
        <p:nvSpPr>
          <p:cNvPr id="33" name="Shape 31"/>
          <p:cNvSpPr/>
          <p:nvPr/>
        </p:nvSpPr>
        <p:spPr>
          <a:xfrm>
            <a:off x="4700016" y="1965960"/>
            <a:ext cx="502920" cy="868680"/>
          </a:xfrm>
          <a:prstGeom prst="rect">
            <a:avLst/>
          </a:prstGeom>
          <a:solidFill>
            <a:srgbClr val="B8202E"/>
          </a:solidFill>
          <a:ln/>
        </p:spPr>
      </p:sp>
      <p:sp>
        <p:nvSpPr>
          <p:cNvPr id="34" name="Text 32"/>
          <p:cNvSpPr/>
          <p:nvPr/>
        </p:nvSpPr>
        <p:spPr>
          <a:xfrm>
            <a:off x="4700016" y="1965960"/>
            <a:ext cx="502920" cy="868680"/>
          </a:xfrm>
          <a:prstGeom prst="rect">
            <a:avLst/>
          </a:prstGeom>
          <a:noFill/>
          <a:ln/>
        </p:spPr>
        <p:txBody>
          <a:bodyPr wrap="square" lIns="0" tIns="0" rIns="0" bIns="0" rtlCol="0" anchor="ctr"/>
          <a:lstStyle/>
          <a:p>
            <a:pPr marL="0" indent="0" algn="ctr">
              <a:buNone/>
            </a:pPr>
            <a:r>
              <a:rPr lang="en-US" sz="1600" b="1" dirty="0">
                <a:solidFill>
                  <a:srgbClr val="FFFFFF"/>
                </a:solidFill>
              </a:rPr>
              <a:t>06</a:t>
            </a:r>
            <a:endParaRPr lang="en-US" sz="1600" dirty="0"/>
          </a:p>
        </p:txBody>
      </p:sp>
      <p:sp>
        <p:nvSpPr>
          <p:cNvPr id="35" name="Text 33"/>
          <p:cNvSpPr/>
          <p:nvPr/>
        </p:nvSpPr>
        <p:spPr>
          <a:xfrm>
            <a:off x="5294376" y="2057400"/>
            <a:ext cx="3547872" cy="292608"/>
          </a:xfrm>
          <a:prstGeom prst="rect">
            <a:avLst/>
          </a:prstGeom>
          <a:noFill/>
          <a:ln/>
        </p:spPr>
        <p:txBody>
          <a:bodyPr wrap="square" lIns="0" tIns="0" rIns="0" bIns="0" rtlCol="0" anchor="ctr"/>
          <a:lstStyle/>
          <a:p>
            <a:pPr marL="0" indent="0">
              <a:buNone/>
            </a:pPr>
            <a:r>
              <a:rPr lang="en-US" sz="1250" b="1" dirty="0">
                <a:solidFill>
                  <a:srgbClr val="2C0A0E"/>
                </a:solidFill>
                <a:latin typeface="Calibri" pitchFamily="34" charset="0"/>
                <a:ea typeface="Calibri" pitchFamily="34" charset="-122"/>
                <a:cs typeface="Calibri" pitchFamily="34" charset="-120"/>
              </a:rPr>
              <a:t>DAX Measures</a:t>
            </a:r>
            <a:endParaRPr lang="en-US" sz="1250" dirty="0"/>
          </a:p>
        </p:txBody>
      </p:sp>
      <p:sp>
        <p:nvSpPr>
          <p:cNvPr id="36" name="Text 34"/>
          <p:cNvSpPr/>
          <p:nvPr/>
        </p:nvSpPr>
        <p:spPr>
          <a:xfrm>
            <a:off x="5294376" y="2386584"/>
            <a:ext cx="3547872" cy="347472"/>
          </a:xfrm>
          <a:prstGeom prst="rect">
            <a:avLst/>
          </a:prstGeom>
          <a:noFill/>
          <a:ln/>
        </p:spPr>
        <p:txBody>
          <a:bodyPr wrap="square" lIns="0" tIns="0" rIns="0" bIns="0" rtlCol="0" anchor="ctr"/>
          <a:lstStyle/>
          <a:p>
            <a:pPr marL="0" indent="0">
              <a:buNone/>
            </a:pPr>
            <a:r>
              <a:rPr lang="en-US" sz="1000" dirty="0">
                <a:solidFill>
                  <a:srgbClr val="9A4A52"/>
                </a:solidFill>
                <a:latin typeface="Calibri" pitchFamily="34" charset="0"/>
                <a:ea typeface="Calibri" pitchFamily="34" charset="-122"/>
                <a:cs typeface="Calibri" pitchFamily="34" charset="-120"/>
              </a:rPr>
              <a:t>20 calculated measures across 3 tables</a:t>
            </a:r>
            <a:endParaRPr lang="en-US" sz="1000" dirty="0"/>
          </a:p>
        </p:txBody>
      </p:sp>
      <p:sp>
        <p:nvSpPr>
          <p:cNvPr id="37" name="Shape 35"/>
          <p:cNvSpPr/>
          <p:nvPr/>
        </p:nvSpPr>
        <p:spPr>
          <a:xfrm>
            <a:off x="4700016" y="2971800"/>
            <a:ext cx="4242816" cy="868680"/>
          </a:xfrm>
          <a:prstGeom prst="rect">
            <a:avLst/>
          </a:prstGeom>
          <a:solidFill>
            <a:srgbClr val="FFFFFF"/>
          </a:solidFill>
          <a:ln/>
          <a:effectLst>
            <a:outerShdw blurRad="63500" dist="25400" dir="8100000" algn="bl" rotWithShape="0">
              <a:srgbClr val="000000">
                <a:alpha val="10000"/>
              </a:srgbClr>
            </a:outerShdw>
          </a:effectLst>
        </p:spPr>
      </p:sp>
      <p:sp>
        <p:nvSpPr>
          <p:cNvPr id="38" name="Shape 36"/>
          <p:cNvSpPr/>
          <p:nvPr/>
        </p:nvSpPr>
        <p:spPr>
          <a:xfrm>
            <a:off x="4700016" y="2971800"/>
            <a:ext cx="502920" cy="868680"/>
          </a:xfrm>
          <a:prstGeom prst="rect">
            <a:avLst/>
          </a:prstGeom>
          <a:solidFill>
            <a:srgbClr val="E23744"/>
          </a:solidFill>
          <a:ln/>
        </p:spPr>
      </p:sp>
      <p:sp>
        <p:nvSpPr>
          <p:cNvPr id="39" name="Text 37"/>
          <p:cNvSpPr/>
          <p:nvPr/>
        </p:nvSpPr>
        <p:spPr>
          <a:xfrm>
            <a:off x="4700016" y="2971800"/>
            <a:ext cx="502920" cy="868680"/>
          </a:xfrm>
          <a:prstGeom prst="rect">
            <a:avLst/>
          </a:prstGeom>
          <a:noFill/>
          <a:ln/>
        </p:spPr>
        <p:txBody>
          <a:bodyPr wrap="square" lIns="0" tIns="0" rIns="0" bIns="0" rtlCol="0" anchor="ctr"/>
          <a:lstStyle/>
          <a:p>
            <a:pPr marL="0" indent="0" algn="ctr">
              <a:buNone/>
            </a:pPr>
            <a:r>
              <a:rPr lang="en-US" sz="1600" b="1" dirty="0">
                <a:solidFill>
                  <a:srgbClr val="FFFFFF"/>
                </a:solidFill>
              </a:rPr>
              <a:t>07</a:t>
            </a:r>
            <a:endParaRPr lang="en-US" sz="1600" dirty="0"/>
          </a:p>
        </p:txBody>
      </p:sp>
      <p:sp>
        <p:nvSpPr>
          <p:cNvPr id="40" name="Text 38"/>
          <p:cNvSpPr/>
          <p:nvPr/>
        </p:nvSpPr>
        <p:spPr>
          <a:xfrm>
            <a:off x="5294376" y="3063240"/>
            <a:ext cx="3547872" cy="292608"/>
          </a:xfrm>
          <a:prstGeom prst="rect">
            <a:avLst/>
          </a:prstGeom>
          <a:noFill/>
          <a:ln/>
        </p:spPr>
        <p:txBody>
          <a:bodyPr wrap="square" lIns="0" tIns="0" rIns="0" bIns="0" rtlCol="0" anchor="ctr"/>
          <a:lstStyle/>
          <a:p>
            <a:pPr marL="0" indent="0">
              <a:buNone/>
            </a:pPr>
            <a:r>
              <a:rPr lang="en-US" sz="1250" b="1" dirty="0">
                <a:solidFill>
                  <a:srgbClr val="2C0A0E"/>
                </a:solidFill>
                <a:latin typeface="Calibri" pitchFamily="34" charset="0"/>
                <a:ea typeface="Calibri" pitchFamily="34" charset="-122"/>
                <a:cs typeface="Calibri" pitchFamily="34" charset="-120"/>
              </a:rPr>
              <a:t>Dashboard Walkthrough</a:t>
            </a:r>
            <a:endParaRPr lang="en-US" sz="1250" dirty="0"/>
          </a:p>
        </p:txBody>
      </p:sp>
      <p:sp>
        <p:nvSpPr>
          <p:cNvPr id="41" name="Text 39"/>
          <p:cNvSpPr/>
          <p:nvPr/>
        </p:nvSpPr>
        <p:spPr>
          <a:xfrm>
            <a:off x="5294376" y="3392424"/>
            <a:ext cx="3547872" cy="347472"/>
          </a:xfrm>
          <a:prstGeom prst="rect">
            <a:avLst/>
          </a:prstGeom>
          <a:noFill/>
          <a:ln/>
        </p:spPr>
        <p:txBody>
          <a:bodyPr wrap="square" lIns="0" tIns="0" rIns="0" bIns="0" rtlCol="0" anchor="ctr"/>
          <a:lstStyle/>
          <a:p>
            <a:pPr marL="0" indent="0">
              <a:buNone/>
            </a:pPr>
            <a:r>
              <a:rPr lang="en-US" sz="1000" dirty="0">
                <a:solidFill>
                  <a:srgbClr val="9A4A52"/>
                </a:solidFill>
                <a:latin typeface="Calibri" pitchFamily="34" charset="0"/>
                <a:ea typeface="Calibri" pitchFamily="34" charset="-122"/>
                <a:cs typeface="Calibri" pitchFamily="34" charset="-120"/>
              </a:rPr>
              <a:t>Page 1 &amp; Page 2 interactive dashboard explanation</a:t>
            </a:r>
            <a:endParaRPr lang="en-US" sz="1000" dirty="0"/>
          </a:p>
        </p:txBody>
      </p:sp>
      <p:sp>
        <p:nvSpPr>
          <p:cNvPr id="42" name="Shape 40"/>
          <p:cNvSpPr/>
          <p:nvPr/>
        </p:nvSpPr>
        <p:spPr>
          <a:xfrm>
            <a:off x="4700016" y="3977640"/>
            <a:ext cx="4242816" cy="868680"/>
          </a:xfrm>
          <a:prstGeom prst="rect">
            <a:avLst/>
          </a:prstGeom>
          <a:solidFill>
            <a:srgbClr val="FFFFFF"/>
          </a:solidFill>
          <a:ln/>
          <a:effectLst>
            <a:outerShdw blurRad="63500" dist="25400" dir="8100000" algn="bl" rotWithShape="0">
              <a:srgbClr val="000000">
                <a:alpha val="10000"/>
              </a:srgbClr>
            </a:outerShdw>
          </a:effectLst>
        </p:spPr>
      </p:sp>
      <p:sp>
        <p:nvSpPr>
          <p:cNvPr id="43" name="Shape 41"/>
          <p:cNvSpPr/>
          <p:nvPr/>
        </p:nvSpPr>
        <p:spPr>
          <a:xfrm>
            <a:off x="4700016" y="3977640"/>
            <a:ext cx="502920" cy="868680"/>
          </a:xfrm>
          <a:prstGeom prst="rect">
            <a:avLst/>
          </a:prstGeom>
          <a:solidFill>
            <a:srgbClr val="B8202E"/>
          </a:solidFill>
          <a:ln/>
        </p:spPr>
      </p:sp>
      <p:sp>
        <p:nvSpPr>
          <p:cNvPr id="44" name="Text 42"/>
          <p:cNvSpPr/>
          <p:nvPr/>
        </p:nvSpPr>
        <p:spPr>
          <a:xfrm>
            <a:off x="4700016" y="3977640"/>
            <a:ext cx="502920" cy="868680"/>
          </a:xfrm>
          <a:prstGeom prst="rect">
            <a:avLst/>
          </a:prstGeom>
          <a:noFill/>
          <a:ln/>
        </p:spPr>
        <p:txBody>
          <a:bodyPr wrap="square" lIns="0" tIns="0" rIns="0" bIns="0" rtlCol="0" anchor="ctr"/>
          <a:lstStyle/>
          <a:p>
            <a:pPr marL="0" indent="0" algn="ctr">
              <a:buNone/>
            </a:pPr>
            <a:r>
              <a:rPr lang="en-US" sz="1600" b="1" dirty="0">
                <a:solidFill>
                  <a:srgbClr val="FFFFFF"/>
                </a:solidFill>
              </a:rPr>
              <a:t>08</a:t>
            </a:r>
            <a:endParaRPr lang="en-US" sz="1600" dirty="0"/>
          </a:p>
        </p:txBody>
      </p:sp>
      <p:sp>
        <p:nvSpPr>
          <p:cNvPr id="45" name="Text 43"/>
          <p:cNvSpPr/>
          <p:nvPr/>
        </p:nvSpPr>
        <p:spPr>
          <a:xfrm>
            <a:off x="5294376" y="4069080"/>
            <a:ext cx="3547872" cy="292608"/>
          </a:xfrm>
          <a:prstGeom prst="rect">
            <a:avLst/>
          </a:prstGeom>
          <a:noFill/>
          <a:ln/>
        </p:spPr>
        <p:txBody>
          <a:bodyPr wrap="square" lIns="0" tIns="0" rIns="0" bIns="0" rtlCol="0" anchor="ctr"/>
          <a:lstStyle/>
          <a:p>
            <a:pPr marL="0" indent="0">
              <a:buNone/>
            </a:pPr>
            <a:r>
              <a:rPr lang="en-US" sz="1250" b="1" dirty="0">
                <a:solidFill>
                  <a:srgbClr val="2C0A0E"/>
                </a:solidFill>
                <a:latin typeface="Calibri" pitchFamily="34" charset="0"/>
                <a:ea typeface="Calibri" pitchFamily="34" charset="-122"/>
                <a:cs typeface="Calibri" pitchFamily="34" charset="-120"/>
              </a:rPr>
              <a:t>Key Insights &amp; Conclusion</a:t>
            </a:r>
            <a:endParaRPr lang="en-US" sz="1250" dirty="0"/>
          </a:p>
        </p:txBody>
      </p:sp>
      <p:sp>
        <p:nvSpPr>
          <p:cNvPr id="46" name="Text 44"/>
          <p:cNvSpPr/>
          <p:nvPr/>
        </p:nvSpPr>
        <p:spPr>
          <a:xfrm>
            <a:off x="5294376" y="4398264"/>
            <a:ext cx="3547872" cy="347472"/>
          </a:xfrm>
          <a:prstGeom prst="rect">
            <a:avLst/>
          </a:prstGeom>
          <a:noFill/>
          <a:ln/>
        </p:spPr>
        <p:txBody>
          <a:bodyPr wrap="square" lIns="0" tIns="0" rIns="0" bIns="0" rtlCol="0" anchor="ctr"/>
          <a:lstStyle/>
          <a:p>
            <a:pPr marL="0" indent="0">
              <a:buNone/>
            </a:pPr>
            <a:r>
              <a:rPr lang="en-US" sz="1000" dirty="0">
                <a:solidFill>
                  <a:srgbClr val="9A4A52"/>
                </a:solidFill>
                <a:latin typeface="Calibri" pitchFamily="34" charset="0"/>
                <a:ea typeface="Calibri" pitchFamily="34" charset="-122"/>
                <a:cs typeface="Calibri" pitchFamily="34" charset="-120"/>
              </a:rPr>
              <a:t>Business findings and project summary</a:t>
            </a:r>
            <a:endParaRPr lang="en-US" sz="1000" dirty="0"/>
          </a:p>
        </p:txBody>
      </p:sp>
      <p:sp>
        <p:nvSpPr>
          <p:cNvPr id="47" name="Shape 45"/>
          <p:cNvSpPr/>
          <p:nvPr/>
        </p:nvSpPr>
        <p:spPr>
          <a:xfrm>
            <a:off x="0" y="4832604"/>
            <a:ext cx="9144000" cy="310896"/>
          </a:xfrm>
          <a:prstGeom prst="rect">
            <a:avLst/>
          </a:prstGeom>
          <a:solidFill>
            <a:srgbClr val="E23744"/>
          </a:solidFill>
          <a:ln/>
        </p:spPr>
        <p:txBody>
          <a:bodyPr/>
          <a:lstStyle/>
          <a:p>
            <a:endParaRPr lang="en-IN" dirty="0"/>
          </a:p>
        </p:txBody>
      </p:sp>
      <p:sp>
        <p:nvSpPr>
          <p:cNvPr id="48" name="Text 46"/>
          <p:cNvSpPr/>
          <p:nvPr/>
        </p:nvSpPr>
        <p:spPr>
          <a:xfrm>
            <a:off x="274320" y="4832604"/>
            <a:ext cx="8595360" cy="310896"/>
          </a:xfrm>
          <a:prstGeom prst="rect">
            <a:avLst/>
          </a:prstGeom>
          <a:noFill/>
          <a:ln/>
        </p:spPr>
        <p:txBody>
          <a:bodyPr wrap="square" rtlCol="0" anchor="ctr"/>
          <a:lstStyle/>
          <a:p>
            <a:pPr marL="0" indent="0">
              <a:buNone/>
            </a:pP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23744"/>
          </a:solidFill>
          <a:ln/>
        </p:spPr>
      </p:sp>
      <p:sp>
        <p:nvSpPr>
          <p:cNvPr id="3" name="Shape 1"/>
          <p:cNvSpPr/>
          <p:nvPr/>
        </p:nvSpPr>
        <p:spPr>
          <a:xfrm>
            <a:off x="0" y="749808"/>
            <a:ext cx="9144000" cy="45720"/>
          </a:xfrm>
          <a:prstGeom prst="rect">
            <a:avLst/>
          </a:prstGeom>
          <a:solidFill>
            <a:srgbClr val="B8202E"/>
          </a:solidFill>
          <a:ln/>
        </p:spPr>
      </p:sp>
      <p:sp>
        <p:nvSpPr>
          <p:cNvPr id="4" name="Text 2"/>
          <p:cNvSpPr/>
          <p:nvPr/>
        </p:nvSpPr>
        <p:spPr>
          <a:xfrm>
            <a:off x="320040" y="0"/>
            <a:ext cx="8229600" cy="749808"/>
          </a:xfrm>
          <a:prstGeom prst="rect">
            <a:avLst/>
          </a:prstGeom>
          <a:noFill/>
          <a:ln/>
        </p:spPr>
        <p:txBody>
          <a:bodyPr wrap="square"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PROBLEM STATEMENT</a:t>
            </a:r>
            <a:endParaRPr lang="en-US" sz="2300" dirty="0"/>
          </a:p>
        </p:txBody>
      </p:sp>
      <p:sp>
        <p:nvSpPr>
          <p:cNvPr id="5" name="Shape 3"/>
          <p:cNvSpPr/>
          <p:nvPr/>
        </p:nvSpPr>
        <p:spPr>
          <a:xfrm>
            <a:off x="8705088" y="109728"/>
            <a:ext cx="347472" cy="347472"/>
          </a:xfrm>
          <a:prstGeom prst="ellipse">
            <a:avLst/>
          </a:prstGeom>
          <a:solidFill>
            <a:srgbClr val="B8202E"/>
          </a:solidFill>
          <a:ln/>
        </p:spPr>
      </p:sp>
      <p:sp>
        <p:nvSpPr>
          <p:cNvPr id="6" name="Text 4"/>
          <p:cNvSpPr/>
          <p:nvPr/>
        </p:nvSpPr>
        <p:spPr>
          <a:xfrm>
            <a:off x="8705088" y="1097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7" name="Shape 5"/>
          <p:cNvSpPr/>
          <p:nvPr/>
        </p:nvSpPr>
        <p:spPr>
          <a:xfrm>
            <a:off x="256032" y="960120"/>
            <a:ext cx="8631936" cy="1078992"/>
          </a:xfrm>
          <a:prstGeom prst="rect">
            <a:avLst/>
          </a:prstGeom>
          <a:solidFill>
            <a:srgbClr val="FFFFFF"/>
          </a:solidFill>
          <a:ln/>
          <a:effectLst>
            <a:outerShdw blurRad="63500" dist="25400" dir="8100000" algn="bl" rotWithShape="0">
              <a:srgbClr val="000000">
                <a:alpha val="10000"/>
              </a:srgbClr>
            </a:outerShdw>
          </a:effectLst>
        </p:spPr>
      </p:sp>
      <p:sp>
        <p:nvSpPr>
          <p:cNvPr id="8" name="Shape 6"/>
          <p:cNvSpPr/>
          <p:nvPr/>
        </p:nvSpPr>
        <p:spPr>
          <a:xfrm>
            <a:off x="256032" y="960120"/>
            <a:ext cx="54864" cy="1078992"/>
          </a:xfrm>
          <a:prstGeom prst="rect">
            <a:avLst/>
          </a:prstGeom>
          <a:solidFill>
            <a:srgbClr val="E23744"/>
          </a:solidFill>
          <a:ln/>
        </p:spPr>
      </p:sp>
      <p:sp>
        <p:nvSpPr>
          <p:cNvPr id="9" name="Shape 7"/>
          <p:cNvSpPr/>
          <p:nvPr/>
        </p:nvSpPr>
        <p:spPr>
          <a:xfrm>
            <a:off x="256032" y="960120"/>
            <a:ext cx="8631936" cy="347472"/>
          </a:xfrm>
          <a:prstGeom prst="rect">
            <a:avLst/>
          </a:prstGeom>
          <a:solidFill>
            <a:srgbClr val="FFF5F6"/>
          </a:solidFill>
          <a:ln/>
        </p:spPr>
      </p:sp>
      <p:sp>
        <p:nvSpPr>
          <p:cNvPr id="10" name="Shape 8"/>
          <p:cNvSpPr/>
          <p:nvPr/>
        </p:nvSpPr>
        <p:spPr>
          <a:xfrm>
            <a:off x="256032" y="960120"/>
            <a:ext cx="54864" cy="347472"/>
          </a:xfrm>
          <a:prstGeom prst="rect">
            <a:avLst/>
          </a:prstGeom>
          <a:solidFill>
            <a:srgbClr val="E23744"/>
          </a:solidFill>
          <a:ln/>
        </p:spPr>
      </p:sp>
      <p:sp>
        <p:nvSpPr>
          <p:cNvPr id="11" name="Text 9"/>
          <p:cNvSpPr/>
          <p:nvPr/>
        </p:nvSpPr>
        <p:spPr>
          <a:xfrm>
            <a:off x="384048" y="987552"/>
            <a:ext cx="8412480" cy="274320"/>
          </a:xfrm>
          <a:prstGeom prst="rect">
            <a:avLst/>
          </a:prstGeom>
          <a:noFill/>
          <a:ln/>
        </p:spPr>
        <p:txBody>
          <a:bodyPr wrap="square" lIns="0" tIns="0" rIns="0" bIns="0" rtlCol="0" anchor="ctr"/>
          <a:lstStyle/>
          <a:p>
            <a:pPr marL="0" indent="0">
              <a:buNone/>
            </a:pPr>
            <a:r>
              <a:rPr lang="en-US" sz="1300" b="1" dirty="0">
                <a:solidFill>
                  <a:srgbClr val="E23744"/>
                </a:solidFill>
                <a:latin typeface="Calibri" pitchFamily="34" charset="0"/>
                <a:ea typeface="Calibri" pitchFamily="34" charset="-122"/>
                <a:cs typeface="Calibri" pitchFamily="34" charset="-120"/>
              </a:rPr>
              <a:t>Core Problem</a:t>
            </a:r>
            <a:endParaRPr lang="en-US" sz="1300" dirty="0"/>
          </a:p>
        </p:txBody>
      </p:sp>
      <p:sp>
        <p:nvSpPr>
          <p:cNvPr id="12" name="Text 10"/>
          <p:cNvSpPr/>
          <p:nvPr/>
        </p:nvSpPr>
        <p:spPr>
          <a:xfrm>
            <a:off x="384048" y="1353312"/>
            <a:ext cx="8321040" cy="621792"/>
          </a:xfrm>
          <a:prstGeom prst="rect">
            <a:avLst/>
          </a:prstGeom>
          <a:noFill/>
          <a:ln/>
        </p:spPr>
        <p:txBody>
          <a:bodyPr wrap="square" lIns="0" tIns="0" rIns="0" bIns="0" rtlCol="0" anchor="ctr"/>
          <a:lstStyle/>
          <a:p>
            <a:pPr marL="0" indent="0">
              <a:buNone/>
            </a:pPr>
            <a:r>
              <a:rPr lang="en-US" sz="1200" dirty="0">
                <a:solidFill>
                  <a:srgbClr val="2C0A0E"/>
                </a:solidFill>
                <a:latin typeface="Calibri" pitchFamily="34" charset="0"/>
                <a:ea typeface="Calibri" pitchFamily="34" charset="-122"/>
                <a:cs typeface="Calibri" pitchFamily="34" charset="-120"/>
              </a:rPr>
              <a:t>Zomato collects vast amounts of restaurant data across 15 countries, but this data exists as a raw, unstructured CSV file with no analytical framework. Business stakeholders cannot derive meaningful insights about restaurant performance, customer satisfaction, pricing trends, or delivery impact without a structured analytical tool.</a:t>
            </a:r>
            <a:endParaRPr lang="en-US" sz="1200" dirty="0"/>
          </a:p>
        </p:txBody>
      </p:sp>
      <p:sp>
        <p:nvSpPr>
          <p:cNvPr id="13" name="Shape 11"/>
          <p:cNvSpPr/>
          <p:nvPr/>
        </p:nvSpPr>
        <p:spPr>
          <a:xfrm>
            <a:off x="256032" y="2212848"/>
            <a:ext cx="2743200" cy="2487168"/>
          </a:xfrm>
          <a:prstGeom prst="rect">
            <a:avLst/>
          </a:prstGeom>
          <a:solidFill>
            <a:srgbClr val="FFFFFF"/>
          </a:solidFill>
          <a:ln/>
          <a:effectLst>
            <a:outerShdw blurRad="63500" dist="25400" dir="8100000" algn="bl" rotWithShape="0">
              <a:srgbClr val="000000">
                <a:alpha val="10000"/>
              </a:srgbClr>
            </a:outerShdw>
          </a:effectLst>
        </p:spPr>
      </p:sp>
      <p:sp>
        <p:nvSpPr>
          <p:cNvPr id="14" name="Shape 12"/>
          <p:cNvSpPr/>
          <p:nvPr/>
        </p:nvSpPr>
        <p:spPr>
          <a:xfrm>
            <a:off x="256032" y="2212848"/>
            <a:ext cx="2743200" cy="384048"/>
          </a:xfrm>
          <a:prstGeom prst="rect">
            <a:avLst/>
          </a:prstGeom>
          <a:solidFill>
            <a:srgbClr val="E23744"/>
          </a:solidFill>
          <a:ln/>
        </p:spPr>
      </p:sp>
      <p:sp>
        <p:nvSpPr>
          <p:cNvPr id="15" name="Text 13"/>
          <p:cNvSpPr/>
          <p:nvPr/>
        </p:nvSpPr>
        <p:spPr>
          <a:xfrm>
            <a:off x="347472" y="2212848"/>
            <a:ext cx="2606040"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  Business Problem</a:t>
            </a:r>
            <a:endParaRPr lang="en-US" sz="1250" dirty="0"/>
          </a:p>
        </p:txBody>
      </p:sp>
      <p:sp>
        <p:nvSpPr>
          <p:cNvPr id="16" name="Text 14"/>
          <p:cNvSpPr/>
          <p:nvPr/>
        </p:nvSpPr>
        <p:spPr>
          <a:xfrm>
            <a:off x="365760" y="2670048"/>
            <a:ext cx="2542032" cy="502920"/>
          </a:xfrm>
          <a:prstGeom prst="rect">
            <a:avLst/>
          </a:prstGeom>
          <a:noFill/>
          <a:ln/>
        </p:spPr>
        <p:txBody>
          <a:bodyPr wrap="square" lIns="0" tIns="0" rIns="0" bIns="0" rtlCol="0" anchor="ctr"/>
          <a:lstStyle/>
          <a:p>
            <a:pPr marL="342900" indent="-342900">
              <a:buSzPct val="100000"/>
              <a:buChar char="•"/>
            </a:pPr>
            <a:r>
              <a:rPr lang="en-US" sz="1100" dirty="0">
                <a:solidFill>
                  <a:srgbClr val="4A1520"/>
                </a:solidFill>
                <a:latin typeface="Calibri" pitchFamily="34" charset="0"/>
                <a:ea typeface="Calibri" pitchFamily="34" charset="-122"/>
                <a:cs typeface="Calibri" pitchFamily="34" charset="-120"/>
              </a:rPr>
              <a:t>No way to identify which restaurants perform well and why</a:t>
            </a:r>
            <a:endParaRPr lang="en-US" sz="1100" dirty="0"/>
          </a:p>
        </p:txBody>
      </p:sp>
      <p:sp>
        <p:nvSpPr>
          <p:cNvPr id="17" name="Text 15"/>
          <p:cNvSpPr/>
          <p:nvPr/>
        </p:nvSpPr>
        <p:spPr>
          <a:xfrm>
            <a:off x="365760" y="3218688"/>
            <a:ext cx="2542032" cy="502920"/>
          </a:xfrm>
          <a:prstGeom prst="rect">
            <a:avLst/>
          </a:prstGeom>
          <a:noFill/>
          <a:ln/>
        </p:spPr>
        <p:txBody>
          <a:bodyPr wrap="square" lIns="0" tIns="0" rIns="0" bIns="0" rtlCol="0" anchor="ctr"/>
          <a:lstStyle/>
          <a:p>
            <a:pPr marL="342900" indent="-342900">
              <a:buSzPct val="100000"/>
              <a:buChar char="•"/>
            </a:pPr>
            <a:r>
              <a:rPr lang="en-US" sz="1100" dirty="0">
                <a:solidFill>
                  <a:srgbClr val="4A1520"/>
                </a:solidFill>
                <a:latin typeface="Calibri" pitchFamily="34" charset="0"/>
                <a:ea typeface="Calibri" pitchFamily="34" charset="-122"/>
                <a:cs typeface="Calibri" pitchFamily="34" charset="-120"/>
              </a:rPr>
              <a:t>Cannot compare delivery vs non-delivery restaurant quality</a:t>
            </a:r>
            <a:endParaRPr lang="en-US" sz="1100" dirty="0"/>
          </a:p>
        </p:txBody>
      </p:sp>
      <p:sp>
        <p:nvSpPr>
          <p:cNvPr id="18" name="Text 16"/>
          <p:cNvSpPr/>
          <p:nvPr/>
        </p:nvSpPr>
        <p:spPr>
          <a:xfrm>
            <a:off x="365760" y="3767328"/>
            <a:ext cx="2542032" cy="502920"/>
          </a:xfrm>
          <a:prstGeom prst="rect">
            <a:avLst/>
          </a:prstGeom>
          <a:noFill/>
          <a:ln/>
        </p:spPr>
        <p:txBody>
          <a:bodyPr wrap="square" lIns="0" tIns="0" rIns="0" bIns="0" rtlCol="0" anchor="ctr"/>
          <a:lstStyle/>
          <a:p>
            <a:pPr marL="342900" indent="-342900">
              <a:buSzPct val="100000"/>
              <a:buChar char="•"/>
            </a:pPr>
            <a:r>
              <a:rPr lang="en-US" sz="1100" dirty="0">
                <a:solidFill>
                  <a:srgbClr val="4A1520"/>
                </a:solidFill>
                <a:latin typeface="Calibri" pitchFamily="34" charset="0"/>
                <a:ea typeface="Calibri" pitchFamily="34" charset="-122"/>
                <a:cs typeface="Calibri" pitchFamily="34" charset="-120"/>
              </a:rPr>
              <a:t>No visibility into cuisine popularity or pricing vs rating trends</a:t>
            </a:r>
            <a:endParaRPr lang="en-US" sz="1100" dirty="0"/>
          </a:p>
        </p:txBody>
      </p:sp>
      <p:sp>
        <p:nvSpPr>
          <p:cNvPr id="19" name="Shape 17"/>
          <p:cNvSpPr/>
          <p:nvPr/>
        </p:nvSpPr>
        <p:spPr>
          <a:xfrm>
            <a:off x="3163824" y="2212848"/>
            <a:ext cx="2743200" cy="2487168"/>
          </a:xfrm>
          <a:prstGeom prst="rect">
            <a:avLst/>
          </a:prstGeom>
          <a:solidFill>
            <a:srgbClr val="FFFFFF"/>
          </a:solidFill>
          <a:ln/>
          <a:effectLst>
            <a:outerShdw blurRad="63500" dist="25400" dir="8100000" algn="bl" rotWithShape="0">
              <a:srgbClr val="000000">
                <a:alpha val="10000"/>
              </a:srgbClr>
            </a:outerShdw>
          </a:effectLst>
        </p:spPr>
      </p:sp>
      <p:sp>
        <p:nvSpPr>
          <p:cNvPr id="20" name="Shape 18"/>
          <p:cNvSpPr/>
          <p:nvPr/>
        </p:nvSpPr>
        <p:spPr>
          <a:xfrm>
            <a:off x="3163824" y="2212848"/>
            <a:ext cx="2743200" cy="384048"/>
          </a:xfrm>
          <a:prstGeom prst="rect">
            <a:avLst/>
          </a:prstGeom>
          <a:solidFill>
            <a:srgbClr val="B8202E"/>
          </a:solidFill>
          <a:ln/>
        </p:spPr>
      </p:sp>
      <p:sp>
        <p:nvSpPr>
          <p:cNvPr id="21" name="Text 19"/>
          <p:cNvSpPr/>
          <p:nvPr/>
        </p:nvSpPr>
        <p:spPr>
          <a:xfrm>
            <a:off x="3255264" y="2212848"/>
            <a:ext cx="2606040"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  Data Problem</a:t>
            </a:r>
            <a:endParaRPr lang="en-US" sz="1250" dirty="0"/>
          </a:p>
        </p:txBody>
      </p:sp>
      <p:sp>
        <p:nvSpPr>
          <p:cNvPr id="22" name="Text 20"/>
          <p:cNvSpPr/>
          <p:nvPr/>
        </p:nvSpPr>
        <p:spPr>
          <a:xfrm>
            <a:off x="3273552" y="2670048"/>
            <a:ext cx="2542032" cy="502920"/>
          </a:xfrm>
          <a:prstGeom prst="rect">
            <a:avLst/>
          </a:prstGeom>
          <a:noFill/>
          <a:ln/>
        </p:spPr>
        <p:txBody>
          <a:bodyPr wrap="square" lIns="0" tIns="0" rIns="0" bIns="0" rtlCol="0" anchor="ctr"/>
          <a:lstStyle/>
          <a:p>
            <a:pPr marL="342900" indent="-342900">
              <a:buSzPct val="100000"/>
              <a:buChar char="•"/>
            </a:pPr>
            <a:r>
              <a:rPr lang="en-US" sz="1100" dirty="0">
                <a:solidFill>
                  <a:srgbClr val="4A1520"/>
                </a:solidFill>
                <a:latin typeface="Calibri" pitchFamily="34" charset="0"/>
                <a:ea typeface="Calibri" pitchFamily="34" charset="-122"/>
                <a:cs typeface="Calibri" pitchFamily="34" charset="-120"/>
              </a:rPr>
              <a:t>Raw CSV with 9,551 rows — no relationships or structure</a:t>
            </a:r>
            <a:endParaRPr lang="en-US" sz="1100" dirty="0"/>
          </a:p>
        </p:txBody>
      </p:sp>
      <p:sp>
        <p:nvSpPr>
          <p:cNvPr id="23" name="Text 21"/>
          <p:cNvSpPr/>
          <p:nvPr/>
        </p:nvSpPr>
        <p:spPr>
          <a:xfrm>
            <a:off x="3273552" y="3218688"/>
            <a:ext cx="2542032" cy="502920"/>
          </a:xfrm>
          <a:prstGeom prst="rect">
            <a:avLst/>
          </a:prstGeom>
          <a:noFill/>
          <a:ln/>
        </p:spPr>
        <p:txBody>
          <a:bodyPr wrap="square" lIns="0" tIns="0" rIns="0" bIns="0" rtlCol="0" anchor="ctr"/>
          <a:lstStyle/>
          <a:p>
            <a:pPr marL="342900" indent="-342900">
              <a:buSzPct val="100000"/>
              <a:buChar char="•"/>
            </a:pPr>
            <a:r>
              <a:rPr lang="en-US" sz="1100" dirty="0">
                <a:solidFill>
                  <a:srgbClr val="4A1520"/>
                </a:solidFill>
                <a:latin typeface="Calibri" pitchFamily="34" charset="0"/>
                <a:ea typeface="Calibri" pitchFamily="34" charset="-122"/>
                <a:cs typeface="Calibri" pitchFamily="34" charset="-120"/>
              </a:rPr>
              <a:t>Outliers distorting averages (₹8,00,000 single cost entry)</a:t>
            </a:r>
            <a:endParaRPr lang="en-US" sz="1100" dirty="0"/>
          </a:p>
        </p:txBody>
      </p:sp>
      <p:sp>
        <p:nvSpPr>
          <p:cNvPr id="24" name="Text 22"/>
          <p:cNvSpPr/>
          <p:nvPr/>
        </p:nvSpPr>
        <p:spPr>
          <a:xfrm>
            <a:off x="3273552" y="3767328"/>
            <a:ext cx="2542032" cy="502920"/>
          </a:xfrm>
          <a:prstGeom prst="rect">
            <a:avLst/>
          </a:prstGeom>
          <a:noFill/>
          <a:ln/>
        </p:spPr>
        <p:txBody>
          <a:bodyPr wrap="square" lIns="0" tIns="0" rIns="0" bIns="0" rtlCol="0" anchor="ctr"/>
          <a:lstStyle/>
          <a:p>
            <a:pPr marL="342900" indent="-342900">
              <a:buSzPct val="100000"/>
              <a:buChar char="•"/>
            </a:pPr>
            <a:r>
              <a:rPr lang="en-US" sz="1100" dirty="0">
                <a:solidFill>
                  <a:srgbClr val="4A1520"/>
                </a:solidFill>
                <a:latin typeface="Calibri" pitchFamily="34" charset="0"/>
                <a:ea typeface="Calibri" pitchFamily="34" charset="-122"/>
                <a:cs typeface="Calibri" pitchFamily="34" charset="-120"/>
              </a:rPr>
              <a:t>2,148 restaurants unrated, skewing rating calculations</a:t>
            </a:r>
            <a:endParaRPr lang="en-US" sz="1100" dirty="0"/>
          </a:p>
        </p:txBody>
      </p:sp>
      <p:sp>
        <p:nvSpPr>
          <p:cNvPr id="25" name="Shape 23"/>
          <p:cNvSpPr/>
          <p:nvPr/>
        </p:nvSpPr>
        <p:spPr>
          <a:xfrm>
            <a:off x="6071616" y="2212848"/>
            <a:ext cx="2743200" cy="2487168"/>
          </a:xfrm>
          <a:prstGeom prst="rect">
            <a:avLst/>
          </a:prstGeom>
          <a:solidFill>
            <a:srgbClr val="FFFFFF"/>
          </a:solidFill>
          <a:ln/>
          <a:effectLst>
            <a:outerShdw blurRad="63500" dist="25400" dir="8100000" algn="bl" rotWithShape="0">
              <a:srgbClr val="000000">
                <a:alpha val="10000"/>
              </a:srgbClr>
            </a:outerShdw>
          </a:effectLst>
        </p:spPr>
      </p:sp>
      <p:sp>
        <p:nvSpPr>
          <p:cNvPr id="26" name="Shape 24"/>
          <p:cNvSpPr/>
          <p:nvPr/>
        </p:nvSpPr>
        <p:spPr>
          <a:xfrm>
            <a:off x="6071616" y="2212848"/>
            <a:ext cx="2743200" cy="384048"/>
          </a:xfrm>
          <a:prstGeom prst="rect">
            <a:avLst/>
          </a:prstGeom>
          <a:solidFill>
            <a:srgbClr val="8C1520"/>
          </a:solidFill>
          <a:ln/>
        </p:spPr>
      </p:sp>
      <p:sp>
        <p:nvSpPr>
          <p:cNvPr id="27" name="Text 25"/>
          <p:cNvSpPr/>
          <p:nvPr/>
        </p:nvSpPr>
        <p:spPr>
          <a:xfrm>
            <a:off x="6163056" y="2212848"/>
            <a:ext cx="2606040"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  Solution Needed</a:t>
            </a:r>
            <a:endParaRPr lang="en-US" sz="1250" dirty="0"/>
          </a:p>
        </p:txBody>
      </p:sp>
      <p:sp>
        <p:nvSpPr>
          <p:cNvPr id="28" name="Text 26"/>
          <p:cNvSpPr/>
          <p:nvPr/>
        </p:nvSpPr>
        <p:spPr>
          <a:xfrm>
            <a:off x="6181344" y="2670048"/>
            <a:ext cx="2542032" cy="502920"/>
          </a:xfrm>
          <a:prstGeom prst="rect">
            <a:avLst/>
          </a:prstGeom>
          <a:noFill/>
          <a:ln/>
        </p:spPr>
        <p:txBody>
          <a:bodyPr wrap="square" lIns="0" tIns="0" rIns="0" bIns="0" rtlCol="0" anchor="ctr"/>
          <a:lstStyle/>
          <a:p>
            <a:pPr marL="342900" indent="-342900">
              <a:buSzPct val="100000"/>
              <a:buChar char="•"/>
            </a:pPr>
            <a:r>
              <a:rPr lang="en-US" sz="1100" dirty="0">
                <a:solidFill>
                  <a:srgbClr val="4A1520"/>
                </a:solidFill>
                <a:latin typeface="Calibri" pitchFamily="34" charset="0"/>
                <a:ea typeface="Calibri" pitchFamily="34" charset="-122"/>
                <a:cs typeface="Calibri" pitchFamily="34" charset="-120"/>
              </a:rPr>
              <a:t>Clean &amp; model data into a 3-table Star Schema</a:t>
            </a:r>
            <a:endParaRPr lang="en-US" sz="1100" dirty="0"/>
          </a:p>
        </p:txBody>
      </p:sp>
      <p:sp>
        <p:nvSpPr>
          <p:cNvPr id="29" name="Text 27"/>
          <p:cNvSpPr/>
          <p:nvPr/>
        </p:nvSpPr>
        <p:spPr>
          <a:xfrm>
            <a:off x="6181344" y="3218688"/>
            <a:ext cx="2542032" cy="502920"/>
          </a:xfrm>
          <a:prstGeom prst="rect">
            <a:avLst/>
          </a:prstGeom>
          <a:noFill/>
          <a:ln/>
        </p:spPr>
        <p:txBody>
          <a:bodyPr wrap="square" lIns="0" tIns="0" rIns="0" bIns="0" rtlCol="0" anchor="ctr"/>
          <a:lstStyle/>
          <a:p>
            <a:pPr marL="342900" indent="-342900">
              <a:buSzPct val="100000"/>
              <a:buChar char="•"/>
            </a:pPr>
            <a:r>
              <a:rPr lang="en-US" sz="1100" dirty="0">
                <a:solidFill>
                  <a:srgbClr val="4A1520"/>
                </a:solidFill>
                <a:latin typeface="Calibri" pitchFamily="34" charset="0"/>
                <a:ea typeface="Calibri" pitchFamily="34" charset="-122"/>
                <a:cs typeface="Calibri" pitchFamily="34" charset="-120"/>
              </a:rPr>
              <a:t>Build 20 DAX measures for accurate KPI calculation</a:t>
            </a:r>
            <a:endParaRPr lang="en-US" sz="1100" dirty="0"/>
          </a:p>
        </p:txBody>
      </p:sp>
      <p:sp>
        <p:nvSpPr>
          <p:cNvPr id="30" name="Text 28"/>
          <p:cNvSpPr/>
          <p:nvPr/>
        </p:nvSpPr>
        <p:spPr>
          <a:xfrm>
            <a:off x="6181344" y="3767328"/>
            <a:ext cx="2542032" cy="502920"/>
          </a:xfrm>
          <a:prstGeom prst="rect">
            <a:avLst/>
          </a:prstGeom>
          <a:noFill/>
          <a:ln/>
        </p:spPr>
        <p:txBody>
          <a:bodyPr wrap="square" lIns="0" tIns="0" rIns="0" bIns="0" rtlCol="0" anchor="ctr"/>
          <a:lstStyle/>
          <a:p>
            <a:pPr marL="342900" indent="-342900">
              <a:buSzPct val="100000"/>
              <a:buChar char="•"/>
            </a:pPr>
            <a:r>
              <a:rPr lang="en-US" sz="1100" dirty="0">
                <a:solidFill>
                  <a:srgbClr val="4A1520"/>
                </a:solidFill>
                <a:latin typeface="Calibri" pitchFamily="34" charset="0"/>
                <a:ea typeface="Calibri" pitchFamily="34" charset="-122"/>
                <a:cs typeface="Calibri" pitchFamily="34" charset="-120"/>
              </a:rPr>
              <a:t>Create interactive Power BI dashboard with drill-down filters</a:t>
            </a:r>
            <a:endParaRPr lang="en-US" sz="1100" dirty="0"/>
          </a:p>
        </p:txBody>
      </p:sp>
      <p:sp>
        <p:nvSpPr>
          <p:cNvPr id="31" name="Shape 29"/>
          <p:cNvSpPr/>
          <p:nvPr/>
        </p:nvSpPr>
        <p:spPr>
          <a:xfrm>
            <a:off x="0" y="4832604"/>
            <a:ext cx="9144000" cy="310896"/>
          </a:xfrm>
          <a:prstGeom prst="rect">
            <a:avLst/>
          </a:prstGeom>
          <a:solidFill>
            <a:srgbClr val="E23744"/>
          </a:solidFill>
          <a:ln/>
        </p:spPr>
      </p:sp>
      <p:sp>
        <p:nvSpPr>
          <p:cNvPr id="32" name="Text 30"/>
          <p:cNvSpPr/>
          <p:nvPr/>
        </p:nvSpPr>
        <p:spPr>
          <a:xfrm>
            <a:off x="274320" y="4832604"/>
            <a:ext cx="8595360" cy="310896"/>
          </a:xfrm>
          <a:prstGeom prst="rect">
            <a:avLst/>
          </a:prstGeom>
          <a:noFill/>
          <a:ln/>
        </p:spPr>
        <p:txBody>
          <a:bodyPr wrap="square" rtlCol="0" anchor="ctr"/>
          <a:lstStyle/>
          <a:p>
            <a:pPr marL="0" indent="0">
              <a:buNone/>
            </a:pP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23744"/>
          </a:solidFill>
          <a:ln/>
        </p:spPr>
      </p:sp>
      <p:sp>
        <p:nvSpPr>
          <p:cNvPr id="3" name="Shape 1"/>
          <p:cNvSpPr/>
          <p:nvPr/>
        </p:nvSpPr>
        <p:spPr>
          <a:xfrm>
            <a:off x="0" y="749808"/>
            <a:ext cx="9144000" cy="45720"/>
          </a:xfrm>
          <a:prstGeom prst="rect">
            <a:avLst/>
          </a:prstGeom>
          <a:solidFill>
            <a:srgbClr val="B8202E"/>
          </a:solidFill>
          <a:ln/>
        </p:spPr>
      </p:sp>
      <p:sp>
        <p:nvSpPr>
          <p:cNvPr id="4" name="Text 2"/>
          <p:cNvSpPr/>
          <p:nvPr/>
        </p:nvSpPr>
        <p:spPr>
          <a:xfrm>
            <a:off x="320040" y="0"/>
            <a:ext cx="8229600" cy="749808"/>
          </a:xfrm>
          <a:prstGeom prst="rect">
            <a:avLst/>
          </a:prstGeom>
          <a:noFill/>
          <a:ln/>
        </p:spPr>
        <p:txBody>
          <a:bodyPr wrap="square"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PROJECT OVERVIEW</a:t>
            </a:r>
            <a:endParaRPr lang="en-US" sz="2300" dirty="0"/>
          </a:p>
        </p:txBody>
      </p:sp>
      <p:sp>
        <p:nvSpPr>
          <p:cNvPr id="5" name="Shape 3"/>
          <p:cNvSpPr/>
          <p:nvPr/>
        </p:nvSpPr>
        <p:spPr>
          <a:xfrm>
            <a:off x="8705088" y="109728"/>
            <a:ext cx="347472" cy="347472"/>
          </a:xfrm>
          <a:prstGeom prst="ellipse">
            <a:avLst/>
          </a:prstGeom>
          <a:solidFill>
            <a:srgbClr val="B8202E"/>
          </a:solidFill>
          <a:ln/>
        </p:spPr>
      </p:sp>
      <p:sp>
        <p:nvSpPr>
          <p:cNvPr id="6" name="Text 4"/>
          <p:cNvSpPr/>
          <p:nvPr/>
        </p:nvSpPr>
        <p:spPr>
          <a:xfrm>
            <a:off x="8705088" y="1097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7" name="Shape 5"/>
          <p:cNvSpPr/>
          <p:nvPr/>
        </p:nvSpPr>
        <p:spPr>
          <a:xfrm>
            <a:off x="256032" y="960120"/>
            <a:ext cx="2743200" cy="1920240"/>
          </a:xfrm>
          <a:prstGeom prst="rect">
            <a:avLst/>
          </a:prstGeom>
          <a:solidFill>
            <a:srgbClr val="FFFFFF"/>
          </a:solidFill>
          <a:ln/>
          <a:effectLst>
            <a:outerShdw blurRad="63500" dist="25400" dir="8100000" algn="bl" rotWithShape="0">
              <a:srgbClr val="000000">
                <a:alpha val="10000"/>
              </a:srgbClr>
            </a:outerShdw>
          </a:effectLst>
        </p:spPr>
      </p:sp>
      <p:sp>
        <p:nvSpPr>
          <p:cNvPr id="8" name="Shape 6"/>
          <p:cNvSpPr/>
          <p:nvPr/>
        </p:nvSpPr>
        <p:spPr>
          <a:xfrm>
            <a:off x="256032" y="960120"/>
            <a:ext cx="54864" cy="1920240"/>
          </a:xfrm>
          <a:prstGeom prst="rect">
            <a:avLst/>
          </a:prstGeom>
          <a:solidFill>
            <a:srgbClr val="E23744"/>
          </a:solidFill>
          <a:ln/>
        </p:spPr>
      </p:sp>
      <p:sp>
        <p:nvSpPr>
          <p:cNvPr id="9" name="Shape 7"/>
          <p:cNvSpPr/>
          <p:nvPr/>
        </p:nvSpPr>
        <p:spPr>
          <a:xfrm>
            <a:off x="256032" y="960120"/>
            <a:ext cx="2743200" cy="347472"/>
          </a:xfrm>
          <a:prstGeom prst="rect">
            <a:avLst/>
          </a:prstGeom>
          <a:solidFill>
            <a:srgbClr val="FFF5F6"/>
          </a:solidFill>
          <a:ln/>
        </p:spPr>
      </p:sp>
      <p:sp>
        <p:nvSpPr>
          <p:cNvPr id="10" name="Shape 8"/>
          <p:cNvSpPr/>
          <p:nvPr/>
        </p:nvSpPr>
        <p:spPr>
          <a:xfrm>
            <a:off x="256032" y="960120"/>
            <a:ext cx="54864" cy="347472"/>
          </a:xfrm>
          <a:prstGeom prst="rect">
            <a:avLst/>
          </a:prstGeom>
          <a:solidFill>
            <a:srgbClr val="E23744"/>
          </a:solidFill>
          <a:ln/>
        </p:spPr>
      </p:sp>
      <p:sp>
        <p:nvSpPr>
          <p:cNvPr id="11" name="Text 9"/>
          <p:cNvSpPr/>
          <p:nvPr/>
        </p:nvSpPr>
        <p:spPr>
          <a:xfrm>
            <a:off x="384048" y="1005840"/>
            <a:ext cx="2560320" cy="274320"/>
          </a:xfrm>
          <a:prstGeom prst="rect">
            <a:avLst/>
          </a:prstGeom>
          <a:noFill/>
          <a:ln/>
        </p:spPr>
        <p:txBody>
          <a:bodyPr wrap="square" lIns="0" tIns="0" rIns="0" bIns="0" rtlCol="0" anchor="ctr"/>
          <a:lstStyle/>
          <a:p>
            <a:pPr marL="0" indent="0">
              <a:buNone/>
            </a:pPr>
            <a:r>
              <a:rPr lang="en-US" sz="1250" b="1" dirty="0">
                <a:solidFill>
                  <a:srgbClr val="E23744"/>
                </a:solidFill>
                <a:latin typeface="Calibri" pitchFamily="34" charset="0"/>
                <a:ea typeface="Calibri" pitchFamily="34" charset="-122"/>
                <a:cs typeface="Calibri" pitchFamily="34" charset="-120"/>
              </a:rPr>
              <a:t>Objective</a:t>
            </a:r>
            <a:endParaRPr lang="en-US" sz="1250" dirty="0"/>
          </a:p>
        </p:txBody>
      </p:sp>
      <p:sp>
        <p:nvSpPr>
          <p:cNvPr id="12" name="Text 10"/>
          <p:cNvSpPr/>
          <p:nvPr/>
        </p:nvSpPr>
        <p:spPr>
          <a:xfrm>
            <a:off x="384048" y="1362456"/>
            <a:ext cx="2542032" cy="1444752"/>
          </a:xfrm>
          <a:prstGeom prst="rect">
            <a:avLst/>
          </a:prstGeom>
          <a:noFill/>
          <a:ln/>
        </p:spPr>
        <p:txBody>
          <a:bodyPr wrap="square" lIns="0" tIns="0" rIns="0" bIns="0" rtlCol="0" anchor="t"/>
          <a:lstStyle/>
          <a:p>
            <a:pPr marL="0" indent="0">
              <a:buNone/>
            </a:pPr>
            <a:r>
              <a:rPr lang="en-US" sz="1150" dirty="0">
                <a:solidFill>
                  <a:srgbClr val="4A1520"/>
                </a:solidFill>
                <a:latin typeface="Calibri" pitchFamily="34" charset="0"/>
                <a:ea typeface="Calibri" pitchFamily="34" charset="-122"/>
                <a:cs typeface="Calibri" pitchFamily="34" charset="-120"/>
              </a:rPr>
              <a:t>Build an interactive Power BI dashboard to analyze global restaurant performance, customer ratings, and delivery trends across 15 countries.</a:t>
            </a:r>
            <a:endParaRPr lang="en-US" sz="1150" dirty="0"/>
          </a:p>
        </p:txBody>
      </p:sp>
      <p:sp>
        <p:nvSpPr>
          <p:cNvPr id="13" name="Shape 11"/>
          <p:cNvSpPr/>
          <p:nvPr/>
        </p:nvSpPr>
        <p:spPr>
          <a:xfrm>
            <a:off x="3163824" y="960120"/>
            <a:ext cx="2743200" cy="1920240"/>
          </a:xfrm>
          <a:prstGeom prst="rect">
            <a:avLst/>
          </a:prstGeom>
          <a:solidFill>
            <a:srgbClr val="FFFFFF"/>
          </a:solidFill>
          <a:ln/>
          <a:effectLst>
            <a:outerShdw blurRad="63500" dist="25400" dir="8100000" algn="bl" rotWithShape="0">
              <a:srgbClr val="000000">
                <a:alpha val="10000"/>
              </a:srgbClr>
            </a:outerShdw>
          </a:effectLst>
        </p:spPr>
      </p:sp>
      <p:sp>
        <p:nvSpPr>
          <p:cNvPr id="14" name="Shape 12"/>
          <p:cNvSpPr/>
          <p:nvPr/>
        </p:nvSpPr>
        <p:spPr>
          <a:xfrm>
            <a:off x="3163824" y="960120"/>
            <a:ext cx="54864" cy="1920240"/>
          </a:xfrm>
          <a:prstGeom prst="rect">
            <a:avLst/>
          </a:prstGeom>
          <a:solidFill>
            <a:srgbClr val="B8202E"/>
          </a:solidFill>
          <a:ln/>
        </p:spPr>
      </p:sp>
      <p:sp>
        <p:nvSpPr>
          <p:cNvPr id="15" name="Shape 13"/>
          <p:cNvSpPr/>
          <p:nvPr/>
        </p:nvSpPr>
        <p:spPr>
          <a:xfrm>
            <a:off x="3163824" y="960120"/>
            <a:ext cx="2743200" cy="347472"/>
          </a:xfrm>
          <a:prstGeom prst="rect">
            <a:avLst/>
          </a:prstGeom>
          <a:solidFill>
            <a:srgbClr val="FFF5F6"/>
          </a:solidFill>
          <a:ln/>
        </p:spPr>
      </p:sp>
      <p:sp>
        <p:nvSpPr>
          <p:cNvPr id="16" name="Shape 14"/>
          <p:cNvSpPr/>
          <p:nvPr/>
        </p:nvSpPr>
        <p:spPr>
          <a:xfrm>
            <a:off x="3163824" y="960120"/>
            <a:ext cx="54864" cy="347472"/>
          </a:xfrm>
          <a:prstGeom prst="rect">
            <a:avLst/>
          </a:prstGeom>
          <a:solidFill>
            <a:srgbClr val="B8202E"/>
          </a:solidFill>
          <a:ln/>
        </p:spPr>
      </p:sp>
      <p:sp>
        <p:nvSpPr>
          <p:cNvPr id="17" name="Text 15"/>
          <p:cNvSpPr/>
          <p:nvPr/>
        </p:nvSpPr>
        <p:spPr>
          <a:xfrm>
            <a:off x="3291840" y="1005840"/>
            <a:ext cx="2560320" cy="274320"/>
          </a:xfrm>
          <a:prstGeom prst="rect">
            <a:avLst/>
          </a:prstGeom>
          <a:noFill/>
          <a:ln/>
        </p:spPr>
        <p:txBody>
          <a:bodyPr wrap="square" lIns="0" tIns="0" rIns="0" bIns="0" rtlCol="0" anchor="ctr"/>
          <a:lstStyle/>
          <a:p>
            <a:pPr marL="0" indent="0">
              <a:buNone/>
            </a:pPr>
            <a:r>
              <a:rPr lang="en-US" sz="1250" b="1" dirty="0">
                <a:solidFill>
                  <a:srgbClr val="B8202E"/>
                </a:solidFill>
                <a:latin typeface="Calibri" pitchFamily="34" charset="0"/>
                <a:ea typeface="Calibri" pitchFamily="34" charset="-122"/>
                <a:cs typeface="Calibri" pitchFamily="34" charset="-120"/>
              </a:rPr>
              <a:t>Data Source</a:t>
            </a:r>
            <a:endParaRPr lang="en-US" sz="1250" dirty="0"/>
          </a:p>
        </p:txBody>
      </p:sp>
      <p:sp>
        <p:nvSpPr>
          <p:cNvPr id="18" name="Text 16"/>
          <p:cNvSpPr/>
          <p:nvPr/>
        </p:nvSpPr>
        <p:spPr>
          <a:xfrm>
            <a:off x="3291840" y="1362456"/>
            <a:ext cx="2542032" cy="1444752"/>
          </a:xfrm>
          <a:prstGeom prst="rect">
            <a:avLst/>
          </a:prstGeom>
          <a:noFill/>
          <a:ln/>
        </p:spPr>
        <p:txBody>
          <a:bodyPr wrap="square" lIns="0" tIns="0" rIns="0" bIns="0" rtlCol="0" anchor="t"/>
          <a:lstStyle/>
          <a:p>
            <a:pPr marL="0" indent="0">
              <a:buNone/>
            </a:pPr>
            <a:r>
              <a:rPr lang="en-US" sz="1150" dirty="0">
                <a:solidFill>
                  <a:srgbClr val="4A1520"/>
                </a:solidFill>
                <a:latin typeface="Calibri" pitchFamily="34" charset="0"/>
                <a:ea typeface="Calibri" pitchFamily="34" charset="-122"/>
                <a:cs typeface="Calibri" pitchFamily="34" charset="-120"/>
              </a:rPr>
              <a:t>Zomato public dataset — 9,551 restaurants, 15 countries, 6 continents, 21 columns covering cuisine, cost, ratings, delivery and table booking.</a:t>
            </a:r>
            <a:endParaRPr lang="en-US" sz="1150" dirty="0"/>
          </a:p>
        </p:txBody>
      </p:sp>
      <p:sp>
        <p:nvSpPr>
          <p:cNvPr id="19" name="Shape 17"/>
          <p:cNvSpPr/>
          <p:nvPr/>
        </p:nvSpPr>
        <p:spPr>
          <a:xfrm>
            <a:off x="6071616" y="960120"/>
            <a:ext cx="2743200" cy="1920240"/>
          </a:xfrm>
          <a:prstGeom prst="rect">
            <a:avLst/>
          </a:prstGeom>
          <a:solidFill>
            <a:srgbClr val="FFFFFF"/>
          </a:solidFill>
          <a:ln/>
          <a:effectLst>
            <a:outerShdw blurRad="63500" dist="25400" dir="8100000" algn="bl" rotWithShape="0">
              <a:srgbClr val="000000">
                <a:alpha val="10000"/>
              </a:srgbClr>
            </a:outerShdw>
          </a:effectLst>
        </p:spPr>
      </p:sp>
      <p:sp>
        <p:nvSpPr>
          <p:cNvPr id="20" name="Shape 18"/>
          <p:cNvSpPr/>
          <p:nvPr/>
        </p:nvSpPr>
        <p:spPr>
          <a:xfrm>
            <a:off x="6071616" y="960120"/>
            <a:ext cx="54864" cy="1920240"/>
          </a:xfrm>
          <a:prstGeom prst="rect">
            <a:avLst/>
          </a:prstGeom>
          <a:solidFill>
            <a:srgbClr val="8C1520"/>
          </a:solidFill>
          <a:ln/>
        </p:spPr>
      </p:sp>
      <p:sp>
        <p:nvSpPr>
          <p:cNvPr id="21" name="Shape 19"/>
          <p:cNvSpPr/>
          <p:nvPr/>
        </p:nvSpPr>
        <p:spPr>
          <a:xfrm>
            <a:off x="6071616" y="960120"/>
            <a:ext cx="2743200" cy="347472"/>
          </a:xfrm>
          <a:prstGeom prst="rect">
            <a:avLst/>
          </a:prstGeom>
          <a:solidFill>
            <a:srgbClr val="FFF5F6"/>
          </a:solidFill>
          <a:ln/>
        </p:spPr>
      </p:sp>
      <p:sp>
        <p:nvSpPr>
          <p:cNvPr id="22" name="Shape 20"/>
          <p:cNvSpPr/>
          <p:nvPr/>
        </p:nvSpPr>
        <p:spPr>
          <a:xfrm>
            <a:off x="6071616" y="960120"/>
            <a:ext cx="54864" cy="347472"/>
          </a:xfrm>
          <a:prstGeom prst="rect">
            <a:avLst/>
          </a:prstGeom>
          <a:solidFill>
            <a:srgbClr val="8C1520"/>
          </a:solidFill>
          <a:ln/>
        </p:spPr>
      </p:sp>
      <p:sp>
        <p:nvSpPr>
          <p:cNvPr id="23" name="Text 21"/>
          <p:cNvSpPr/>
          <p:nvPr/>
        </p:nvSpPr>
        <p:spPr>
          <a:xfrm>
            <a:off x="6199632" y="1005840"/>
            <a:ext cx="2560320" cy="274320"/>
          </a:xfrm>
          <a:prstGeom prst="rect">
            <a:avLst/>
          </a:prstGeom>
          <a:noFill/>
          <a:ln/>
        </p:spPr>
        <p:txBody>
          <a:bodyPr wrap="square" lIns="0" tIns="0" rIns="0" bIns="0" rtlCol="0" anchor="ctr"/>
          <a:lstStyle/>
          <a:p>
            <a:pPr marL="0" indent="0">
              <a:buNone/>
            </a:pPr>
            <a:r>
              <a:rPr lang="en-US" sz="1250" b="1" dirty="0">
                <a:solidFill>
                  <a:srgbClr val="8C1520"/>
                </a:solidFill>
                <a:latin typeface="Calibri" pitchFamily="34" charset="0"/>
                <a:ea typeface="Calibri" pitchFamily="34" charset="-122"/>
                <a:cs typeface="Calibri" pitchFamily="34" charset="-120"/>
              </a:rPr>
              <a:t>Tools Used</a:t>
            </a:r>
            <a:endParaRPr lang="en-US" sz="1250" dirty="0"/>
          </a:p>
        </p:txBody>
      </p:sp>
      <p:sp>
        <p:nvSpPr>
          <p:cNvPr id="24" name="Text 22"/>
          <p:cNvSpPr/>
          <p:nvPr/>
        </p:nvSpPr>
        <p:spPr>
          <a:xfrm>
            <a:off x="6199632" y="1362456"/>
            <a:ext cx="2542032" cy="1444752"/>
          </a:xfrm>
          <a:prstGeom prst="rect">
            <a:avLst/>
          </a:prstGeom>
          <a:noFill/>
          <a:ln/>
        </p:spPr>
        <p:txBody>
          <a:bodyPr wrap="square" lIns="0" tIns="0" rIns="0" bIns="0" rtlCol="0" anchor="t"/>
          <a:lstStyle/>
          <a:p>
            <a:pPr marL="0" indent="0">
              <a:buNone/>
            </a:pPr>
            <a:r>
              <a:rPr lang="en-US" sz="1150" dirty="0">
                <a:solidFill>
                  <a:srgbClr val="4A1520"/>
                </a:solidFill>
                <a:latin typeface="Calibri" pitchFamily="34" charset="0"/>
                <a:ea typeface="Calibri" pitchFamily="34" charset="-122"/>
                <a:cs typeface="Calibri" pitchFamily="34" charset="-120"/>
              </a:rPr>
              <a:t>Microsoft Power BI Desktop for visualization, DAX for 20 calculated measures, Power Query for data modeling with a 3-table Star Schema.</a:t>
            </a:r>
            <a:endParaRPr lang="en-US" sz="1150" dirty="0"/>
          </a:p>
        </p:txBody>
      </p:sp>
      <p:sp>
        <p:nvSpPr>
          <p:cNvPr id="25" name="Shape 23"/>
          <p:cNvSpPr/>
          <p:nvPr/>
        </p:nvSpPr>
        <p:spPr>
          <a:xfrm>
            <a:off x="256032" y="3063240"/>
            <a:ext cx="8631936" cy="1536192"/>
          </a:xfrm>
          <a:prstGeom prst="rect">
            <a:avLst/>
          </a:prstGeom>
          <a:solidFill>
            <a:srgbClr val="FFFFFF"/>
          </a:solidFill>
          <a:ln/>
          <a:effectLst>
            <a:outerShdw blurRad="63500" dist="25400" dir="8100000" algn="bl" rotWithShape="0">
              <a:srgbClr val="000000">
                <a:alpha val="10000"/>
              </a:srgbClr>
            </a:outerShdw>
          </a:effectLst>
        </p:spPr>
      </p:sp>
      <p:sp>
        <p:nvSpPr>
          <p:cNvPr id="26" name="Shape 24"/>
          <p:cNvSpPr/>
          <p:nvPr/>
        </p:nvSpPr>
        <p:spPr>
          <a:xfrm>
            <a:off x="256032" y="3063240"/>
            <a:ext cx="54864" cy="1536192"/>
          </a:xfrm>
          <a:prstGeom prst="rect">
            <a:avLst/>
          </a:prstGeom>
          <a:solidFill>
            <a:srgbClr val="E23744"/>
          </a:solidFill>
          <a:ln/>
        </p:spPr>
      </p:sp>
      <p:sp>
        <p:nvSpPr>
          <p:cNvPr id="27" name="Shape 25"/>
          <p:cNvSpPr/>
          <p:nvPr/>
        </p:nvSpPr>
        <p:spPr>
          <a:xfrm>
            <a:off x="256032" y="3063240"/>
            <a:ext cx="8631936" cy="347472"/>
          </a:xfrm>
          <a:prstGeom prst="rect">
            <a:avLst/>
          </a:prstGeom>
          <a:solidFill>
            <a:srgbClr val="FFF5F6"/>
          </a:solidFill>
          <a:ln/>
        </p:spPr>
      </p:sp>
      <p:sp>
        <p:nvSpPr>
          <p:cNvPr id="28" name="Shape 26"/>
          <p:cNvSpPr/>
          <p:nvPr/>
        </p:nvSpPr>
        <p:spPr>
          <a:xfrm>
            <a:off x="256032" y="3063240"/>
            <a:ext cx="54864" cy="347472"/>
          </a:xfrm>
          <a:prstGeom prst="rect">
            <a:avLst/>
          </a:prstGeom>
          <a:solidFill>
            <a:srgbClr val="E23744"/>
          </a:solidFill>
          <a:ln/>
        </p:spPr>
      </p:sp>
      <p:sp>
        <p:nvSpPr>
          <p:cNvPr id="29" name="Text 27"/>
          <p:cNvSpPr/>
          <p:nvPr/>
        </p:nvSpPr>
        <p:spPr>
          <a:xfrm>
            <a:off x="384048" y="3090672"/>
            <a:ext cx="8412480" cy="274320"/>
          </a:xfrm>
          <a:prstGeom prst="rect">
            <a:avLst/>
          </a:prstGeom>
          <a:noFill/>
          <a:ln/>
        </p:spPr>
        <p:txBody>
          <a:bodyPr wrap="square" lIns="0" tIns="0" rIns="0" bIns="0" rtlCol="0" anchor="ctr"/>
          <a:lstStyle/>
          <a:p>
            <a:pPr marL="0" indent="0">
              <a:buNone/>
            </a:pPr>
            <a:r>
              <a:rPr lang="en-US" sz="1250" b="1" dirty="0">
                <a:solidFill>
                  <a:srgbClr val="E23744"/>
                </a:solidFill>
                <a:latin typeface="Calibri" pitchFamily="34" charset="0"/>
                <a:ea typeface="Calibri" pitchFamily="34" charset="-122"/>
                <a:cs typeface="Calibri" pitchFamily="34" charset="-120"/>
              </a:rPr>
              <a:t>Dashboard Pages</a:t>
            </a:r>
            <a:endParaRPr lang="en-US" sz="1250" dirty="0"/>
          </a:p>
        </p:txBody>
      </p:sp>
      <p:sp>
        <p:nvSpPr>
          <p:cNvPr id="30" name="Text 28"/>
          <p:cNvSpPr/>
          <p:nvPr/>
        </p:nvSpPr>
        <p:spPr>
          <a:xfrm>
            <a:off x="384048" y="3493008"/>
            <a:ext cx="8430768" cy="1024128"/>
          </a:xfrm>
          <a:prstGeom prst="rect">
            <a:avLst/>
          </a:prstGeom>
          <a:noFill/>
          <a:ln/>
        </p:spPr>
        <p:txBody>
          <a:bodyPr wrap="square" lIns="0" tIns="0" rIns="0" bIns="0" rtlCol="0" anchor="t"/>
          <a:lstStyle/>
          <a:p>
            <a:pPr marL="0" indent="0">
              <a:buNone/>
            </a:pPr>
            <a:r>
              <a:rPr lang="en-US" sz="1150" b="1" dirty="0">
                <a:solidFill>
                  <a:srgbClr val="2C0A0E"/>
                </a:solidFill>
                <a:latin typeface="Calibri" pitchFamily="34" charset="0"/>
                <a:ea typeface="Calibri" pitchFamily="34" charset="-122"/>
                <a:cs typeface="Calibri" pitchFamily="34" charset="-120"/>
              </a:rPr>
              <a:t>Page 1 — Restaurant Performance &amp; Customer Rating Analysis  </a:t>
            </a:r>
            <a:r>
              <a:rPr lang="en-US" sz="1150" dirty="0">
                <a:solidFill>
                  <a:srgbClr val="4A1520"/>
                </a:solidFill>
                <a:latin typeface="Calibri" pitchFamily="34" charset="0"/>
                <a:ea typeface="Calibri" pitchFamily="34" charset="-122"/>
                <a:cs typeface="Calibri" pitchFamily="34" charset="-120"/>
              </a:rPr>
              <a:t>Main dashboard: 6 KPI cards, 8 interactive charts, 4 slicers — cuisines, rating distribution, delivery impact, price analysis, world map.
</a:t>
            </a:r>
            <a:r>
              <a:rPr lang="en-US" sz="1150" b="1" dirty="0">
                <a:solidFill>
                  <a:srgbClr val="2C0A0E"/>
                </a:solidFill>
                <a:latin typeface="Calibri" pitchFamily="34" charset="0"/>
                <a:ea typeface="Calibri" pitchFamily="34" charset="-122"/>
                <a:cs typeface="Calibri" pitchFamily="34" charset="-120"/>
              </a:rPr>
              <a:t>Page 2 — Performance Deep Dive Analysis  </a:t>
            </a:r>
            <a:r>
              <a:rPr lang="en-US" sz="1150" dirty="0">
                <a:solidFill>
                  <a:srgbClr val="4A1520"/>
                </a:solidFill>
                <a:latin typeface="Calibri" pitchFamily="34" charset="0"/>
                <a:ea typeface="Calibri" pitchFamily="34" charset="-122"/>
                <a:cs typeface="Calibri" pitchFamily="34" charset="-120"/>
              </a:rPr>
              <a:t>Continent-level: avg rating, avg cost, price distribution, rating completion by country, restaurant share.</a:t>
            </a:r>
            <a:endParaRPr lang="en-US" sz="1150" dirty="0"/>
          </a:p>
        </p:txBody>
      </p:sp>
      <p:sp>
        <p:nvSpPr>
          <p:cNvPr id="31" name="Shape 29"/>
          <p:cNvSpPr/>
          <p:nvPr/>
        </p:nvSpPr>
        <p:spPr>
          <a:xfrm>
            <a:off x="0" y="4832604"/>
            <a:ext cx="9144000" cy="310896"/>
          </a:xfrm>
          <a:prstGeom prst="rect">
            <a:avLst/>
          </a:prstGeom>
          <a:solidFill>
            <a:srgbClr val="E23744"/>
          </a:solidFill>
          <a:ln/>
        </p:spPr>
      </p:sp>
      <p:sp>
        <p:nvSpPr>
          <p:cNvPr id="32" name="Text 30"/>
          <p:cNvSpPr/>
          <p:nvPr/>
        </p:nvSpPr>
        <p:spPr>
          <a:xfrm>
            <a:off x="274320" y="4832604"/>
            <a:ext cx="8595360" cy="310896"/>
          </a:xfrm>
          <a:prstGeom prst="rect">
            <a:avLst/>
          </a:prstGeom>
          <a:noFill/>
          <a:ln/>
        </p:spPr>
        <p:txBody>
          <a:bodyPr wrap="square" rtlCol="0" anchor="ctr"/>
          <a:lstStyle/>
          <a:p>
            <a:pPr marL="0" indent="0">
              <a:buNone/>
            </a:pP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23744"/>
          </a:solidFill>
          <a:ln/>
        </p:spPr>
      </p:sp>
      <p:sp>
        <p:nvSpPr>
          <p:cNvPr id="3" name="Shape 1"/>
          <p:cNvSpPr/>
          <p:nvPr/>
        </p:nvSpPr>
        <p:spPr>
          <a:xfrm>
            <a:off x="0" y="749808"/>
            <a:ext cx="9144000" cy="45720"/>
          </a:xfrm>
          <a:prstGeom prst="rect">
            <a:avLst/>
          </a:prstGeom>
          <a:solidFill>
            <a:srgbClr val="B8202E"/>
          </a:solidFill>
          <a:ln/>
        </p:spPr>
      </p:sp>
      <p:sp>
        <p:nvSpPr>
          <p:cNvPr id="4" name="Text 2"/>
          <p:cNvSpPr/>
          <p:nvPr/>
        </p:nvSpPr>
        <p:spPr>
          <a:xfrm>
            <a:off x="320040" y="0"/>
            <a:ext cx="8229600" cy="749808"/>
          </a:xfrm>
          <a:prstGeom prst="rect">
            <a:avLst/>
          </a:prstGeom>
          <a:noFill/>
          <a:ln/>
        </p:spPr>
        <p:txBody>
          <a:bodyPr wrap="square"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DATASET OVERVIEW &amp; EXPLORATORY DATA ANALYSIS</a:t>
            </a:r>
            <a:endParaRPr lang="en-US" sz="2300" dirty="0"/>
          </a:p>
        </p:txBody>
      </p:sp>
      <p:sp>
        <p:nvSpPr>
          <p:cNvPr id="5" name="Shape 3"/>
          <p:cNvSpPr/>
          <p:nvPr/>
        </p:nvSpPr>
        <p:spPr>
          <a:xfrm>
            <a:off x="8705088" y="109728"/>
            <a:ext cx="347472" cy="347472"/>
          </a:xfrm>
          <a:prstGeom prst="ellipse">
            <a:avLst/>
          </a:prstGeom>
          <a:solidFill>
            <a:srgbClr val="B8202E"/>
          </a:solidFill>
          <a:ln/>
        </p:spPr>
      </p:sp>
      <p:sp>
        <p:nvSpPr>
          <p:cNvPr id="6" name="Text 4"/>
          <p:cNvSpPr/>
          <p:nvPr/>
        </p:nvSpPr>
        <p:spPr>
          <a:xfrm>
            <a:off x="8705088" y="1097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7" name="Shape 5"/>
          <p:cNvSpPr/>
          <p:nvPr/>
        </p:nvSpPr>
        <p:spPr>
          <a:xfrm>
            <a:off x="256032" y="960120"/>
            <a:ext cx="4114800" cy="3886200"/>
          </a:xfrm>
          <a:prstGeom prst="rect">
            <a:avLst/>
          </a:prstGeom>
          <a:solidFill>
            <a:srgbClr val="FFFFFF"/>
          </a:solidFill>
          <a:ln/>
          <a:effectLst>
            <a:outerShdw blurRad="63500" dist="25400" dir="8100000" algn="bl" rotWithShape="0">
              <a:srgbClr val="000000">
                <a:alpha val="10000"/>
              </a:srgbClr>
            </a:outerShdw>
          </a:effectLst>
        </p:spPr>
      </p:sp>
      <p:sp>
        <p:nvSpPr>
          <p:cNvPr id="8" name="Shape 6"/>
          <p:cNvSpPr/>
          <p:nvPr/>
        </p:nvSpPr>
        <p:spPr>
          <a:xfrm>
            <a:off x="256032" y="960120"/>
            <a:ext cx="4114800" cy="365760"/>
          </a:xfrm>
          <a:prstGeom prst="rect">
            <a:avLst/>
          </a:prstGeom>
          <a:solidFill>
            <a:srgbClr val="E23744"/>
          </a:solidFill>
          <a:ln/>
        </p:spPr>
      </p:sp>
      <p:sp>
        <p:nvSpPr>
          <p:cNvPr id="9" name="Shape 7"/>
          <p:cNvSpPr/>
          <p:nvPr/>
        </p:nvSpPr>
        <p:spPr>
          <a:xfrm>
            <a:off x="256032" y="960120"/>
            <a:ext cx="54864" cy="3886200"/>
          </a:xfrm>
          <a:prstGeom prst="rect">
            <a:avLst/>
          </a:prstGeom>
          <a:solidFill>
            <a:srgbClr val="E23744"/>
          </a:solidFill>
          <a:ln/>
        </p:spPr>
      </p:sp>
      <p:sp>
        <p:nvSpPr>
          <p:cNvPr id="10" name="Text 8"/>
          <p:cNvSpPr/>
          <p:nvPr/>
        </p:nvSpPr>
        <p:spPr>
          <a:xfrm>
            <a:off x="384048" y="960120"/>
            <a:ext cx="3886200" cy="365760"/>
          </a:xfrm>
          <a:prstGeom prst="rect">
            <a:avLst/>
          </a:prstGeom>
          <a:noFill/>
          <a:ln/>
        </p:spPr>
        <p:txBody>
          <a:bodyPr wrap="square" lIns="0" tIns="0" rIns="0" bIns="0" rtlCol="0" anchor="ctr"/>
          <a:lstStyle/>
          <a:p>
            <a:pPr marL="0" indent="0">
              <a:buNone/>
            </a:pPr>
            <a:r>
              <a:rPr lang="en-US" sz="1250" b="1" dirty="0">
                <a:solidFill>
                  <a:srgbClr val="FFFFFF"/>
                </a:solidFill>
              </a:rPr>
              <a:t>📂  Dataset Facts</a:t>
            </a:r>
            <a:endParaRPr lang="en-US" sz="1250" dirty="0"/>
          </a:p>
        </p:txBody>
      </p:sp>
      <p:sp>
        <p:nvSpPr>
          <p:cNvPr id="11" name="Shape 9"/>
          <p:cNvSpPr/>
          <p:nvPr/>
        </p:nvSpPr>
        <p:spPr>
          <a:xfrm>
            <a:off x="310896" y="1417320"/>
            <a:ext cx="4005072" cy="310896"/>
          </a:xfrm>
          <a:prstGeom prst="rect">
            <a:avLst/>
          </a:prstGeom>
          <a:solidFill>
            <a:srgbClr val="FFFFFF"/>
          </a:solidFill>
          <a:ln/>
        </p:spPr>
      </p:sp>
      <p:sp>
        <p:nvSpPr>
          <p:cNvPr id="12" name="Text 10"/>
          <p:cNvSpPr/>
          <p:nvPr/>
        </p:nvSpPr>
        <p:spPr>
          <a:xfrm>
            <a:off x="384048" y="1453896"/>
            <a:ext cx="1554480" cy="228600"/>
          </a:xfrm>
          <a:prstGeom prst="rect">
            <a:avLst/>
          </a:prstGeom>
          <a:noFill/>
          <a:ln/>
        </p:spPr>
        <p:txBody>
          <a:bodyPr wrap="square" lIns="0" tIns="0" rIns="0" bIns="0" rtlCol="0" anchor="ctr"/>
          <a:lstStyle/>
          <a:p>
            <a:pPr marL="0" indent="0">
              <a:buNone/>
            </a:pPr>
            <a:r>
              <a:rPr lang="en-US" sz="1050" b="1" dirty="0">
                <a:solidFill>
                  <a:srgbClr val="9A4A52"/>
                </a:solidFill>
                <a:latin typeface="Calibri" pitchFamily="34" charset="0"/>
                <a:ea typeface="Calibri" pitchFamily="34" charset="-122"/>
                <a:cs typeface="Calibri" pitchFamily="34" charset="-120"/>
              </a:rPr>
              <a:t>Source</a:t>
            </a:r>
            <a:endParaRPr lang="en-US" sz="1050" dirty="0"/>
          </a:p>
        </p:txBody>
      </p:sp>
      <p:sp>
        <p:nvSpPr>
          <p:cNvPr id="13" name="Text 11"/>
          <p:cNvSpPr/>
          <p:nvPr/>
        </p:nvSpPr>
        <p:spPr>
          <a:xfrm>
            <a:off x="2011680" y="1453896"/>
            <a:ext cx="2286000" cy="228600"/>
          </a:xfrm>
          <a:prstGeom prst="rect">
            <a:avLst/>
          </a:prstGeom>
          <a:noFill/>
          <a:ln/>
        </p:spPr>
        <p:txBody>
          <a:bodyPr wrap="square" lIns="0" tIns="0" rIns="0" bIns="0" rtlCol="0" anchor="ctr"/>
          <a:lstStyle/>
          <a:p>
            <a:pPr marL="0" indent="0">
              <a:buNone/>
            </a:pPr>
            <a:r>
              <a:rPr lang="en-US" sz="1050" b="1" dirty="0">
                <a:solidFill>
                  <a:srgbClr val="2C0A0E"/>
                </a:solidFill>
                <a:latin typeface="Calibri" pitchFamily="34" charset="0"/>
                <a:ea typeface="Calibri" pitchFamily="34" charset="-122"/>
                <a:cs typeface="Calibri" pitchFamily="34" charset="-120"/>
              </a:rPr>
              <a:t>Zomato Public Dataset</a:t>
            </a:r>
            <a:endParaRPr lang="en-US" sz="1050" dirty="0"/>
          </a:p>
        </p:txBody>
      </p:sp>
      <p:sp>
        <p:nvSpPr>
          <p:cNvPr id="14" name="Shape 12"/>
          <p:cNvSpPr/>
          <p:nvPr/>
        </p:nvSpPr>
        <p:spPr>
          <a:xfrm>
            <a:off x="310896" y="1755648"/>
            <a:ext cx="4005072" cy="310896"/>
          </a:xfrm>
          <a:prstGeom prst="rect">
            <a:avLst/>
          </a:prstGeom>
          <a:solidFill>
            <a:srgbClr val="FDEAEC"/>
          </a:solidFill>
          <a:ln/>
        </p:spPr>
      </p:sp>
      <p:sp>
        <p:nvSpPr>
          <p:cNvPr id="15" name="Text 13"/>
          <p:cNvSpPr/>
          <p:nvPr/>
        </p:nvSpPr>
        <p:spPr>
          <a:xfrm>
            <a:off x="384048" y="1792224"/>
            <a:ext cx="1554480" cy="228600"/>
          </a:xfrm>
          <a:prstGeom prst="rect">
            <a:avLst/>
          </a:prstGeom>
          <a:noFill/>
          <a:ln/>
        </p:spPr>
        <p:txBody>
          <a:bodyPr wrap="square" lIns="0" tIns="0" rIns="0" bIns="0" rtlCol="0" anchor="ctr"/>
          <a:lstStyle/>
          <a:p>
            <a:pPr marL="0" indent="0">
              <a:buNone/>
            </a:pPr>
            <a:r>
              <a:rPr lang="en-US" sz="1050" b="1" dirty="0">
                <a:solidFill>
                  <a:srgbClr val="9A4A52"/>
                </a:solidFill>
                <a:latin typeface="Calibri" pitchFamily="34" charset="0"/>
                <a:ea typeface="Calibri" pitchFamily="34" charset="-122"/>
                <a:cs typeface="Calibri" pitchFamily="34" charset="-120"/>
              </a:rPr>
              <a:t>File Format</a:t>
            </a:r>
            <a:endParaRPr lang="en-US" sz="1050" dirty="0"/>
          </a:p>
        </p:txBody>
      </p:sp>
      <p:sp>
        <p:nvSpPr>
          <p:cNvPr id="16" name="Text 14"/>
          <p:cNvSpPr/>
          <p:nvPr/>
        </p:nvSpPr>
        <p:spPr>
          <a:xfrm>
            <a:off x="2011680" y="1792224"/>
            <a:ext cx="2286000" cy="228600"/>
          </a:xfrm>
          <a:prstGeom prst="rect">
            <a:avLst/>
          </a:prstGeom>
          <a:noFill/>
          <a:ln/>
        </p:spPr>
        <p:txBody>
          <a:bodyPr wrap="square" lIns="0" tIns="0" rIns="0" bIns="0" rtlCol="0" anchor="ctr"/>
          <a:lstStyle/>
          <a:p>
            <a:pPr marL="0" indent="0">
              <a:buNone/>
            </a:pPr>
            <a:r>
              <a:rPr lang="en-US" sz="1050" b="1" dirty="0">
                <a:solidFill>
                  <a:srgbClr val="2C0A0E"/>
                </a:solidFill>
                <a:latin typeface="Calibri" pitchFamily="34" charset="0"/>
                <a:ea typeface="Calibri" pitchFamily="34" charset="-122"/>
                <a:cs typeface="Calibri" pitchFamily="34" charset="-120"/>
              </a:rPr>
              <a:t>Single CSV File</a:t>
            </a:r>
            <a:endParaRPr lang="en-US" sz="1050" dirty="0"/>
          </a:p>
        </p:txBody>
      </p:sp>
      <p:sp>
        <p:nvSpPr>
          <p:cNvPr id="17" name="Shape 15"/>
          <p:cNvSpPr/>
          <p:nvPr/>
        </p:nvSpPr>
        <p:spPr>
          <a:xfrm>
            <a:off x="310896" y="2093976"/>
            <a:ext cx="4005072" cy="310896"/>
          </a:xfrm>
          <a:prstGeom prst="rect">
            <a:avLst/>
          </a:prstGeom>
          <a:solidFill>
            <a:srgbClr val="FFFFFF"/>
          </a:solidFill>
          <a:ln/>
        </p:spPr>
      </p:sp>
      <p:sp>
        <p:nvSpPr>
          <p:cNvPr id="18" name="Text 16"/>
          <p:cNvSpPr/>
          <p:nvPr/>
        </p:nvSpPr>
        <p:spPr>
          <a:xfrm>
            <a:off x="384048" y="2130552"/>
            <a:ext cx="1554480" cy="228600"/>
          </a:xfrm>
          <a:prstGeom prst="rect">
            <a:avLst/>
          </a:prstGeom>
          <a:noFill/>
          <a:ln/>
        </p:spPr>
        <p:txBody>
          <a:bodyPr wrap="square" lIns="0" tIns="0" rIns="0" bIns="0" rtlCol="0" anchor="ctr"/>
          <a:lstStyle/>
          <a:p>
            <a:pPr marL="0" indent="0">
              <a:buNone/>
            </a:pPr>
            <a:r>
              <a:rPr lang="en-US" sz="1050" b="1" dirty="0">
                <a:solidFill>
                  <a:srgbClr val="9A4A52"/>
                </a:solidFill>
                <a:latin typeface="Calibri" pitchFamily="34" charset="0"/>
                <a:ea typeface="Calibri" pitchFamily="34" charset="-122"/>
                <a:cs typeface="Calibri" pitchFamily="34" charset="-120"/>
              </a:rPr>
              <a:t>Total Rows</a:t>
            </a:r>
            <a:endParaRPr lang="en-US" sz="1050" dirty="0"/>
          </a:p>
        </p:txBody>
      </p:sp>
      <p:sp>
        <p:nvSpPr>
          <p:cNvPr id="19" name="Text 17"/>
          <p:cNvSpPr/>
          <p:nvPr/>
        </p:nvSpPr>
        <p:spPr>
          <a:xfrm>
            <a:off x="2011680" y="2130552"/>
            <a:ext cx="2286000" cy="228600"/>
          </a:xfrm>
          <a:prstGeom prst="rect">
            <a:avLst/>
          </a:prstGeom>
          <a:noFill/>
          <a:ln/>
        </p:spPr>
        <p:txBody>
          <a:bodyPr wrap="square" lIns="0" tIns="0" rIns="0" bIns="0" rtlCol="0" anchor="ctr"/>
          <a:lstStyle/>
          <a:p>
            <a:pPr marL="0" indent="0">
              <a:buNone/>
            </a:pPr>
            <a:r>
              <a:rPr lang="en-US" sz="1050" b="1" dirty="0">
                <a:solidFill>
                  <a:srgbClr val="2C0A0E"/>
                </a:solidFill>
                <a:latin typeface="Calibri" pitchFamily="34" charset="0"/>
                <a:ea typeface="Calibri" pitchFamily="34" charset="-122"/>
                <a:cs typeface="Calibri" pitchFamily="34" charset="-120"/>
              </a:rPr>
              <a:t>9,551 Restaurants</a:t>
            </a:r>
            <a:endParaRPr lang="en-US" sz="1050" dirty="0"/>
          </a:p>
        </p:txBody>
      </p:sp>
      <p:sp>
        <p:nvSpPr>
          <p:cNvPr id="20" name="Shape 18"/>
          <p:cNvSpPr/>
          <p:nvPr/>
        </p:nvSpPr>
        <p:spPr>
          <a:xfrm>
            <a:off x="310896" y="2432304"/>
            <a:ext cx="4005072" cy="310896"/>
          </a:xfrm>
          <a:prstGeom prst="rect">
            <a:avLst/>
          </a:prstGeom>
          <a:solidFill>
            <a:srgbClr val="FDEAEC"/>
          </a:solidFill>
          <a:ln/>
        </p:spPr>
      </p:sp>
      <p:sp>
        <p:nvSpPr>
          <p:cNvPr id="21" name="Text 19"/>
          <p:cNvSpPr/>
          <p:nvPr/>
        </p:nvSpPr>
        <p:spPr>
          <a:xfrm>
            <a:off x="384048" y="2468880"/>
            <a:ext cx="1554480" cy="228600"/>
          </a:xfrm>
          <a:prstGeom prst="rect">
            <a:avLst/>
          </a:prstGeom>
          <a:noFill/>
          <a:ln/>
        </p:spPr>
        <p:txBody>
          <a:bodyPr wrap="square" lIns="0" tIns="0" rIns="0" bIns="0" rtlCol="0" anchor="ctr"/>
          <a:lstStyle/>
          <a:p>
            <a:pPr marL="0" indent="0">
              <a:buNone/>
            </a:pPr>
            <a:r>
              <a:rPr lang="en-US" sz="1050" b="1" dirty="0">
                <a:solidFill>
                  <a:srgbClr val="9A4A52"/>
                </a:solidFill>
                <a:latin typeface="Calibri" pitchFamily="34" charset="0"/>
                <a:ea typeface="Calibri" pitchFamily="34" charset="-122"/>
                <a:cs typeface="Calibri" pitchFamily="34" charset="-120"/>
              </a:rPr>
              <a:t>Total Columns</a:t>
            </a:r>
            <a:endParaRPr lang="en-US" sz="1050" dirty="0"/>
          </a:p>
        </p:txBody>
      </p:sp>
      <p:sp>
        <p:nvSpPr>
          <p:cNvPr id="22" name="Text 20"/>
          <p:cNvSpPr/>
          <p:nvPr/>
        </p:nvSpPr>
        <p:spPr>
          <a:xfrm>
            <a:off x="2011680" y="2468880"/>
            <a:ext cx="2286000" cy="228600"/>
          </a:xfrm>
          <a:prstGeom prst="rect">
            <a:avLst/>
          </a:prstGeom>
          <a:noFill/>
          <a:ln/>
        </p:spPr>
        <p:txBody>
          <a:bodyPr wrap="square" lIns="0" tIns="0" rIns="0" bIns="0" rtlCol="0" anchor="ctr"/>
          <a:lstStyle/>
          <a:p>
            <a:pPr marL="0" indent="0">
              <a:buNone/>
            </a:pPr>
            <a:r>
              <a:rPr lang="en-US" sz="1050" b="1" dirty="0">
                <a:solidFill>
                  <a:srgbClr val="2C0A0E"/>
                </a:solidFill>
                <a:latin typeface="Calibri" pitchFamily="34" charset="0"/>
                <a:ea typeface="Calibri" pitchFamily="34" charset="-122"/>
                <a:cs typeface="Calibri" pitchFamily="34" charset="-120"/>
              </a:rPr>
              <a:t>21 Columns</a:t>
            </a:r>
            <a:endParaRPr lang="en-US" sz="1050" dirty="0"/>
          </a:p>
        </p:txBody>
      </p:sp>
      <p:sp>
        <p:nvSpPr>
          <p:cNvPr id="23" name="Shape 21"/>
          <p:cNvSpPr/>
          <p:nvPr/>
        </p:nvSpPr>
        <p:spPr>
          <a:xfrm>
            <a:off x="310896" y="2770632"/>
            <a:ext cx="4005072" cy="310896"/>
          </a:xfrm>
          <a:prstGeom prst="rect">
            <a:avLst/>
          </a:prstGeom>
          <a:solidFill>
            <a:srgbClr val="FFFFFF"/>
          </a:solidFill>
          <a:ln/>
        </p:spPr>
      </p:sp>
      <p:sp>
        <p:nvSpPr>
          <p:cNvPr id="24" name="Text 22"/>
          <p:cNvSpPr/>
          <p:nvPr/>
        </p:nvSpPr>
        <p:spPr>
          <a:xfrm>
            <a:off x="384048" y="2807208"/>
            <a:ext cx="1554480" cy="228600"/>
          </a:xfrm>
          <a:prstGeom prst="rect">
            <a:avLst/>
          </a:prstGeom>
          <a:noFill/>
          <a:ln/>
        </p:spPr>
        <p:txBody>
          <a:bodyPr wrap="square" lIns="0" tIns="0" rIns="0" bIns="0" rtlCol="0" anchor="ctr"/>
          <a:lstStyle/>
          <a:p>
            <a:pPr marL="0" indent="0">
              <a:buNone/>
            </a:pPr>
            <a:r>
              <a:rPr lang="en-US" sz="1050" b="1" dirty="0">
                <a:solidFill>
                  <a:srgbClr val="9A4A52"/>
                </a:solidFill>
                <a:latin typeface="Calibri" pitchFamily="34" charset="0"/>
                <a:ea typeface="Calibri" pitchFamily="34" charset="-122"/>
                <a:cs typeface="Calibri" pitchFamily="34" charset="-120"/>
              </a:rPr>
              <a:t>Countries</a:t>
            </a:r>
            <a:endParaRPr lang="en-US" sz="1050" dirty="0"/>
          </a:p>
        </p:txBody>
      </p:sp>
      <p:sp>
        <p:nvSpPr>
          <p:cNvPr id="25" name="Text 23"/>
          <p:cNvSpPr/>
          <p:nvPr/>
        </p:nvSpPr>
        <p:spPr>
          <a:xfrm>
            <a:off x="2011680" y="2807208"/>
            <a:ext cx="2286000" cy="228600"/>
          </a:xfrm>
          <a:prstGeom prst="rect">
            <a:avLst/>
          </a:prstGeom>
          <a:noFill/>
          <a:ln/>
        </p:spPr>
        <p:txBody>
          <a:bodyPr wrap="square" lIns="0" tIns="0" rIns="0" bIns="0" rtlCol="0" anchor="ctr"/>
          <a:lstStyle/>
          <a:p>
            <a:pPr marL="0" indent="0">
              <a:buNone/>
            </a:pPr>
            <a:r>
              <a:rPr lang="en-US" sz="1050" b="1" dirty="0">
                <a:solidFill>
                  <a:srgbClr val="2C0A0E"/>
                </a:solidFill>
                <a:latin typeface="Calibri" pitchFamily="34" charset="0"/>
                <a:ea typeface="Calibri" pitchFamily="34" charset="-122"/>
                <a:cs typeface="Calibri" pitchFamily="34" charset="-120"/>
              </a:rPr>
              <a:t>15 Countries</a:t>
            </a:r>
            <a:endParaRPr lang="en-US" sz="1050" dirty="0"/>
          </a:p>
        </p:txBody>
      </p:sp>
      <p:sp>
        <p:nvSpPr>
          <p:cNvPr id="26" name="Shape 24"/>
          <p:cNvSpPr/>
          <p:nvPr/>
        </p:nvSpPr>
        <p:spPr>
          <a:xfrm>
            <a:off x="310896" y="3108960"/>
            <a:ext cx="4005072" cy="310896"/>
          </a:xfrm>
          <a:prstGeom prst="rect">
            <a:avLst/>
          </a:prstGeom>
          <a:solidFill>
            <a:srgbClr val="FDEAEC"/>
          </a:solidFill>
          <a:ln/>
        </p:spPr>
      </p:sp>
      <p:sp>
        <p:nvSpPr>
          <p:cNvPr id="27" name="Text 25"/>
          <p:cNvSpPr/>
          <p:nvPr/>
        </p:nvSpPr>
        <p:spPr>
          <a:xfrm>
            <a:off x="384048" y="3145536"/>
            <a:ext cx="1554480" cy="228600"/>
          </a:xfrm>
          <a:prstGeom prst="rect">
            <a:avLst/>
          </a:prstGeom>
          <a:noFill/>
          <a:ln/>
        </p:spPr>
        <p:txBody>
          <a:bodyPr wrap="square" lIns="0" tIns="0" rIns="0" bIns="0" rtlCol="0" anchor="ctr"/>
          <a:lstStyle/>
          <a:p>
            <a:pPr marL="0" indent="0">
              <a:buNone/>
            </a:pPr>
            <a:r>
              <a:rPr lang="en-US" sz="1050" b="1" dirty="0">
                <a:solidFill>
                  <a:srgbClr val="9A4A52"/>
                </a:solidFill>
                <a:latin typeface="Calibri" pitchFamily="34" charset="0"/>
                <a:ea typeface="Calibri" pitchFamily="34" charset="-122"/>
                <a:cs typeface="Calibri" pitchFamily="34" charset="-120"/>
              </a:rPr>
              <a:t>Continents</a:t>
            </a:r>
            <a:endParaRPr lang="en-US" sz="1050" dirty="0"/>
          </a:p>
        </p:txBody>
      </p:sp>
      <p:sp>
        <p:nvSpPr>
          <p:cNvPr id="28" name="Text 26"/>
          <p:cNvSpPr/>
          <p:nvPr/>
        </p:nvSpPr>
        <p:spPr>
          <a:xfrm>
            <a:off x="2011680" y="3145536"/>
            <a:ext cx="2286000" cy="228600"/>
          </a:xfrm>
          <a:prstGeom prst="rect">
            <a:avLst/>
          </a:prstGeom>
          <a:noFill/>
          <a:ln/>
        </p:spPr>
        <p:txBody>
          <a:bodyPr wrap="square" lIns="0" tIns="0" rIns="0" bIns="0" rtlCol="0" anchor="ctr"/>
          <a:lstStyle/>
          <a:p>
            <a:pPr marL="0" indent="0">
              <a:buNone/>
            </a:pPr>
            <a:r>
              <a:rPr lang="en-US" sz="1050" b="1" dirty="0">
                <a:solidFill>
                  <a:srgbClr val="2C0A0E"/>
                </a:solidFill>
                <a:latin typeface="Calibri" pitchFamily="34" charset="0"/>
                <a:ea typeface="Calibri" pitchFamily="34" charset="-122"/>
                <a:cs typeface="Calibri" pitchFamily="34" charset="-120"/>
              </a:rPr>
              <a:t>6 Continents</a:t>
            </a:r>
            <a:endParaRPr lang="en-US" sz="1050" dirty="0"/>
          </a:p>
        </p:txBody>
      </p:sp>
      <p:sp>
        <p:nvSpPr>
          <p:cNvPr id="29" name="Shape 27"/>
          <p:cNvSpPr/>
          <p:nvPr/>
        </p:nvSpPr>
        <p:spPr>
          <a:xfrm>
            <a:off x="310896" y="3447288"/>
            <a:ext cx="4005072" cy="310896"/>
          </a:xfrm>
          <a:prstGeom prst="rect">
            <a:avLst/>
          </a:prstGeom>
          <a:solidFill>
            <a:srgbClr val="FFFFFF"/>
          </a:solidFill>
          <a:ln/>
        </p:spPr>
      </p:sp>
      <p:sp>
        <p:nvSpPr>
          <p:cNvPr id="30" name="Text 28"/>
          <p:cNvSpPr/>
          <p:nvPr/>
        </p:nvSpPr>
        <p:spPr>
          <a:xfrm>
            <a:off x="384048" y="3483864"/>
            <a:ext cx="1554480" cy="228600"/>
          </a:xfrm>
          <a:prstGeom prst="rect">
            <a:avLst/>
          </a:prstGeom>
          <a:noFill/>
          <a:ln/>
        </p:spPr>
        <p:txBody>
          <a:bodyPr wrap="square" lIns="0" tIns="0" rIns="0" bIns="0" rtlCol="0" anchor="ctr"/>
          <a:lstStyle/>
          <a:p>
            <a:pPr marL="0" indent="0">
              <a:buNone/>
            </a:pPr>
            <a:r>
              <a:rPr lang="en-US" sz="1050" b="1" dirty="0">
                <a:solidFill>
                  <a:srgbClr val="9A4A52"/>
                </a:solidFill>
                <a:latin typeface="Calibri" pitchFamily="34" charset="0"/>
                <a:ea typeface="Calibri" pitchFamily="34" charset="-122"/>
                <a:cs typeface="Calibri" pitchFamily="34" charset="-120"/>
              </a:rPr>
              <a:t>Rating Range</a:t>
            </a:r>
            <a:endParaRPr lang="en-US" sz="1050" dirty="0"/>
          </a:p>
        </p:txBody>
      </p:sp>
      <p:sp>
        <p:nvSpPr>
          <p:cNvPr id="31" name="Text 29"/>
          <p:cNvSpPr/>
          <p:nvPr/>
        </p:nvSpPr>
        <p:spPr>
          <a:xfrm>
            <a:off x="2011680" y="3483864"/>
            <a:ext cx="2286000" cy="228600"/>
          </a:xfrm>
          <a:prstGeom prst="rect">
            <a:avLst/>
          </a:prstGeom>
          <a:noFill/>
          <a:ln/>
        </p:spPr>
        <p:txBody>
          <a:bodyPr wrap="square" lIns="0" tIns="0" rIns="0" bIns="0" rtlCol="0" anchor="ctr"/>
          <a:lstStyle/>
          <a:p>
            <a:pPr marL="0" indent="0">
              <a:buNone/>
            </a:pPr>
            <a:r>
              <a:rPr lang="en-US" sz="1050" b="1" dirty="0">
                <a:solidFill>
                  <a:srgbClr val="2C0A0E"/>
                </a:solidFill>
                <a:latin typeface="Calibri" pitchFamily="34" charset="0"/>
                <a:ea typeface="Calibri" pitchFamily="34" charset="-122"/>
                <a:cs typeface="Calibri" pitchFamily="34" charset="-120"/>
              </a:rPr>
              <a:t>0.0 to 5.0 Stars</a:t>
            </a:r>
            <a:endParaRPr lang="en-US" sz="1050" dirty="0"/>
          </a:p>
        </p:txBody>
      </p:sp>
      <p:sp>
        <p:nvSpPr>
          <p:cNvPr id="32" name="Shape 30"/>
          <p:cNvSpPr/>
          <p:nvPr/>
        </p:nvSpPr>
        <p:spPr>
          <a:xfrm>
            <a:off x="310896" y="3785616"/>
            <a:ext cx="4005072" cy="310896"/>
          </a:xfrm>
          <a:prstGeom prst="rect">
            <a:avLst/>
          </a:prstGeom>
          <a:solidFill>
            <a:srgbClr val="FDEAEC"/>
          </a:solidFill>
          <a:ln/>
        </p:spPr>
      </p:sp>
      <p:sp>
        <p:nvSpPr>
          <p:cNvPr id="33" name="Text 31"/>
          <p:cNvSpPr/>
          <p:nvPr/>
        </p:nvSpPr>
        <p:spPr>
          <a:xfrm>
            <a:off x="384048" y="3822192"/>
            <a:ext cx="1554480" cy="228600"/>
          </a:xfrm>
          <a:prstGeom prst="rect">
            <a:avLst/>
          </a:prstGeom>
          <a:noFill/>
          <a:ln/>
        </p:spPr>
        <p:txBody>
          <a:bodyPr wrap="square" lIns="0" tIns="0" rIns="0" bIns="0" rtlCol="0" anchor="ctr"/>
          <a:lstStyle/>
          <a:p>
            <a:pPr marL="0" indent="0">
              <a:buNone/>
            </a:pPr>
            <a:r>
              <a:rPr lang="en-US" sz="1050" b="1" dirty="0">
                <a:solidFill>
                  <a:srgbClr val="9A4A52"/>
                </a:solidFill>
                <a:latin typeface="Calibri" pitchFamily="34" charset="0"/>
                <a:ea typeface="Calibri" pitchFamily="34" charset="-122"/>
                <a:cs typeface="Calibri" pitchFamily="34" charset="-120"/>
              </a:rPr>
              <a:t>Cost Range</a:t>
            </a:r>
            <a:endParaRPr lang="en-US" sz="1050" dirty="0"/>
          </a:p>
        </p:txBody>
      </p:sp>
      <p:sp>
        <p:nvSpPr>
          <p:cNvPr id="34" name="Text 32"/>
          <p:cNvSpPr/>
          <p:nvPr/>
        </p:nvSpPr>
        <p:spPr>
          <a:xfrm>
            <a:off x="2011680" y="3822192"/>
            <a:ext cx="2286000" cy="228600"/>
          </a:xfrm>
          <a:prstGeom prst="rect">
            <a:avLst/>
          </a:prstGeom>
          <a:noFill/>
          <a:ln/>
        </p:spPr>
        <p:txBody>
          <a:bodyPr wrap="square" lIns="0" tIns="0" rIns="0" bIns="0" rtlCol="0" anchor="ctr"/>
          <a:lstStyle/>
          <a:p>
            <a:pPr marL="0" indent="0">
              <a:buNone/>
            </a:pPr>
            <a:r>
              <a:rPr lang="en-US" sz="1050" b="1" dirty="0">
                <a:solidFill>
                  <a:srgbClr val="2C0A0E"/>
                </a:solidFill>
                <a:latin typeface="Calibri" pitchFamily="34" charset="0"/>
                <a:ea typeface="Calibri" pitchFamily="34" charset="-122"/>
                <a:cs typeface="Calibri" pitchFamily="34" charset="-120"/>
              </a:rPr>
              <a:t>₹0 to ₹8,00,000 (outlier)</a:t>
            </a:r>
            <a:endParaRPr lang="en-US" sz="1050" dirty="0"/>
          </a:p>
        </p:txBody>
      </p:sp>
      <p:sp>
        <p:nvSpPr>
          <p:cNvPr id="35" name="Shape 33"/>
          <p:cNvSpPr/>
          <p:nvPr/>
        </p:nvSpPr>
        <p:spPr>
          <a:xfrm>
            <a:off x="310896" y="4123944"/>
            <a:ext cx="4005072" cy="310896"/>
          </a:xfrm>
          <a:prstGeom prst="rect">
            <a:avLst/>
          </a:prstGeom>
          <a:solidFill>
            <a:srgbClr val="FFFFFF"/>
          </a:solidFill>
          <a:ln/>
        </p:spPr>
      </p:sp>
      <p:sp>
        <p:nvSpPr>
          <p:cNvPr id="36" name="Text 34"/>
          <p:cNvSpPr/>
          <p:nvPr/>
        </p:nvSpPr>
        <p:spPr>
          <a:xfrm>
            <a:off x="384048" y="4160520"/>
            <a:ext cx="1554480" cy="228600"/>
          </a:xfrm>
          <a:prstGeom prst="rect">
            <a:avLst/>
          </a:prstGeom>
          <a:noFill/>
          <a:ln/>
        </p:spPr>
        <p:txBody>
          <a:bodyPr wrap="square" lIns="0" tIns="0" rIns="0" bIns="0" rtlCol="0" anchor="ctr"/>
          <a:lstStyle/>
          <a:p>
            <a:pPr marL="0" indent="0">
              <a:buNone/>
            </a:pPr>
            <a:r>
              <a:rPr lang="en-US" sz="1050" b="1" dirty="0">
                <a:solidFill>
                  <a:srgbClr val="9A4A52"/>
                </a:solidFill>
                <a:latin typeface="Calibri" pitchFamily="34" charset="0"/>
                <a:ea typeface="Calibri" pitchFamily="34" charset="-122"/>
                <a:cs typeface="Calibri" pitchFamily="34" charset="-120"/>
              </a:rPr>
              <a:t>Cuisine Types</a:t>
            </a:r>
            <a:endParaRPr lang="en-US" sz="1050" dirty="0"/>
          </a:p>
        </p:txBody>
      </p:sp>
      <p:sp>
        <p:nvSpPr>
          <p:cNvPr id="37" name="Text 35"/>
          <p:cNvSpPr/>
          <p:nvPr/>
        </p:nvSpPr>
        <p:spPr>
          <a:xfrm>
            <a:off x="2011680" y="4160520"/>
            <a:ext cx="2286000" cy="228600"/>
          </a:xfrm>
          <a:prstGeom prst="rect">
            <a:avLst/>
          </a:prstGeom>
          <a:noFill/>
          <a:ln/>
        </p:spPr>
        <p:txBody>
          <a:bodyPr wrap="square" lIns="0" tIns="0" rIns="0" bIns="0" rtlCol="0" anchor="ctr"/>
          <a:lstStyle/>
          <a:p>
            <a:pPr marL="0" indent="0">
              <a:buNone/>
            </a:pPr>
            <a:r>
              <a:rPr lang="en-US" sz="1050" b="1" dirty="0">
                <a:solidFill>
                  <a:srgbClr val="2C0A0E"/>
                </a:solidFill>
                <a:latin typeface="Calibri" pitchFamily="34" charset="0"/>
                <a:ea typeface="Calibri" pitchFamily="34" charset="-122"/>
                <a:cs typeface="Calibri" pitchFamily="34" charset="-120"/>
              </a:rPr>
              <a:t>1,500+ unique combinations</a:t>
            </a:r>
            <a:endParaRPr lang="en-US" sz="1050" dirty="0"/>
          </a:p>
        </p:txBody>
      </p:sp>
      <p:sp>
        <p:nvSpPr>
          <p:cNvPr id="38" name="Shape 36"/>
          <p:cNvSpPr/>
          <p:nvPr/>
        </p:nvSpPr>
        <p:spPr>
          <a:xfrm>
            <a:off x="4590288" y="960120"/>
            <a:ext cx="4297680" cy="3886200"/>
          </a:xfrm>
          <a:prstGeom prst="rect">
            <a:avLst/>
          </a:prstGeom>
          <a:solidFill>
            <a:srgbClr val="FFFFFF"/>
          </a:solidFill>
          <a:ln/>
          <a:effectLst>
            <a:outerShdw blurRad="63500" dist="25400" dir="8100000" algn="bl" rotWithShape="0">
              <a:srgbClr val="000000">
                <a:alpha val="10000"/>
              </a:srgbClr>
            </a:outerShdw>
          </a:effectLst>
        </p:spPr>
      </p:sp>
      <p:sp>
        <p:nvSpPr>
          <p:cNvPr id="39" name="Shape 37"/>
          <p:cNvSpPr/>
          <p:nvPr/>
        </p:nvSpPr>
        <p:spPr>
          <a:xfrm>
            <a:off x="4590288" y="960120"/>
            <a:ext cx="4297680" cy="365760"/>
          </a:xfrm>
          <a:prstGeom prst="rect">
            <a:avLst/>
          </a:prstGeom>
          <a:solidFill>
            <a:srgbClr val="B8202E"/>
          </a:solidFill>
          <a:ln/>
        </p:spPr>
      </p:sp>
      <p:sp>
        <p:nvSpPr>
          <p:cNvPr id="40" name="Shape 38"/>
          <p:cNvSpPr/>
          <p:nvPr/>
        </p:nvSpPr>
        <p:spPr>
          <a:xfrm>
            <a:off x="4590288" y="960120"/>
            <a:ext cx="54864" cy="3886200"/>
          </a:xfrm>
          <a:prstGeom prst="rect">
            <a:avLst/>
          </a:prstGeom>
          <a:solidFill>
            <a:srgbClr val="B8202E"/>
          </a:solidFill>
          <a:ln/>
        </p:spPr>
      </p:sp>
      <p:sp>
        <p:nvSpPr>
          <p:cNvPr id="41" name="Text 39"/>
          <p:cNvSpPr/>
          <p:nvPr/>
        </p:nvSpPr>
        <p:spPr>
          <a:xfrm>
            <a:off x="4709160" y="960120"/>
            <a:ext cx="4069080" cy="365760"/>
          </a:xfrm>
          <a:prstGeom prst="rect">
            <a:avLst/>
          </a:prstGeom>
          <a:noFill/>
          <a:ln/>
        </p:spPr>
        <p:txBody>
          <a:bodyPr wrap="square" lIns="0" tIns="0" rIns="0" bIns="0" rtlCol="0" anchor="ctr"/>
          <a:lstStyle/>
          <a:p>
            <a:pPr marL="0" indent="0">
              <a:buNone/>
            </a:pPr>
            <a:r>
              <a:rPr lang="en-US" sz="1250" b="1" dirty="0">
                <a:solidFill>
                  <a:srgbClr val="FFFFFF"/>
                </a:solidFill>
              </a:rPr>
              <a:t>🔍  Key EDA Findings</a:t>
            </a:r>
            <a:endParaRPr lang="en-US" sz="1250" dirty="0"/>
          </a:p>
        </p:txBody>
      </p:sp>
      <p:sp>
        <p:nvSpPr>
          <p:cNvPr id="42" name="Shape 40"/>
          <p:cNvSpPr/>
          <p:nvPr/>
        </p:nvSpPr>
        <p:spPr>
          <a:xfrm>
            <a:off x="4645152" y="1417320"/>
            <a:ext cx="4187952" cy="310896"/>
          </a:xfrm>
          <a:prstGeom prst="rect">
            <a:avLst/>
          </a:prstGeom>
          <a:solidFill>
            <a:srgbClr val="FFFFFF"/>
          </a:solidFill>
          <a:ln/>
        </p:spPr>
      </p:sp>
      <p:sp>
        <p:nvSpPr>
          <p:cNvPr id="43" name="Text 41"/>
          <p:cNvSpPr/>
          <p:nvPr/>
        </p:nvSpPr>
        <p:spPr>
          <a:xfrm>
            <a:off x="4736592" y="1453896"/>
            <a:ext cx="4023360" cy="228600"/>
          </a:xfrm>
          <a:prstGeom prst="rect">
            <a:avLst/>
          </a:prstGeom>
          <a:noFill/>
          <a:ln/>
        </p:spPr>
        <p:txBody>
          <a:bodyPr wrap="square" lIns="0" tIns="0" rIns="0" bIns="0" rtlCol="0" anchor="ctr"/>
          <a:lstStyle/>
          <a:p>
            <a:pPr marL="0" indent="0">
              <a:buNone/>
            </a:pPr>
            <a:r>
              <a:rPr lang="en-US" sz="1000" dirty="0">
                <a:solidFill>
                  <a:srgbClr val="4A1520"/>
                </a:solidFill>
                <a:latin typeface="Calibri" pitchFamily="34" charset="0"/>
                <a:ea typeface="Calibri" pitchFamily="34" charset="-122"/>
                <a:cs typeface="Calibri" pitchFamily="34" charset="-120"/>
              </a:rPr>
              <a:t>🇮🇳  India has 8,652 restaurants = 90.6% of dataset</a:t>
            </a:r>
            <a:endParaRPr lang="en-US" sz="1000" dirty="0"/>
          </a:p>
        </p:txBody>
      </p:sp>
      <p:sp>
        <p:nvSpPr>
          <p:cNvPr id="44" name="Shape 42"/>
          <p:cNvSpPr/>
          <p:nvPr/>
        </p:nvSpPr>
        <p:spPr>
          <a:xfrm>
            <a:off x="4645152" y="1755648"/>
            <a:ext cx="4187952" cy="310896"/>
          </a:xfrm>
          <a:prstGeom prst="rect">
            <a:avLst/>
          </a:prstGeom>
          <a:solidFill>
            <a:srgbClr val="FDEAEC"/>
          </a:solidFill>
          <a:ln/>
        </p:spPr>
      </p:sp>
      <p:sp>
        <p:nvSpPr>
          <p:cNvPr id="45" name="Text 43"/>
          <p:cNvSpPr/>
          <p:nvPr/>
        </p:nvSpPr>
        <p:spPr>
          <a:xfrm>
            <a:off x="4736592" y="1792224"/>
            <a:ext cx="4023360" cy="228600"/>
          </a:xfrm>
          <a:prstGeom prst="rect">
            <a:avLst/>
          </a:prstGeom>
          <a:noFill/>
          <a:ln/>
        </p:spPr>
        <p:txBody>
          <a:bodyPr wrap="square" lIns="0" tIns="0" rIns="0" bIns="0" rtlCol="0" anchor="ctr"/>
          <a:lstStyle/>
          <a:p>
            <a:pPr marL="0" indent="0">
              <a:buNone/>
            </a:pPr>
            <a:r>
              <a:rPr lang="en-US" sz="1000" dirty="0">
                <a:solidFill>
                  <a:srgbClr val="4A1520"/>
                </a:solidFill>
                <a:latin typeface="Calibri" pitchFamily="34" charset="0"/>
                <a:ea typeface="Calibri" pitchFamily="34" charset="-122"/>
                <a:cs typeface="Calibri" pitchFamily="34" charset="-120"/>
              </a:rPr>
              <a:t>⭐  Average rating = 3.44 (after removing 0-rated entries)</a:t>
            </a:r>
            <a:endParaRPr lang="en-US" sz="1000" dirty="0"/>
          </a:p>
        </p:txBody>
      </p:sp>
      <p:sp>
        <p:nvSpPr>
          <p:cNvPr id="46" name="Shape 44"/>
          <p:cNvSpPr/>
          <p:nvPr/>
        </p:nvSpPr>
        <p:spPr>
          <a:xfrm>
            <a:off x="4645152" y="2093976"/>
            <a:ext cx="4187952" cy="310896"/>
          </a:xfrm>
          <a:prstGeom prst="rect">
            <a:avLst/>
          </a:prstGeom>
          <a:solidFill>
            <a:srgbClr val="FFFFFF"/>
          </a:solidFill>
          <a:ln/>
        </p:spPr>
      </p:sp>
      <p:sp>
        <p:nvSpPr>
          <p:cNvPr id="47" name="Text 45"/>
          <p:cNvSpPr/>
          <p:nvPr/>
        </p:nvSpPr>
        <p:spPr>
          <a:xfrm>
            <a:off x="4736592" y="2130552"/>
            <a:ext cx="4023360" cy="228600"/>
          </a:xfrm>
          <a:prstGeom prst="rect">
            <a:avLst/>
          </a:prstGeom>
          <a:noFill/>
          <a:ln/>
        </p:spPr>
        <p:txBody>
          <a:bodyPr wrap="square" lIns="0" tIns="0" rIns="0" bIns="0" rtlCol="0" anchor="ctr"/>
          <a:lstStyle/>
          <a:p>
            <a:pPr marL="0" indent="0">
              <a:buNone/>
            </a:pPr>
            <a:r>
              <a:rPr lang="en-US" sz="1000" dirty="0">
                <a:solidFill>
                  <a:srgbClr val="4A1520"/>
                </a:solidFill>
                <a:latin typeface="Calibri" pitchFamily="34" charset="0"/>
                <a:ea typeface="Calibri" pitchFamily="34" charset="-122"/>
                <a:cs typeface="Calibri" pitchFamily="34" charset="-120"/>
              </a:rPr>
              <a:t>🍽️  North Indian cuisine is most common with 936 restaurants</a:t>
            </a:r>
            <a:endParaRPr lang="en-US" sz="1000" dirty="0"/>
          </a:p>
        </p:txBody>
      </p:sp>
      <p:sp>
        <p:nvSpPr>
          <p:cNvPr id="48" name="Shape 46"/>
          <p:cNvSpPr/>
          <p:nvPr/>
        </p:nvSpPr>
        <p:spPr>
          <a:xfrm>
            <a:off x="4645152" y="2432304"/>
            <a:ext cx="4187952" cy="310896"/>
          </a:xfrm>
          <a:prstGeom prst="rect">
            <a:avLst/>
          </a:prstGeom>
          <a:solidFill>
            <a:srgbClr val="FDEAEC"/>
          </a:solidFill>
          <a:ln/>
        </p:spPr>
      </p:sp>
      <p:sp>
        <p:nvSpPr>
          <p:cNvPr id="49" name="Text 47"/>
          <p:cNvSpPr/>
          <p:nvPr/>
        </p:nvSpPr>
        <p:spPr>
          <a:xfrm>
            <a:off x="4736592" y="2468880"/>
            <a:ext cx="4023360" cy="228600"/>
          </a:xfrm>
          <a:prstGeom prst="rect">
            <a:avLst/>
          </a:prstGeom>
          <a:noFill/>
          <a:ln/>
        </p:spPr>
        <p:txBody>
          <a:bodyPr wrap="square" lIns="0" tIns="0" rIns="0" bIns="0" rtlCol="0" anchor="ctr"/>
          <a:lstStyle/>
          <a:p>
            <a:pPr marL="0" indent="0">
              <a:buNone/>
            </a:pPr>
            <a:r>
              <a:rPr lang="en-US" sz="1000" dirty="0">
                <a:solidFill>
                  <a:srgbClr val="4A1520"/>
                </a:solidFill>
                <a:latin typeface="Calibri" pitchFamily="34" charset="0"/>
                <a:ea typeface="Calibri" pitchFamily="34" charset="-122"/>
                <a:cs typeface="Calibri" pitchFamily="34" charset="-120"/>
              </a:rPr>
              <a:t>🛵  Only 25.7% of restaurants offer online delivery</a:t>
            </a:r>
            <a:endParaRPr lang="en-US" sz="1000" dirty="0"/>
          </a:p>
        </p:txBody>
      </p:sp>
      <p:sp>
        <p:nvSpPr>
          <p:cNvPr id="50" name="Shape 48"/>
          <p:cNvSpPr/>
          <p:nvPr/>
        </p:nvSpPr>
        <p:spPr>
          <a:xfrm>
            <a:off x="4645152" y="2770632"/>
            <a:ext cx="4187952" cy="310896"/>
          </a:xfrm>
          <a:prstGeom prst="rect">
            <a:avLst/>
          </a:prstGeom>
          <a:solidFill>
            <a:srgbClr val="FFFFFF"/>
          </a:solidFill>
          <a:ln/>
        </p:spPr>
      </p:sp>
      <p:sp>
        <p:nvSpPr>
          <p:cNvPr id="51" name="Text 49"/>
          <p:cNvSpPr/>
          <p:nvPr/>
        </p:nvSpPr>
        <p:spPr>
          <a:xfrm>
            <a:off x="4736592" y="2807208"/>
            <a:ext cx="4023360" cy="228600"/>
          </a:xfrm>
          <a:prstGeom prst="rect">
            <a:avLst/>
          </a:prstGeom>
          <a:noFill/>
          <a:ln/>
        </p:spPr>
        <p:txBody>
          <a:bodyPr wrap="square" lIns="0" tIns="0" rIns="0" bIns="0" rtlCol="0" anchor="ctr"/>
          <a:lstStyle/>
          <a:p>
            <a:pPr marL="0" indent="0">
              <a:buNone/>
            </a:pPr>
            <a:r>
              <a:rPr lang="en-US" sz="1000" dirty="0">
                <a:solidFill>
                  <a:srgbClr val="4A1520"/>
                </a:solidFill>
                <a:latin typeface="Calibri" pitchFamily="34" charset="0"/>
                <a:ea typeface="Calibri" pitchFamily="34" charset="-122"/>
                <a:cs typeface="Calibri" pitchFamily="34" charset="-120"/>
              </a:rPr>
              <a:t>📋  Only 12.1% have table booking — low adoption</a:t>
            </a:r>
            <a:endParaRPr lang="en-US" sz="1000" dirty="0"/>
          </a:p>
        </p:txBody>
      </p:sp>
      <p:sp>
        <p:nvSpPr>
          <p:cNvPr id="52" name="Shape 50"/>
          <p:cNvSpPr/>
          <p:nvPr/>
        </p:nvSpPr>
        <p:spPr>
          <a:xfrm>
            <a:off x="4645152" y="3108960"/>
            <a:ext cx="4187952" cy="310896"/>
          </a:xfrm>
          <a:prstGeom prst="rect">
            <a:avLst/>
          </a:prstGeom>
          <a:solidFill>
            <a:srgbClr val="FDEAEC"/>
          </a:solidFill>
          <a:ln/>
        </p:spPr>
      </p:sp>
      <p:sp>
        <p:nvSpPr>
          <p:cNvPr id="53" name="Text 51"/>
          <p:cNvSpPr/>
          <p:nvPr/>
        </p:nvSpPr>
        <p:spPr>
          <a:xfrm>
            <a:off x="4736592" y="3145536"/>
            <a:ext cx="4023360" cy="228600"/>
          </a:xfrm>
          <a:prstGeom prst="rect">
            <a:avLst/>
          </a:prstGeom>
          <a:noFill/>
          <a:ln/>
        </p:spPr>
        <p:txBody>
          <a:bodyPr wrap="square" lIns="0" tIns="0" rIns="0" bIns="0" rtlCol="0" anchor="ctr"/>
          <a:lstStyle/>
          <a:p>
            <a:pPr marL="0" indent="0">
              <a:buNone/>
            </a:pPr>
            <a:r>
              <a:rPr lang="en-US" sz="1000" dirty="0">
                <a:solidFill>
                  <a:srgbClr val="4A1520"/>
                </a:solidFill>
                <a:latin typeface="Calibri" pitchFamily="34" charset="0"/>
                <a:ea typeface="Calibri" pitchFamily="34" charset="-122"/>
                <a:cs typeface="Calibri" pitchFamily="34" charset="-120"/>
              </a:rPr>
              <a:t>💰  46.5% restaurants are budget (Price Range 1)</a:t>
            </a:r>
            <a:endParaRPr lang="en-US" sz="1000" dirty="0"/>
          </a:p>
        </p:txBody>
      </p:sp>
      <p:sp>
        <p:nvSpPr>
          <p:cNvPr id="54" name="Shape 52"/>
          <p:cNvSpPr/>
          <p:nvPr/>
        </p:nvSpPr>
        <p:spPr>
          <a:xfrm>
            <a:off x="4645152" y="3447288"/>
            <a:ext cx="4187952" cy="310896"/>
          </a:xfrm>
          <a:prstGeom prst="rect">
            <a:avLst/>
          </a:prstGeom>
          <a:solidFill>
            <a:srgbClr val="FFFFFF"/>
          </a:solidFill>
          <a:ln/>
        </p:spPr>
      </p:sp>
      <p:sp>
        <p:nvSpPr>
          <p:cNvPr id="55" name="Text 53"/>
          <p:cNvSpPr/>
          <p:nvPr/>
        </p:nvSpPr>
        <p:spPr>
          <a:xfrm>
            <a:off x="4736592" y="3483864"/>
            <a:ext cx="4023360" cy="228600"/>
          </a:xfrm>
          <a:prstGeom prst="rect">
            <a:avLst/>
          </a:prstGeom>
          <a:noFill/>
          <a:ln/>
        </p:spPr>
        <p:txBody>
          <a:bodyPr wrap="square" lIns="0" tIns="0" rIns="0" bIns="0" rtlCol="0" anchor="ctr"/>
          <a:lstStyle/>
          <a:p>
            <a:pPr marL="0" indent="0">
              <a:buNone/>
            </a:pPr>
            <a:r>
              <a:rPr lang="en-US" sz="1000" dirty="0">
                <a:solidFill>
                  <a:srgbClr val="4A1520"/>
                </a:solidFill>
                <a:latin typeface="Calibri" pitchFamily="34" charset="0"/>
                <a:ea typeface="Calibri" pitchFamily="34" charset="-122"/>
                <a:cs typeface="Calibri" pitchFamily="34" charset="-120"/>
              </a:rPr>
              <a:t>⚠️  2,148 restaurants (22.5%) have never been rated</a:t>
            </a:r>
            <a:endParaRPr lang="en-US" sz="1000" dirty="0"/>
          </a:p>
        </p:txBody>
      </p:sp>
      <p:sp>
        <p:nvSpPr>
          <p:cNvPr id="56" name="Shape 54"/>
          <p:cNvSpPr/>
          <p:nvPr/>
        </p:nvSpPr>
        <p:spPr>
          <a:xfrm>
            <a:off x="4645152" y="3785616"/>
            <a:ext cx="4187952" cy="310896"/>
          </a:xfrm>
          <a:prstGeom prst="rect">
            <a:avLst/>
          </a:prstGeom>
          <a:solidFill>
            <a:srgbClr val="FDEAEC"/>
          </a:solidFill>
          <a:ln/>
        </p:spPr>
      </p:sp>
      <p:sp>
        <p:nvSpPr>
          <p:cNvPr id="57" name="Text 55"/>
          <p:cNvSpPr/>
          <p:nvPr/>
        </p:nvSpPr>
        <p:spPr>
          <a:xfrm>
            <a:off x="4736592" y="3822192"/>
            <a:ext cx="4023360" cy="228600"/>
          </a:xfrm>
          <a:prstGeom prst="rect">
            <a:avLst/>
          </a:prstGeom>
          <a:noFill/>
          <a:ln/>
        </p:spPr>
        <p:txBody>
          <a:bodyPr wrap="square" lIns="0" tIns="0" rIns="0" bIns="0" rtlCol="0" anchor="ctr"/>
          <a:lstStyle/>
          <a:p>
            <a:pPr marL="0" indent="0">
              <a:buNone/>
            </a:pPr>
            <a:r>
              <a:rPr lang="en-US" sz="1000" dirty="0">
                <a:solidFill>
                  <a:srgbClr val="4A1520"/>
                </a:solidFill>
                <a:latin typeface="Calibri" pitchFamily="34" charset="0"/>
                <a:ea typeface="Calibri" pitchFamily="34" charset="-122"/>
                <a:cs typeface="Calibri" pitchFamily="34" charset="-120"/>
              </a:rPr>
              <a:t>🌍  Africa has best avg rating (4.21) despite fewest entries</a:t>
            </a:r>
            <a:endParaRPr lang="en-US" sz="1000" dirty="0"/>
          </a:p>
        </p:txBody>
      </p:sp>
      <p:sp>
        <p:nvSpPr>
          <p:cNvPr id="58" name="Shape 56"/>
          <p:cNvSpPr/>
          <p:nvPr/>
        </p:nvSpPr>
        <p:spPr>
          <a:xfrm>
            <a:off x="0" y="4832604"/>
            <a:ext cx="9144000" cy="310896"/>
          </a:xfrm>
          <a:prstGeom prst="rect">
            <a:avLst/>
          </a:prstGeom>
          <a:solidFill>
            <a:srgbClr val="E23744"/>
          </a:solidFill>
          <a:ln/>
        </p:spPr>
      </p:sp>
      <p:sp>
        <p:nvSpPr>
          <p:cNvPr id="59" name="Text 57"/>
          <p:cNvSpPr/>
          <p:nvPr/>
        </p:nvSpPr>
        <p:spPr>
          <a:xfrm>
            <a:off x="274320" y="4832604"/>
            <a:ext cx="8595360" cy="310896"/>
          </a:xfrm>
          <a:prstGeom prst="rect">
            <a:avLst/>
          </a:prstGeom>
          <a:noFill/>
          <a:ln/>
        </p:spPr>
        <p:txBody>
          <a:bodyPr wrap="square" rtlCol="0" anchor="ctr"/>
          <a:lstStyle/>
          <a:p>
            <a:pPr marL="0" indent="0">
              <a:buNone/>
            </a:pP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23744"/>
          </a:solidFill>
          <a:ln/>
        </p:spPr>
      </p:sp>
      <p:sp>
        <p:nvSpPr>
          <p:cNvPr id="3" name="Shape 1"/>
          <p:cNvSpPr/>
          <p:nvPr/>
        </p:nvSpPr>
        <p:spPr>
          <a:xfrm>
            <a:off x="0" y="749808"/>
            <a:ext cx="9144000" cy="45720"/>
          </a:xfrm>
          <a:prstGeom prst="rect">
            <a:avLst/>
          </a:prstGeom>
          <a:solidFill>
            <a:srgbClr val="B8202E"/>
          </a:solidFill>
          <a:ln/>
        </p:spPr>
      </p:sp>
      <p:sp>
        <p:nvSpPr>
          <p:cNvPr id="4" name="Text 2"/>
          <p:cNvSpPr/>
          <p:nvPr/>
        </p:nvSpPr>
        <p:spPr>
          <a:xfrm>
            <a:off x="320040" y="0"/>
            <a:ext cx="8229600" cy="749808"/>
          </a:xfrm>
          <a:prstGeom prst="rect">
            <a:avLst/>
          </a:prstGeom>
          <a:noFill/>
          <a:ln/>
        </p:spPr>
        <p:txBody>
          <a:bodyPr wrap="square"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DATA ARCHITECTURE — STAR SCHEMA</a:t>
            </a:r>
            <a:endParaRPr lang="en-US" sz="2300" dirty="0"/>
          </a:p>
        </p:txBody>
      </p:sp>
      <p:sp>
        <p:nvSpPr>
          <p:cNvPr id="5" name="Shape 3"/>
          <p:cNvSpPr/>
          <p:nvPr/>
        </p:nvSpPr>
        <p:spPr>
          <a:xfrm>
            <a:off x="8705088" y="109728"/>
            <a:ext cx="347472" cy="347472"/>
          </a:xfrm>
          <a:prstGeom prst="ellipse">
            <a:avLst/>
          </a:prstGeom>
          <a:solidFill>
            <a:srgbClr val="B8202E"/>
          </a:solidFill>
          <a:ln/>
        </p:spPr>
      </p:sp>
      <p:sp>
        <p:nvSpPr>
          <p:cNvPr id="6" name="Text 4"/>
          <p:cNvSpPr/>
          <p:nvPr/>
        </p:nvSpPr>
        <p:spPr>
          <a:xfrm>
            <a:off x="8705088" y="1097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6</a:t>
            </a:r>
            <a:endParaRPr lang="en-US" sz="1300" dirty="0"/>
          </a:p>
        </p:txBody>
      </p:sp>
      <p:sp>
        <p:nvSpPr>
          <p:cNvPr id="7" name="Shape 5"/>
          <p:cNvSpPr/>
          <p:nvPr/>
        </p:nvSpPr>
        <p:spPr>
          <a:xfrm>
            <a:off x="182880" y="960120"/>
            <a:ext cx="2606040" cy="3429000"/>
          </a:xfrm>
          <a:prstGeom prst="rect">
            <a:avLst/>
          </a:prstGeom>
          <a:solidFill>
            <a:srgbClr val="FFFFFF"/>
          </a:solidFill>
          <a:ln/>
          <a:effectLst>
            <a:outerShdw blurRad="63500" dist="25400" dir="8100000" algn="bl" rotWithShape="0">
              <a:srgbClr val="000000">
                <a:alpha val="10000"/>
              </a:srgbClr>
            </a:outerShdw>
          </a:effectLst>
        </p:spPr>
      </p:sp>
      <p:sp>
        <p:nvSpPr>
          <p:cNvPr id="8" name="Shape 6"/>
          <p:cNvSpPr/>
          <p:nvPr/>
        </p:nvSpPr>
        <p:spPr>
          <a:xfrm>
            <a:off x="182880" y="960120"/>
            <a:ext cx="2606040" cy="384048"/>
          </a:xfrm>
          <a:prstGeom prst="rect">
            <a:avLst/>
          </a:prstGeom>
          <a:solidFill>
            <a:srgbClr val="E23744"/>
          </a:solidFill>
          <a:ln/>
        </p:spPr>
      </p:sp>
      <p:sp>
        <p:nvSpPr>
          <p:cNvPr id="9" name="Text 7"/>
          <p:cNvSpPr/>
          <p:nvPr/>
        </p:nvSpPr>
        <p:spPr>
          <a:xfrm>
            <a:off x="182880" y="960120"/>
            <a:ext cx="2606040" cy="384048"/>
          </a:xfrm>
          <a:prstGeom prst="rect">
            <a:avLst/>
          </a:prstGeom>
          <a:noFill/>
          <a:ln/>
        </p:spPr>
        <p:txBody>
          <a:bodyPr wrap="square" lIns="0" tIns="0" rIns="0" bIns="0" rtlCol="0" anchor="ctr"/>
          <a:lstStyle/>
          <a:p>
            <a:pPr marL="0" indent="0" algn="ctr">
              <a:buNone/>
            </a:pPr>
            <a:r>
              <a:rPr lang="en-US" sz="1300" b="1" dirty="0">
                <a:solidFill>
                  <a:srgbClr val="FFFFFF"/>
                </a:solidFill>
              </a:rPr>
              <a:t>Restaurant_Dim</a:t>
            </a:r>
            <a:endParaRPr lang="en-US" sz="1300" dirty="0"/>
          </a:p>
        </p:txBody>
      </p:sp>
      <p:sp>
        <p:nvSpPr>
          <p:cNvPr id="10" name="Text 8"/>
          <p:cNvSpPr/>
          <p:nvPr/>
        </p:nvSpPr>
        <p:spPr>
          <a:xfrm>
            <a:off x="182880" y="1371600"/>
            <a:ext cx="2606040" cy="201168"/>
          </a:xfrm>
          <a:prstGeom prst="rect">
            <a:avLst/>
          </a:prstGeom>
          <a:noFill/>
          <a:ln/>
        </p:spPr>
        <p:txBody>
          <a:bodyPr wrap="square" lIns="0" tIns="0" rIns="0" bIns="0" rtlCol="0" anchor="ctr"/>
          <a:lstStyle/>
          <a:p>
            <a:pPr marL="0" indent="0" algn="ctr">
              <a:buNone/>
            </a:pPr>
            <a:r>
              <a:rPr lang="en-US" sz="900" kern="0" spc="100" dirty="0">
                <a:solidFill>
                  <a:srgbClr val="E23744"/>
                </a:solidFill>
              </a:rPr>
              <a:t>DIMENSION TABLE</a:t>
            </a:r>
            <a:endParaRPr lang="en-US" sz="900" dirty="0"/>
          </a:p>
        </p:txBody>
      </p:sp>
      <p:sp>
        <p:nvSpPr>
          <p:cNvPr id="11" name="Text 9"/>
          <p:cNvSpPr/>
          <p:nvPr/>
        </p:nvSpPr>
        <p:spPr>
          <a:xfrm>
            <a:off x="320040" y="1645920"/>
            <a:ext cx="2377440" cy="274320"/>
          </a:xfrm>
          <a:prstGeom prst="rect">
            <a:avLst/>
          </a:prstGeom>
          <a:noFill/>
          <a:ln/>
        </p:spPr>
        <p:txBody>
          <a:bodyPr wrap="square" lIns="0" tIns="0" rIns="0" bIns="0" rtlCol="0" anchor="ctr"/>
          <a:lstStyle/>
          <a:p>
            <a:pPr marL="0" indent="0">
              <a:buNone/>
            </a:pPr>
            <a:r>
              <a:rPr lang="en-US" sz="1050" b="1" dirty="0">
                <a:solidFill>
                  <a:srgbClr val="E23744"/>
                </a:solidFill>
                <a:latin typeface="Calibri" pitchFamily="34" charset="0"/>
                <a:ea typeface="Calibri" pitchFamily="34" charset="-122"/>
                <a:cs typeface="Calibri" pitchFamily="34" charset="-120"/>
              </a:rPr>
              <a:t>🔑  Restaurant ID (KEY)</a:t>
            </a:r>
            <a:endParaRPr lang="en-US" sz="1050" dirty="0"/>
          </a:p>
        </p:txBody>
      </p:sp>
      <p:sp>
        <p:nvSpPr>
          <p:cNvPr id="12" name="Shape 10"/>
          <p:cNvSpPr/>
          <p:nvPr/>
        </p:nvSpPr>
        <p:spPr>
          <a:xfrm>
            <a:off x="182880" y="1956816"/>
            <a:ext cx="2606040" cy="320040"/>
          </a:xfrm>
          <a:prstGeom prst="rect">
            <a:avLst/>
          </a:prstGeom>
          <a:solidFill>
            <a:srgbClr val="FFF5F6"/>
          </a:solidFill>
          <a:ln/>
        </p:spPr>
      </p:sp>
      <p:sp>
        <p:nvSpPr>
          <p:cNvPr id="13" name="Text 11"/>
          <p:cNvSpPr/>
          <p:nvPr/>
        </p:nvSpPr>
        <p:spPr>
          <a:xfrm>
            <a:off x="320040" y="1975104"/>
            <a:ext cx="2377440" cy="274320"/>
          </a:xfrm>
          <a:prstGeom prst="rect">
            <a:avLst/>
          </a:prstGeom>
          <a:noFill/>
          <a:ln/>
        </p:spPr>
        <p:txBody>
          <a:bodyPr wrap="square" lIns="0" tIns="0" rIns="0" bIns="0" rtlCol="0" anchor="ctr"/>
          <a:lstStyle/>
          <a:p>
            <a:pPr marL="0" indent="0">
              <a:buNone/>
            </a:pPr>
            <a:r>
              <a:rPr lang="en-US" sz="1050" dirty="0">
                <a:solidFill>
                  <a:srgbClr val="4A1520"/>
                </a:solidFill>
                <a:latin typeface="Calibri" pitchFamily="34" charset="0"/>
                <a:ea typeface="Calibri" pitchFamily="34" charset="-122"/>
                <a:cs typeface="Calibri" pitchFamily="34" charset="-120"/>
              </a:rPr>
              <a:t>Restaurant Name</a:t>
            </a:r>
            <a:endParaRPr lang="en-US" sz="1050" dirty="0"/>
          </a:p>
        </p:txBody>
      </p:sp>
      <p:sp>
        <p:nvSpPr>
          <p:cNvPr id="14" name="Text 12"/>
          <p:cNvSpPr/>
          <p:nvPr/>
        </p:nvSpPr>
        <p:spPr>
          <a:xfrm>
            <a:off x="320040" y="2304288"/>
            <a:ext cx="2377440" cy="274320"/>
          </a:xfrm>
          <a:prstGeom prst="rect">
            <a:avLst/>
          </a:prstGeom>
          <a:noFill/>
          <a:ln/>
        </p:spPr>
        <p:txBody>
          <a:bodyPr wrap="square" lIns="0" tIns="0" rIns="0" bIns="0" rtlCol="0" anchor="ctr"/>
          <a:lstStyle/>
          <a:p>
            <a:pPr marL="0" indent="0">
              <a:buNone/>
            </a:pPr>
            <a:r>
              <a:rPr lang="en-US" sz="1050" dirty="0">
                <a:solidFill>
                  <a:srgbClr val="4A1520"/>
                </a:solidFill>
                <a:latin typeface="Calibri" pitchFamily="34" charset="0"/>
                <a:ea typeface="Calibri" pitchFamily="34" charset="-122"/>
                <a:cs typeface="Calibri" pitchFamily="34" charset="-120"/>
              </a:rPr>
              <a:t>City</a:t>
            </a:r>
            <a:endParaRPr lang="en-US" sz="1050" dirty="0"/>
          </a:p>
        </p:txBody>
      </p:sp>
      <p:sp>
        <p:nvSpPr>
          <p:cNvPr id="15" name="Shape 13"/>
          <p:cNvSpPr/>
          <p:nvPr/>
        </p:nvSpPr>
        <p:spPr>
          <a:xfrm>
            <a:off x="182880" y="2615184"/>
            <a:ext cx="2606040" cy="320040"/>
          </a:xfrm>
          <a:prstGeom prst="rect">
            <a:avLst/>
          </a:prstGeom>
          <a:solidFill>
            <a:srgbClr val="FFF5F6"/>
          </a:solidFill>
          <a:ln/>
        </p:spPr>
      </p:sp>
      <p:sp>
        <p:nvSpPr>
          <p:cNvPr id="16" name="Text 14"/>
          <p:cNvSpPr/>
          <p:nvPr/>
        </p:nvSpPr>
        <p:spPr>
          <a:xfrm>
            <a:off x="320040" y="2633472"/>
            <a:ext cx="2377440" cy="274320"/>
          </a:xfrm>
          <a:prstGeom prst="rect">
            <a:avLst/>
          </a:prstGeom>
          <a:noFill/>
          <a:ln/>
        </p:spPr>
        <p:txBody>
          <a:bodyPr wrap="square" lIns="0" tIns="0" rIns="0" bIns="0" rtlCol="0" anchor="ctr"/>
          <a:lstStyle/>
          <a:p>
            <a:pPr marL="0" indent="0">
              <a:buNone/>
            </a:pPr>
            <a:r>
              <a:rPr lang="en-US" sz="1050" dirty="0">
                <a:solidFill>
                  <a:srgbClr val="4A1520"/>
                </a:solidFill>
                <a:latin typeface="Calibri" pitchFamily="34" charset="0"/>
                <a:ea typeface="Calibri" pitchFamily="34" charset="-122"/>
                <a:cs typeface="Calibri" pitchFamily="34" charset="-120"/>
              </a:rPr>
              <a:t>Country Code</a:t>
            </a:r>
            <a:endParaRPr lang="en-US" sz="1050" dirty="0"/>
          </a:p>
        </p:txBody>
      </p:sp>
      <p:sp>
        <p:nvSpPr>
          <p:cNvPr id="17" name="Text 15"/>
          <p:cNvSpPr/>
          <p:nvPr/>
        </p:nvSpPr>
        <p:spPr>
          <a:xfrm>
            <a:off x="320040" y="2962656"/>
            <a:ext cx="2377440" cy="274320"/>
          </a:xfrm>
          <a:prstGeom prst="rect">
            <a:avLst/>
          </a:prstGeom>
          <a:noFill/>
          <a:ln/>
        </p:spPr>
        <p:txBody>
          <a:bodyPr wrap="square" lIns="0" tIns="0" rIns="0" bIns="0" rtlCol="0" anchor="ctr"/>
          <a:lstStyle/>
          <a:p>
            <a:pPr marL="0" indent="0">
              <a:buNone/>
            </a:pPr>
            <a:r>
              <a:rPr lang="en-US" sz="1050" dirty="0">
                <a:solidFill>
                  <a:srgbClr val="4A1520"/>
                </a:solidFill>
                <a:latin typeface="Calibri" pitchFamily="34" charset="0"/>
                <a:ea typeface="Calibri" pitchFamily="34" charset="-122"/>
                <a:cs typeface="Calibri" pitchFamily="34" charset="-120"/>
              </a:rPr>
              <a:t>Cuisines</a:t>
            </a:r>
            <a:endParaRPr lang="en-US" sz="1050" dirty="0"/>
          </a:p>
        </p:txBody>
      </p:sp>
      <p:sp>
        <p:nvSpPr>
          <p:cNvPr id="18" name="Shape 16"/>
          <p:cNvSpPr/>
          <p:nvPr/>
        </p:nvSpPr>
        <p:spPr>
          <a:xfrm>
            <a:off x="182880" y="3273552"/>
            <a:ext cx="2606040" cy="320040"/>
          </a:xfrm>
          <a:prstGeom prst="rect">
            <a:avLst/>
          </a:prstGeom>
          <a:solidFill>
            <a:srgbClr val="FFF5F6"/>
          </a:solidFill>
          <a:ln/>
        </p:spPr>
      </p:sp>
      <p:sp>
        <p:nvSpPr>
          <p:cNvPr id="19" name="Text 17"/>
          <p:cNvSpPr/>
          <p:nvPr/>
        </p:nvSpPr>
        <p:spPr>
          <a:xfrm>
            <a:off x="320040" y="3291840"/>
            <a:ext cx="2377440" cy="274320"/>
          </a:xfrm>
          <a:prstGeom prst="rect">
            <a:avLst/>
          </a:prstGeom>
          <a:noFill/>
          <a:ln/>
        </p:spPr>
        <p:txBody>
          <a:bodyPr wrap="square" lIns="0" tIns="0" rIns="0" bIns="0" rtlCol="0" anchor="ctr"/>
          <a:lstStyle/>
          <a:p>
            <a:pPr marL="0" indent="0">
              <a:buNone/>
            </a:pPr>
            <a:r>
              <a:rPr lang="en-US" sz="1050" dirty="0">
                <a:solidFill>
                  <a:srgbClr val="4A1520"/>
                </a:solidFill>
                <a:latin typeface="Calibri" pitchFamily="34" charset="0"/>
                <a:ea typeface="Calibri" pitchFamily="34" charset="-122"/>
                <a:cs typeface="Calibri" pitchFamily="34" charset="-120"/>
              </a:rPr>
              <a:t>Latitude / Longitude</a:t>
            </a:r>
            <a:endParaRPr lang="en-US" sz="1050" dirty="0"/>
          </a:p>
        </p:txBody>
      </p:sp>
      <p:sp>
        <p:nvSpPr>
          <p:cNvPr id="20" name="Text 18"/>
          <p:cNvSpPr/>
          <p:nvPr/>
        </p:nvSpPr>
        <p:spPr>
          <a:xfrm>
            <a:off x="320040" y="3621024"/>
            <a:ext cx="2377440" cy="274320"/>
          </a:xfrm>
          <a:prstGeom prst="rect">
            <a:avLst/>
          </a:prstGeom>
          <a:noFill/>
          <a:ln/>
        </p:spPr>
        <p:txBody>
          <a:bodyPr wrap="square" lIns="0" tIns="0" rIns="0" bIns="0" rtlCol="0" anchor="ctr"/>
          <a:lstStyle/>
          <a:p>
            <a:pPr marL="0" indent="0">
              <a:buNone/>
            </a:pPr>
            <a:r>
              <a:rPr lang="en-US" sz="1050" dirty="0">
                <a:solidFill>
                  <a:srgbClr val="4A1520"/>
                </a:solidFill>
                <a:latin typeface="Calibri" pitchFamily="34" charset="0"/>
                <a:ea typeface="Calibri" pitchFamily="34" charset="-122"/>
                <a:cs typeface="Calibri" pitchFamily="34" charset="-120"/>
              </a:rPr>
              <a:t>Country</a:t>
            </a:r>
            <a:endParaRPr lang="en-US" sz="1050" dirty="0"/>
          </a:p>
        </p:txBody>
      </p:sp>
      <p:sp>
        <p:nvSpPr>
          <p:cNvPr id="21" name="Shape 19"/>
          <p:cNvSpPr/>
          <p:nvPr/>
        </p:nvSpPr>
        <p:spPr>
          <a:xfrm>
            <a:off x="182880" y="3931920"/>
            <a:ext cx="2606040" cy="320040"/>
          </a:xfrm>
          <a:prstGeom prst="rect">
            <a:avLst/>
          </a:prstGeom>
          <a:solidFill>
            <a:srgbClr val="FFF5F6"/>
          </a:solidFill>
          <a:ln/>
        </p:spPr>
      </p:sp>
      <p:sp>
        <p:nvSpPr>
          <p:cNvPr id="22" name="Text 20"/>
          <p:cNvSpPr/>
          <p:nvPr/>
        </p:nvSpPr>
        <p:spPr>
          <a:xfrm>
            <a:off x="320040" y="3950208"/>
            <a:ext cx="2377440" cy="274320"/>
          </a:xfrm>
          <a:prstGeom prst="rect">
            <a:avLst/>
          </a:prstGeom>
          <a:noFill/>
          <a:ln/>
        </p:spPr>
        <p:txBody>
          <a:bodyPr wrap="square" lIns="0" tIns="0" rIns="0" bIns="0" rtlCol="0" anchor="ctr"/>
          <a:lstStyle/>
          <a:p>
            <a:pPr marL="0" indent="0">
              <a:buNone/>
            </a:pPr>
            <a:r>
              <a:rPr lang="en-US" sz="1050" dirty="0">
                <a:solidFill>
                  <a:srgbClr val="4A1520"/>
                </a:solidFill>
                <a:latin typeface="Calibri" pitchFamily="34" charset="0"/>
                <a:ea typeface="Calibri" pitchFamily="34" charset="-122"/>
                <a:cs typeface="Calibri" pitchFamily="34" charset="-120"/>
              </a:rPr>
              <a:t>Continent</a:t>
            </a:r>
            <a:endParaRPr lang="en-US" sz="1050" dirty="0"/>
          </a:p>
        </p:txBody>
      </p:sp>
      <p:sp>
        <p:nvSpPr>
          <p:cNvPr id="23" name="Shape 21"/>
          <p:cNvSpPr/>
          <p:nvPr/>
        </p:nvSpPr>
        <p:spPr>
          <a:xfrm>
            <a:off x="3273552" y="960120"/>
            <a:ext cx="2606040" cy="3429000"/>
          </a:xfrm>
          <a:prstGeom prst="rect">
            <a:avLst/>
          </a:prstGeom>
          <a:solidFill>
            <a:srgbClr val="B8202E"/>
          </a:solidFill>
          <a:ln/>
          <a:effectLst>
            <a:outerShdw blurRad="63500" dist="25400" dir="8100000" algn="bl" rotWithShape="0">
              <a:srgbClr val="000000">
                <a:alpha val="10000"/>
              </a:srgbClr>
            </a:outerShdw>
          </a:effectLst>
        </p:spPr>
      </p:sp>
      <p:sp>
        <p:nvSpPr>
          <p:cNvPr id="24" name="Shape 22"/>
          <p:cNvSpPr/>
          <p:nvPr/>
        </p:nvSpPr>
        <p:spPr>
          <a:xfrm>
            <a:off x="3273552" y="960120"/>
            <a:ext cx="2606040" cy="384048"/>
          </a:xfrm>
          <a:prstGeom prst="rect">
            <a:avLst/>
          </a:prstGeom>
          <a:solidFill>
            <a:srgbClr val="8C1520"/>
          </a:solidFill>
          <a:ln/>
        </p:spPr>
      </p:sp>
      <p:sp>
        <p:nvSpPr>
          <p:cNvPr id="25" name="Text 23"/>
          <p:cNvSpPr/>
          <p:nvPr/>
        </p:nvSpPr>
        <p:spPr>
          <a:xfrm>
            <a:off x="3273552" y="960120"/>
            <a:ext cx="2606040" cy="384048"/>
          </a:xfrm>
          <a:prstGeom prst="rect">
            <a:avLst/>
          </a:prstGeom>
          <a:noFill/>
          <a:ln/>
        </p:spPr>
        <p:txBody>
          <a:bodyPr wrap="square" lIns="0" tIns="0" rIns="0" bIns="0" rtlCol="0" anchor="ctr"/>
          <a:lstStyle/>
          <a:p>
            <a:pPr marL="0" indent="0" algn="ctr">
              <a:buNone/>
            </a:pPr>
            <a:r>
              <a:rPr lang="en-US" sz="1300" b="1" dirty="0">
                <a:solidFill>
                  <a:srgbClr val="FFFFFF"/>
                </a:solidFill>
              </a:rPr>
              <a:t>Performance_Fact</a:t>
            </a:r>
            <a:endParaRPr lang="en-US" sz="1300" dirty="0"/>
          </a:p>
        </p:txBody>
      </p:sp>
      <p:sp>
        <p:nvSpPr>
          <p:cNvPr id="26" name="Text 24"/>
          <p:cNvSpPr/>
          <p:nvPr/>
        </p:nvSpPr>
        <p:spPr>
          <a:xfrm>
            <a:off x="3273552" y="1371600"/>
            <a:ext cx="2606040" cy="201168"/>
          </a:xfrm>
          <a:prstGeom prst="rect">
            <a:avLst/>
          </a:prstGeom>
          <a:noFill/>
          <a:ln/>
        </p:spPr>
        <p:txBody>
          <a:bodyPr wrap="square" lIns="0" tIns="0" rIns="0" bIns="0" rtlCol="0" anchor="ctr"/>
          <a:lstStyle/>
          <a:p>
            <a:pPr marL="0" indent="0" algn="ctr">
              <a:buNone/>
            </a:pPr>
            <a:r>
              <a:rPr lang="en-US" sz="900" kern="0" spc="100" dirty="0">
                <a:solidFill>
                  <a:srgbClr val="F5B8BE"/>
                </a:solidFill>
              </a:rPr>
              <a:t>FACT TABLE — CENTER</a:t>
            </a:r>
            <a:endParaRPr lang="en-US" sz="900" dirty="0"/>
          </a:p>
        </p:txBody>
      </p:sp>
      <p:sp>
        <p:nvSpPr>
          <p:cNvPr id="27" name="Text 25"/>
          <p:cNvSpPr/>
          <p:nvPr/>
        </p:nvSpPr>
        <p:spPr>
          <a:xfrm>
            <a:off x="3401568" y="1645920"/>
            <a:ext cx="2377440" cy="237744"/>
          </a:xfrm>
          <a:prstGeom prst="rect">
            <a:avLst/>
          </a:prstGeom>
          <a:noFill/>
          <a:ln/>
        </p:spPr>
        <p:txBody>
          <a:bodyPr wrap="square" lIns="0" tIns="0" rIns="0" bIns="0" rtlCol="0" anchor="ctr"/>
          <a:lstStyle/>
          <a:p>
            <a:pPr marL="0" indent="0">
              <a:buNone/>
            </a:pPr>
            <a:r>
              <a:rPr lang="en-US" sz="1000" b="1" dirty="0">
                <a:solidFill>
                  <a:srgbClr val="F5A623"/>
                </a:solidFill>
                <a:latin typeface="Calibri" pitchFamily="34" charset="0"/>
                <a:ea typeface="Calibri" pitchFamily="34" charset="-122"/>
                <a:cs typeface="Calibri" pitchFamily="34" charset="-120"/>
              </a:rPr>
              <a:t>🔑  Restaurant ID (KEY)</a:t>
            </a:r>
            <a:endParaRPr lang="en-US" sz="1000" dirty="0"/>
          </a:p>
        </p:txBody>
      </p:sp>
      <p:sp>
        <p:nvSpPr>
          <p:cNvPr id="28" name="Shape 26"/>
          <p:cNvSpPr/>
          <p:nvPr/>
        </p:nvSpPr>
        <p:spPr>
          <a:xfrm>
            <a:off x="3273552" y="1901952"/>
            <a:ext cx="2606040" cy="265176"/>
          </a:xfrm>
          <a:prstGeom prst="rect">
            <a:avLst/>
          </a:prstGeom>
          <a:solidFill>
            <a:srgbClr val="9B2232"/>
          </a:solidFill>
          <a:ln/>
        </p:spPr>
      </p:sp>
      <p:sp>
        <p:nvSpPr>
          <p:cNvPr id="29" name="Text 27"/>
          <p:cNvSpPr/>
          <p:nvPr/>
        </p:nvSpPr>
        <p:spPr>
          <a:xfrm>
            <a:off x="3401568" y="1920240"/>
            <a:ext cx="237744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Average Cost For Two</a:t>
            </a:r>
            <a:endParaRPr lang="en-US" sz="1000" dirty="0"/>
          </a:p>
        </p:txBody>
      </p:sp>
      <p:sp>
        <p:nvSpPr>
          <p:cNvPr id="30" name="Text 28"/>
          <p:cNvSpPr/>
          <p:nvPr/>
        </p:nvSpPr>
        <p:spPr>
          <a:xfrm>
            <a:off x="3401568" y="2194560"/>
            <a:ext cx="237744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Has Online Delivery</a:t>
            </a:r>
            <a:endParaRPr lang="en-US" sz="1000" dirty="0"/>
          </a:p>
        </p:txBody>
      </p:sp>
      <p:sp>
        <p:nvSpPr>
          <p:cNvPr id="31" name="Shape 29"/>
          <p:cNvSpPr/>
          <p:nvPr/>
        </p:nvSpPr>
        <p:spPr>
          <a:xfrm>
            <a:off x="3273552" y="2450592"/>
            <a:ext cx="2606040" cy="265176"/>
          </a:xfrm>
          <a:prstGeom prst="rect">
            <a:avLst/>
          </a:prstGeom>
          <a:solidFill>
            <a:srgbClr val="9B2232"/>
          </a:solidFill>
          <a:ln/>
        </p:spPr>
      </p:sp>
      <p:sp>
        <p:nvSpPr>
          <p:cNvPr id="32" name="Text 30"/>
          <p:cNvSpPr/>
          <p:nvPr/>
        </p:nvSpPr>
        <p:spPr>
          <a:xfrm>
            <a:off x="3401568" y="2468880"/>
            <a:ext cx="237744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Has Table Booking</a:t>
            </a:r>
            <a:endParaRPr lang="en-US" sz="1000" dirty="0"/>
          </a:p>
        </p:txBody>
      </p:sp>
      <p:sp>
        <p:nvSpPr>
          <p:cNvPr id="33" name="Text 31"/>
          <p:cNvSpPr/>
          <p:nvPr/>
        </p:nvSpPr>
        <p:spPr>
          <a:xfrm>
            <a:off x="3401568" y="2743200"/>
            <a:ext cx="237744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Aggregate Rating</a:t>
            </a:r>
            <a:endParaRPr lang="en-US" sz="1000" dirty="0"/>
          </a:p>
        </p:txBody>
      </p:sp>
      <p:sp>
        <p:nvSpPr>
          <p:cNvPr id="34" name="Shape 32"/>
          <p:cNvSpPr/>
          <p:nvPr/>
        </p:nvSpPr>
        <p:spPr>
          <a:xfrm>
            <a:off x="3273552" y="2999232"/>
            <a:ext cx="2606040" cy="265176"/>
          </a:xfrm>
          <a:prstGeom prst="rect">
            <a:avLst/>
          </a:prstGeom>
          <a:solidFill>
            <a:srgbClr val="9B2232"/>
          </a:solidFill>
          <a:ln/>
        </p:spPr>
      </p:sp>
      <p:sp>
        <p:nvSpPr>
          <p:cNvPr id="35" name="Text 33"/>
          <p:cNvSpPr/>
          <p:nvPr/>
        </p:nvSpPr>
        <p:spPr>
          <a:xfrm>
            <a:off x="3401568" y="3017520"/>
            <a:ext cx="237744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Rating Text</a:t>
            </a:r>
            <a:endParaRPr lang="en-US" sz="1000" dirty="0"/>
          </a:p>
        </p:txBody>
      </p:sp>
      <p:sp>
        <p:nvSpPr>
          <p:cNvPr id="36" name="Text 34"/>
          <p:cNvSpPr/>
          <p:nvPr/>
        </p:nvSpPr>
        <p:spPr>
          <a:xfrm>
            <a:off x="3401568" y="3291840"/>
            <a:ext cx="237744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Votes</a:t>
            </a:r>
            <a:endParaRPr lang="en-US" sz="1000" dirty="0"/>
          </a:p>
        </p:txBody>
      </p:sp>
      <p:sp>
        <p:nvSpPr>
          <p:cNvPr id="37" name="Shape 35"/>
          <p:cNvSpPr/>
          <p:nvPr/>
        </p:nvSpPr>
        <p:spPr>
          <a:xfrm>
            <a:off x="3273552" y="3547872"/>
            <a:ext cx="2606040" cy="265176"/>
          </a:xfrm>
          <a:prstGeom prst="rect">
            <a:avLst/>
          </a:prstGeom>
          <a:solidFill>
            <a:srgbClr val="9B2232"/>
          </a:solidFill>
          <a:ln/>
        </p:spPr>
      </p:sp>
      <p:sp>
        <p:nvSpPr>
          <p:cNvPr id="38" name="Text 36"/>
          <p:cNvSpPr/>
          <p:nvPr/>
        </p:nvSpPr>
        <p:spPr>
          <a:xfrm>
            <a:off x="3401568" y="3566160"/>
            <a:ext cx="237744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Price Range</a:t>
            </a:r>
            <a:endParaRPr lang="en-US" sz="1000" dirty="0"/>
          </a:p>
        </p:txBody>
      </p:sp>
      <p:sp>
        <p:nvSpPr>
          <p:cNvPr id="39" name="Text 37"/>
          <p:cNvSpPr/>
          <p:nvPr/>
        </p:nvSpPr>
        <p:spPr>
          <a:xfrm>
            <a:off x="3401568" y="3840480"/>
            <a:ext cx="2377440" cy="23774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Currency</a:t>
            </a:r>
            <a:endParaRPr lang="en-US" sz="1000" dirty="0"/>
          </a:p>
        </p:txBody>
      </p:sp>
      <p:sp>
        <p:nvSpPr>
          <p:cNvPr id="40" name="Shape 38"/>
          <p:cNvSpPr/>
          <p:nvPr/>
        </p:nvSpPr>
        <p:spPr>
          <a:xfrm>
            <a:off x="6355080" y="960120"/>
            <a:ext cx="2606040" cy="3429000"/>
          </a:xfrm>
          <a:prstGeom prst="rect">
            <a:avLst/>
          </a:prstGeom>
          <a:solidFill>
            <a:srgbClr val="FFFFFF"/>
          </a:solidFill>
          <a:ln/>
          <a:effectLst>
            <a:outerShdw blurRad="63500" dist="25400" dir="8100000" algn="bl" rotWithShape="0">
              <a:srgbClr val="000000">
                <a:alpha val="10000"/>
              </a:srgbClr>
            </a:outerShdw>
          </a:effectLst>
        </p:spPr>
      </p:sp>
      <p:sp>
        <p:nvSpPr>
          <p:cNvPr id="41" name="Shape 39"/>
          <p:cNvSpPr/>
          <p:nvPr/>
        </p:nvSpPr>
        <p:spPr>
          <a:xfrm>
            <a:off x="6355080" y="960120"/>
            <a:ext cx="2606040" cy="384048"/>
          </a:xfrm>
          <a:prstGeom prst="rect">
            <a:avLst/>
          </a:prstGeom>
          <a:solidFill>
            <a:srgbClr val="E23744"/>
          </a:solidFill>
          <a:ln/>
        </p:spPr>
      </p:sp>
      <p:sp>
        <p:nvSpPr>
          <p:cNvPr id="42" name="Text 40"/>
          <p:cNvSpPr/>
          <p:nvPr/>
        </p:nvSpPr>
        <p:spPr>
          <a:xfrm>
            <a:off x="6355080" y="960120"/>
            <a:ext cx="2606040" cy="384048"/>
          </a:xfrm>
          <a:prstGeom prst="rect">
            <a:avLst/>
          </a:prstGeom>
          <a:noFill/>
          <a:ln/>
        </p:spPr>
        <p:txBody>
          <a:bodyPr wrap="square" lIns="0" tIns="0" rIns="0" bIns="0" rtlCol="0" anchor="ctr"/>
          <a:lstStyle/>
          <a:p>
            <a:pPr marL="0" indent="0" algn="ctr">
              <a:buNone/>
            </a:pPr>
            <a:r>
              <a:rPr lang="en-US" sz="1300" b="1" dirty="0">
                <a:solidFill>
                  <a:srgbClr val="FFFFFF"/>
                </a:solidFill>
              </a:rPr>
              <a:t>Country_Dim</a:t>
            </a:r>
            <a:endParaRPr lang="en-US" sz="1300" dirty="0"/>
          </a:p>
        </p:txBody>
      </p:sp>
      <p:sp>
        <p:nvSpPr>
          <p:cNvPr id="43" name="Text 41"/>
          <p:cNvSpPr/>
          <p:nvPr/>
        </p:nvSpPr>
        <p:spPr>
          <a:xfrm>
            <a:off x="6355080" y="1371600"/>
            <a:ext cx="2606040" cy="201168"/>
          </a:xfrm>
          <a:prstGeom prst="rect">
            <a:avLst/>
          </a:prstGeom>
          <a:noFill/>
          <a:ln/>
        </p:spPr>
        <p:txBody>
          <a:bodyPr wrap="square" lIns="0" tIns="0" rIns="0" bIns="0" rtlCol="0" anchor="ctr"/>
          <a:lstStyle/>
          <a:p>
            <a:pPr marL="0" indent="0" algn="ctr">
              <a:buNone/>
            </a:pPr>
            <a:r>
              <a:rPr lang="en-US" sz="900" kern="0" spc="100" dirty="0">
                <a:solidFill>
                  <a:srgbClr val="E23744"/>
                </a:solidFill>
              </a:rPr>
              <a:t>DIMENSION TABLE</a:t>
            </a:r>
            <a:endParaRPr lang="en-US" sz="900" dirty="0"/>
          </a:p>
        </p:txBody>
      </p:sp>
      <p:sp>
        <p:nvSpPr>
          <p:cNvPr id="44" name="Text 42"/>
          <p:cNvSpPr/>
          <p:nvPr/>
        </p:nvSpPr>
        <p:spPr>
          <a:xfrm>
            <a:off x="6492240" y="1645920"/>
            <a:ext cx="2377440" cy="292608"/>
          </a:xfrm>
          <a:prstGeom prst="rect">
            <a:avLst/>
          </a:prstGeom>
          <a:noFill/>
          <a:ln/>
        </p:spPr>
        <p:txBody>
          <a:bodyPr wrap="square" lIns="0" tIns="0" rIns="0" bIns="0" rtlCol="0" anchor="ctr"/>
          <a:lstStyle/>
          <a:p>
            <a:pPr marL="0" indent="0">
              <a:buNone/>
            </a:pPr>
            <a:r>
              <a:rPr lang="en-US" sz="1100" b="1" dirty="0">
                <a:solidFill>
                  <a:srgbClr val="E23744"/>
                </a:solidFill>
                <a:latin typeface="Calibri" pitchFamily="34" charset="0"/>
                <a:ea typeface="Calibri" pitchFamily="34" charset="-122"/>
                <a:cs typeface="Calibri" pitchFamily="34" charset="-120"/>
              </a:rPr>
              <a:t>🔑  Country Code (KEY)</a:t>
            </a:r>
            <a:endParaRPr lang="en-US" sz="1100" dirty="0"/>
          </a:p>
        </p:txBody>
      </p:sp>
      <p:sp>
        <p:nvSpPr>
          <p:cNvPr id="45" name="Shape 43"/>
          <p:cNvSpPr/>
          <p:nvPr/>
        </p:nvSpPr>
        <p:spPr>
          <a:xfrm>
            <a:off x="6355080" y="1993392"/>
            <a:ext cx="2606040" cy="347472"/>
          </a:xfrm>
          <a:prstGeom prst="rect">
            <a:avLst/>
          </a:prstGeom>
          <a:solidFill>
            <a:srgbClr val="FFF5F6"/>
          </a:solidFill>
          <a:ln/>
        </p:spPr>
      </p:sp>
      <p:sp>
        <p:nvSpPr>
          <p:cNvPr id="46" name="Text 44"/>
          <p:cNvSpPr/>
          <p:nvPr/>
        </p:nvSpPr>
        <p:spPr>
          <a:xfrm>
            <a:off x="6492240" y="2011680"/>
            <a:ext cx="2377440" cy="292608"/>
          </a:xfrm>
          <a:prstGeom prst="rect">
            <a:avLst/>
          </a:prstGeom>
          <a:noFill/>
          <a:ln/>
        </p:spPr>
        <p:txBody>
          <a:bodyPr wrap="square" lIns="0" tIns="0" rIns="0" bIns="0" rtlCol="0" anchor="ctr"/>
          <a:lstStyle/>
          <a:p>
            <a:pPr marL="0" indent="0">
              <a:buNone/>
            </a:pPr>
            <a:r>
              <a:rPr lang="en-US" sz="1100" dirty="0">
                <a:solidFill>
                  <a:srgbClr val="4A1520"/>
                </a:solidFill>
                <a:latin typeface="Calibri" pitchFamily="34" charset="0"/>
                <a:ea typeface="Calibri" pitchFamily="34" charset="-122"/>
                <a:cs typeface="Calibri" pitchFamily="34" charset="-120"/>
              </a:rPr>
              <a:t>Country Name</a:t>
            </a:r>
            <a:endParaRPr lang="en-US" sz="1100" dirty="0"/>
          </a:p>
        </p:txBody>
      </p:sp>
      <p:sp>
        <p:nvSpPr>
          <p:cNvPr id="47" name="Text 45"/>
          <p:cNvSpPr/>
          <p:nvPr/>
        </p:nvSpPr>
        <p:spPr>
          <a:xfrm>
            <a:off x="6492240" y="2377440"/>
            <a:ext cx="2377440" cy="292608"/>
          </a:xfrm>
          <a:prstGeom prst="rect">
            <a:avLst/>
          </a:prstGeom>
          <a:noFill/>
          <a:ln/>
        </p:spPr>
        <p:txBody>
          <a:bodyPr wrap="square" lIns="0" tIns="0" rIns="0" bIns="0" rtlCol="0" anchor="ctr"/>
          <a:lstStyle/>
          <a:p>
            <a:pPr marL="0" indent="0">
              <a:buNone/>
            </a:pPr>
            <a:r>
              <a:rPr lang="en-US" sz="1100" dirty="0">
                <a:solidFill>
                  <a:srgbClr val="4A1520"/>
                </a:solidFill>
                <a:latin typeface="Calibri" pitchFamily="34" charset="0"/>
                <a:ea typeface="Calibri" pitchFamily="34" charset="-122"/>
                <a:cs typeface="Calibri" pitchFamily="34" charset="-120"/>
              </a:rPr>
              <a:t>Continent</a:t>
            </a:r>
            <a:endParaRPr lang="en-US" sz="1100" dirty="0"/>
          </a:p>
        </p:txBody>
      </p:sp>
      <p:sp>
        <p:nvSpPr>
          <p:cNvPr id="48" name="Shape 46"/>
          <p:cNvSpPr/>
          <p:nvPr/>
        </p:nvSpPr>
        <p:spPr>
          <a:xfrm>
            <a:off x="2788920" y="2670048"/>
            <a:ext cx="484632" cy="0"/>
          </a:xfrm>
          <a:prstGeom prst="line">
            <a:avLst/>
          </a:prstGeom>
          <a:noFill/>
          <a:ln w="31750">
            <a:solidFill>
              <a:srgbClr val="F5A623"/>
            </a:solidFill>
            <a:prstDash val="solid"/>
          </a:ln>
        </p:spPr>
      </p:sp>
      <p:sp>
        <p:nvSpPr>
          <p:cNvPr id="49" name="Text 47"/>
          <p:cNvSpPr/>
          <p:nvPr/>
        </p:nvSpPr>
        <p:spPr>
          <a:xfrm>
            <a:off x="1783080" y="2414016"/>
            <a:ext cx="1691640" cy="201168"/>
          </a:xfrm>
          <a:prstGeom prst="rect">
            <a:avLst/>
          </a:prstGeom>
          <a:noFill/>
          <a:ln/>
        </p:spPr>
        <p:txBody>
          <a:bodyPr wrap="square" lIns="0" tIns="0" rIns="0" bIns="0" rtlCol="0" anchor="ctr"/>
          <a:lstStyle/>
          <a:p>
            <a:pPr marL="0" indent="0" algn="ctr">
              <a:buNone/>
            </a:pPr>
            <a:r>
              <a:rPr lang="en-US" sz="850" dirty="0">
                <a:solidFill>
                  <a:srgbClr val="F5A623"/>
                </a:solidFill>
              </a:rPr>
              <a:t>Restaurant ID</a:t>
            </a:r>
            <a:endParaRPr lang="en-US" sz="850" dirty="0"/>
          </a:p>
        </p:txBody>
      </p:sp>
      <p:sp>
        <p:nvSpPr>
          <p:cNvPr id="50" name="Shape 48"/>
          <p:cNvSpPr/>
          <p:nvPr/>
        </p:nvSpPr>
        <p:spPr>
          <a:xfrm>
            <a:off x="5879592" y="2670048"/>
            <a:ext cx="475488" cy="0"/>
          </a:xfrm>
          <a:prstGeom prst="line">
            <a:avLst/>
          </a:prstGeom>
          <a:noFill/>
          <a:ln w="31750">
            <a:solidFill>
              <a:srgbClr val="F5A623"/>
            </a:solidFill>
            <a:prstDash val="solid"/>
          </a:ln>
        </p:spPr>
      </p:sp>
      <p:sp>
        <p:nvSpPr>
          <p:cNvPr id="51" name="Text 49"/>
          <p:cNvSpPr/>
          <p:nvPr/>
        </p:nvSpPr>
        <p:spPr>
          <a:xfrm>
            <a:off x="5824728" y="2414016"/>
            <a:ext cx="1691640" cy="201168"/>
          </a:xfrm>
          <a:prstGeom prst="rect">
            <a:avLst/>
          </a:prstGeom>
          <a:noFill/>
          <a:ln/>
        </p:spPr>
        <p:txBody>
          <a:bodyPr wrap="square" lIns="0" tIns="0" rIns="0" bIns="0" rtlCol="0" anchor="ctr"/>
          <a:lstStyle/>
          <a:p>
            <a:pPr marL="0" indent="0" algn="ctr">
              <a:buNone/>
            </a:pPr>
            <a:r>
              <a:rPr lang="en-US" sz="850" dirty="0">
                <a:solidFill>
                  <a:srgbClr val="F5A623"/>
                </a:solidFill>
              </a:rPr>
              <a:t>Country Code</a:t>
            </a:r>
            <a:endParaRPr lang="en-US" sz="850" dirty="0"/>
          </a:p>
        </p:txBody>
      </p:sp>
      <p:sp>
        <p:nvSpPr>
          <p:cNvPr id="52" name="Shape 50"/>
          <p:cNvSpPr/>
          <p:nvPr/>
        </p:nvSpPr>
        <p:spPr>
          <a:xfrm>
            <a:off x="0" y="4832604"/>
            <a:ext cx="9144000" cy="310896"/>
          </a:xfrm>
          <a:prstGeom prst="rect">
            <a:avLst/>
          </a:prstGeom>
          <a:solidFill>
            <a:srgbClr val="E23744"/>
          </a:solidFill>
          <a:ln/>
        </p:spPr>
      </p:sp>
      <p:sp>
        <p:nvSpPr>
          <p:cNvPr id="53" name="Text 51"/>
          <p:cNvSpPr/>
          <p:nvPr/>
        </p:nvSpPr>
        <p:spPr>
          <a:xfrm>
            <a:off x="274320" y="4832604"/>
            <a:ext cx="8595360" cy="310896"/>
          </a:xfrm>
          <a:prstGeom prst="rect">
            <a:avLst/>
          </a:prstGeom>
          <a:noFill/>
          <a:ln/>
        </p:spPr>
        <p:txBody>
          <a:bodyPr wrap="square" rtlCol="0" anchor="ctr"/>
          <a:lstStyle/>
          <a:p>
            <a:pPr marL="0" indent="0">
              <a:buNone/>
            </a:pP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23744"/>
          </a:solidFill>
          <a:ln/>
        </p:spPr>
      </p:sp>
      <p:sp>
        <p:nvSpPr>
          <p:cNvPr id="3" name="Shape 1"/>
          <p:cNvSpPr/>
          <p:nvPr/>
        </p:nvSpPr>
        <p:spPr>
          <a:xfrm>
            <a:off x="0" y="749808"/>
            <a:ext cx="9144000" cy="45720"/>
          </a:xfrm>
          <a:prstGeom prst="rect">
            <a:avLst/>
          </a:prstGeom>
          <a:solidFill>
            <a:srgbClr val="B8202E"/>
          </a:solidFill>
          <a:ln/>
        </p:spPr>
      </p:sp>
      <p:sp>
        <p:nvSpPr>
          <p:cNvPr id="4" name="Text 2"/>
          <p:cNvSpPr/>
          <p:nvPr/>
        </p:nvSpPr>
        <p:spPr>
          <a:xfrm>
            <a:off x="320040" y="0"/>
            <a:ext cx="8229600" cy="749808"/>
          </a:xfrm>
          <a:prstGeom prst="rect">
            <a:avLst/>
          </a:prstGeom>
          <a:noFill/>
          <a:ln/>
        </p:spPr>
        <p:txBody>
          <a:bodyPr wrap="square" rtlCol="0" anchor="ctr"/>
          <a:lstStyle/>
          <a:p>
            <a:pPr marL="0" indent="0" algn="ctr">
              <a:buNone/>
            </a:pPr>
            <a:r>
              <a:rPr lang="en-US" sz="2300" b="1" dirty="0">
                <a:solidFill>
                  <a:srgbClr val="FFFFFF"/>
                </a:solidFill>
                <a:latin typeface="Calibri" pitchFamily="34" charset="0"/>
                <a:ea typeface="Calibri" pitchFamily="34" charset="-122"/>
                <a:cs typeface="Calibri" pitchFamily="34" charset="-120"/>
              </a:rPr>
              <a:t>DAX MEASURES</a:t>
            </a:r>
            <a:endParaRPr lang="en-US" sz="2300" dirty="0"/>
          </a:p>
        </p:txBody>
      </p:sp>
      <p:sp>
        <p:nvSpPr>
          <p:cNvPr id="5" name="Shape 3"/>
          <p:cNvSpPr/>
          <p:nvPr/>
        </p:nvSpPr>
        <p:spPr>
          <a:xfrm>
            <a:off x="8705088" y="109728"/>
            <a:ext cx="347472" cy="347472"/>
          </a:xfrm>
          <a:prstGeom prst="ellipse">
            <a:avLst/>
          </a:prstGeom>
          <a:solidFill>
            <a:srgbClr val="B8202E"/>
          </a:solidFill>
          <a:ln/>
        </p:spPr>
      </p:sp>
      <p:sp>
        <p:nvSpPr>
          <p:cNvPr id="6" name="Text 4"/>
          <p:cNvSpPr/>
          <p:nvPr/>
        </p:nvSpPr>
        <p:spPr>
          <a:xfrm>
            <a:off x="8705088" y="1097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8</a:t>
            </a:r>
            <a:endParaRPr lang="en-US" sz="1300" dirty="0"/>
          </a:p>
        </p:txBody>
      </p:sp>
      <p:sp>
        <p:nvSpPr>
          <p:cNvPr id="7" name="Shape 5"/>
          <p:cNvSpPr/>
          <p:nvPr/>
        </p:nvSpPr>
        <p:spPr>
          <a:xfrm>
            <a:off x="256032" y="960120"/>
            <a:ext cx="393192" cy="310896"/>
          </a:xfrm>
          <a:prstGeom prst="rect">
            <a:avLst/>
          </a:prstGeom>
          <a:solidFill>
            <a:srgbClr val="E23744"/>
          </a:solidFill>
          <a:ln/>
        </p:spPr>
      </p:sp>
      <p:sp>
        <p:nvSpPr>
          <p:cNvPr id="8" name="Text 6"/>
          <p:cNvSpPr/>
          <p:nvPr/>
        </p:nvSpPr>
        <p:spPr>
          <a:xfrm>
            <a:off x="292608" y="960120"/>
            <a:ext cx="32004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9" name="Shape 7"/>
          <p:cNvSpPr/>
          <p:nvPr/>
        </p:nvSpPr>
        <p:spPr>
          <a:xfrm>
            <a:off x="685800" y="960120"/>
            <a:ext cx="2798064" cy="310896"/>
          </a:xfrm>
          <a:prstGeom prst="rect">
            <a:avLst/>
          </a:prstGeom>
          <a:solidFill>
            <a:srgbClr val="E23744"/>
          </a:solidFill>
          <a:ln/>
        </p:spPr>
      </p:sp>
      <p:sp>
        <p:nvSpPr>
          <p:cNvPr id="10" name="Text 8"/>
          <p:cNvSpPr/>
          <p:nvPr/>
        </p:nvSpPr>
        <p:spPr>
          <a:xfrm>
            <a:off x="722376" y="960120"/>
            <a:ext cx="2724912" cy="310896"/>
          </a:xfrm>
          <a:prstGeom prst="rect">
            <a:avLst/>
          </a:prstGeom>
          <a:noFill/>
          <a:ln/>
        </p:spPr>
        <p:txBody>
          <a:bodyPr wrap="square" lIns="0" tIns="0" rIns="0" bIns="0" rtlCol="0" anchor="ctr"/>
          <a:lstStyle/>
          <a:p>
            <a:pPr marL="0" indent="0" algn="l">
              <a:buNone/>
            </a:pPr>
            <a:r>
              <a:rPr lang="en-US" sz="1050" b="1" dirty="0">
                <a:solidFill>
                  <a:srgbClr val="FFFFFF"/>
                </a:solidFill>
                <a:latin typeface="Calibri" pitchFamily="34" charset="0"/>
                <a:ea typeface="Calibri" pitchFamily="34" charset="-122"/>
                <a:cs typeface="Calibri" pitchFamily="34" charset="-120"/>
              </a:rPr>
              <a:t>Measure Name</a:t>
            </a:r>
            <a:endParaRPr lang="en-US" sz="1050" dirty="0"/>
          </a:p>
        </p:txBody>
      </p:sp>
      <p:sp>
        <p:nvSpPr>
          <p:cNvPr id="11" name="Shape 9"/>
          <p:cNvSpPr/>
          <p:nvPr/>
        </p:nvSpPr>
        <p:spPr>
          <a:xfrm>
            <a:off x="3520440" y="960120"/>
            <a:ext cx="2377440" cy="310896"/>
          </a:xfrm>
          <a:prstGeom prst="rect">
            <a:avLst/>
          </a:prstGeom>
          <a:solidFill>
            <a:srgbClr val="E23744"/>
          </a:solidFill>
          <a:ln/>
        </p:spPr>
      </p:sp>
      <p:sp>
        <p:nvSpPr>
          <p:cNvPr id="12" name="Text 10"/>
          <p:cNvSpPr/>
          <p:nvPr/>
        </p:nvSpPr>
        <p:spPr>
          <a:xfrm>
            <a:off x="3557016" y="960120"/>
            <a:ext cx="2304288" cy="310896"/>
          </a:xfrm>
          <a:prstGeom prst="rect">
            <a:avLst/>
          </a:prstGeom>
          <a:noFill/>
          <a:ln/>
        </p:spPr>
        <p:txBody>
          <a:bodyPr wrap="square" lIns="0" tIns="0" rIns="0" bIns="0" rtlCol="0" anchor="ctr"/>
          <a:lstStyle/>
          <a:p>
            <a:pPr marL="0" indent="0" algn="l">
              <a:buNone/>
            </a:pPr>
            <a:r>
              <a:rPr lang="en-US" sz="1050" b="1" dirty="0">
                <a:solidFill>
                  <a:srgbClr val="FFFFFF"/>
                </a:solidFill>
                <a:latin typeface="Calibri" pitchFamily="34" charset="0"/>
                <a:ea typeface="Calibri" pitchFamily="34" charset="-122"/>
                <a:cs typeface="Calibri" pitchFamily="34" charset="-120"/>
              </a:rPr>
              <a:t>DAX Function Used</a:t>
            </a:r>
            <a:endParaRPr lang="en-US" sz="1050" dirty="0"/>
          </a:p>
        </p:txBody>
      </p:sp>
      <p:sp>
        <p:nvSpPr>
          <p:cNvPr id="13" name="Shape 11"/>
          <p:cNvSpPr/>
          <p:nvPr/>
        </p:nvSpPr>
        <p:spPr>
          <a:xfrm>
            <a:off x="5943600" y="960120"/>
            <a:ext cx="1591056" cy="310896"/>
          </a:xfrm>
          <a:prstGeom prst="rect">
            <a:avLst/>
          </a:prstGeom>
          <a:solidFill>
            <a:srgbClr val="E23744"/>
          </a:solidFill>
          <a:ln/>
        </p:spPr>
      </p:sp>
      <p:sp>
        <p:nvSpPr>
          <p:cNvPr id="14" name="Text 12"/>
          <p:cNvSpPr/>
          <p:nvPr/>
        </p:nvSpPr>
        <p:spPr>
          <a:xfrm>
            <a:off x="5980176" y="960120"/>
            <a:ext cx="1517904" cy="310896"/>
          </a:xfrm>
          <a:prstGeom prst="rect">
            <a:avLst/>
          </a:prstGeom>
          <a:noFill/>
          <a:ln/>
        </p:spPr>
        <p:txBody>
          <a:bodyPr wrap="square" lIns="0" tIns="0" rIns="0" bIns="0" rtlCol="0" anchor="ctr"/>
          <a:lstStyle/>
          <a:p>
            <a:pPr marL="0" indent="0" algn="l">
              <a:buNone/>
            </a:pPr>
            <a:r>
              <a:rPr lang="en-US" sz="1050" b="1" dirty="0">
                <a:solidFill>
                  <a:srgbClr val="FFFFFF"/>
                </a:solidFill>
                <a:latin typeface="Calibri" pitchFamily="34" charset="0"/>
                <a:ea typeface="Calibri" pitchFamily="34" charset="-122"/>
                <a:cs typeface="Calibri" pitchFamily="34" charset="-120"/>
              </a:rPr>
              <a:t>Result</a:t>
            </a:r>
            <a:endParaRPr lang="en-US" sz="1050" dirty="0"/>
          </a:p>
        </p:txBody>
      </p:sp>
      <p:sp>
        <p:nvSpPr>
          <p:cNvPr id="15" name="Shape 13"/>
          <p:cNvSpPr/>
          <p:nvPr/>
        </p:nvSpPr>
        <p:spPr>
          <a:xfrm>
            <a:off x="7571232" y="960120"/>
            <a:ext cx="1536192" cy="310896"/>
          </a:xfrm>
          <a:prstGeom prst="rect">
            <a:avLst/>
          </a:prstGeom>
          <a:solidFill>
            <a:srgbClr val="E23744"/>
          </a:solidFill>
          <a:ln/>
        </p:spPr>
      </p:sp>
      <p:sp>
        <p:nvSpPr>
          <p:cNvPr id="16" name="Text 14"/>
          <p:cNvSpPr/>
          <p:nvPr/>
        </p:nvSpPr>
        <p:spPr>
          <a:xfrm>
            <a:off x="7607808" y="960120"/>
            <a:ext cx="1463040" cy="310896"/>
          </a:xfrm>
          <a:prstGeom prst="rect">
            <a:avLst/>
          </a:prstGeom>
          <a:noFill/>
          <a:ln/>
        </p:spPr>
        <p:txBody>
          <a:bodyPr wrap="square" lIns="0" tIns="0" rIns="0" bIns="0" rtlCol="0" anchor="ctr"/>
          <a:lstStyle/>
          <a:p>
            <a:pPr marL="0" indent="0" algn="l">
              <a:buNone/>
            </a:pPr>
            <a:r>
              <a:rPr lang="en-US" sz="1050" b="1" dirty="0">
                <a:solidFill>
                  <a:srgbClr val="FFFFFF"/>
                </a:solidFill>
                <a:latin typeface="Calibri" pitchFamily="34" charset="0"/>
                <a:ea typeface="Calibri" pitchFamily="34" charset="-122"/>
                <a:cs typeface="Calibri" pitchFamily="34" charset="-120"/>
              </a:rPr>
              <a:t>Table</a:t>
            </a:r>
            <a:endParaRPr lang="en-US" sz="1050" dirty="0"/>
          </a:p>
        </p:txBody>
      </p:sp>
      <p:sp>
        <p:nvSpPr>
          <p:cNvPr id="17" name="Shape 15"/>
          <p:cNvSpPr/>
          <p:nvPr/>
        </p:nvSpPr>
        <p:spPr>
          <a:xfrm>
            <a:off x="256032" y="1307592"/>
            <a:ext cx="393192" cy="182880"/>
          </a:xfrm>
          <a:prstGeom prst="rect">
            <a:avLst/>
          </a:prstGeom>
          <a:solidFill>
            <a:srgbClr val="FFFFFF"/>
          </a:solidFill>
          <a:ln/>
        </p:spPr>
      </p:sp>
      <p:sp>
        <p:nvSpPr>
          <p:cNvPr id="18" name="Text 16"/>
          <p:cNvSpPr/>
          <p:nvPr/>
        </p:nvSpPr>
        <p:spPr>
          <a:xfrm>
            <a:off x="292608" y="1307592"/>
            <a:ext cx="320040" cy="182880"/>
          </a:xfrm>
          <a:prstGeom prst="rect">
            <a:avLst/>
          </a:prstGeom>
          <a:noFill/>
          <a:ln/>
        </p:spPr>
        <p:txBody>
          <a:bodyPr wrap="square" lIns="0" tIns="0" rIns="0" bIns="0" rtlCol="0" anchor="ctr"/>
          <a:lstStyle/>
          <a:p>
            <a:pPr marL="0" indent="0" algn="ctr">
              <a:buNone/>
            </a:pPr>
            <a:r>
              <a:rPr lang="en-US" sz="900" b="1" dirty="0">
                <a:solidFill>
                  <a:srgbClr val="E23744"/>
                </a:solidFill>
                <a:latin typeface="Calibri" pitchFamily="34" charset="0"/>
                <a:ea typeface="Calibri" pitchFamily="34" charset="-122"/>
                <a:cs typeface="Calibri" pitchFamily="34" charset="-120"/>
              </a:rPr>
              <a:t>1</a:t>
            </a:r>
            <a:endParaRPr lang="en-US" sz="900" dirty="0"/>
          </a:p>
        </p:txBody>
      </p:sp>
      <p:sp>
        <p:nvSpPr>
          <p:cNvPr id="19" name="Shape 17"/>
          <p:cNvSpPr/>
          <p:nvPr/>
        </p:nvSpPr>
        <p:spPr>
          <a:xfrm>
            <a:off x="685800" y="1307592"/>
            <a:ext cx="2798064" cy="182880"/>
          </a:xfrm>
          <a:prstGeom prst="rect">
            <a:avLst/>
          </a:prstGeom>
          <a:solidFill>
            <a:srgbClr val="FFFFFF"/>
          </a:solidFill>
          <a:ln/>
        </p:spPr>
      </p:sp>
      <p:sp>
        <p:nvSpPr>
          <p:cNvPr id="20" name="Text 18"/>
          <p:cNvSpPr/>
          <p:nvPr/>
        </p:nvSpPr>
        <p:spPr>
          <a:xfrm>
            <a:off x="722376" y="1307592"/>
            <a:ext cx="2724912"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Total Restaurants</a:t>
            </a:r>
            <a:endParaRPr lang="en-US" sz="900" dirty="0"/>
          </a:p>
        </p:txBody>
      </p:sp>
      <p:sp>
        <p:nvSpPr>
          <p:cNvPr id="21" name="Shape 19"/>
          <p:cNvSpPr/>
          <p:nvPr/>
        </p:nvSpPr>
        <p:spPr>
          <a:xfrm>
            <a:off x="3520440" y="1307592"/>
            <a:ext cx="2377440" cy="182880"/>
          </a:xfrm>
          <a:prstGeom prst="rect">
            <a:avLst/>
          </a:prstGeom>
          <a:solidFill>
            <a:srgbClr val="FFFFFF"/>
          </a:solidFill>
          <a:ln/>
        </p:spPr>
      </p:sp>
      <p:sp>
        <p:nvSpPr>
          <p:cNvPr id="22" name="Text 20"/>
          <p:cNvSpPr/>
          <p:nvPr/>
        </p:nvSpPr>
        <p:spPr>
          <a:xfrm>
            <a:off x="3557016" y="1307592"/>
            <a:ext cx="2304288"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COUNTROWS(Performance_Fact)</a:t>
            </a:r>
            <a:endParaRPr lang="en-US" sz="900" dirty="0"/>
          </a:p>
        </p:txBody>
      </p:sp>
      <p:sp>
        <p:nvSpPr>
          <p:cNvPr id="23" name="Shape 21"/>
          <p:cNvSpPr/>
          <p:nvPr/>
        </p:nvSpPr>
        <p:spPr>
          <a:xfrm>
            <a:off x="5943600" y="1307592"/>
            <a:ext cx="1591056" cy="182880"/>
          </a:xfrm>
          <a:prstGeom prst="rect">
            <a:avLst/>
          </a:prstGeom>
          <a:solidFill>
            <a:srgbClr val="FFFFFF"/>
          </a:solidFill>
          <a:ln/>
        </p:spPr>
      </p:sp>
      <p:sp>
        <p:nvSpPr>
          <p:cNvPr id="24" name="Text 22"/>
          <p:cNvSpPr/>
          <p:nvPr/>
        </p:nvSpPr>
        <p:spPr>
          <a:xfrm>
            <a:off x="5980176" y="1307592"/>
            <a:ext cx="1517904"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9,551</a:t>
            </a:r>
            <a:endParaRPr lang="en-US" sz="900" dirty="0"/>
          </a:p>
        </p:txBody>
      </p:sp>
      <p:sp>
        <p:nvSpPr>
          <p:cNvPr id="25" name="Shape 23"/>
          <p:cNvSpPr/>
          <p:nvPr/>
        </p:nvSpPr>
        <p:spPr>
          <a:xfrm>
            <a:off x="7571232" y="1307592"/>
            <a:ext cx="1536192" cy="182880"/>
          </a:xfrm>
          <a:prstGeom prst="rect">
            <a:avLst/>
          </a:prstGeom>
          <a:solidFill>
            <a:srgbClr val="FFFFFF"/>
          </a:solidFill>
          <a:ln/>
        </p:spPr>
      </p:sp>
      <p:sp>
        <p:nvSpPr>
          <p:cNvPr id="26" name="Text 24"/>
          <p:cNvSpPr/>
          <p:nvPr/>
        </p:nvSpPr>
        <p:spPr>
          <a:xfrm>
            <a:off x="7607808" y="1307592"/>
            <a:ext cx="1463040" cy="182880"/>
          </a:xfrm>
          <a:prstGeom prst="rect">
            <a:avLst/>
          </a:prstGeom>
          <a:noFill/>
          <a:ln/>
        </p:spPr>
        <p:txBody>
          <a:bodyPr wrap="square" lIns="0" tIns="0" rIns="0" bIns="0" rtlCol="0" anchor="ctr"/>
          <a:lstStyle/>
          <a:p>
            <a:pPr marL="0" indent="0" algn="l">
              <a:buNone/>
            </a:pPr>
            <a:r>
              <a:rPr lang="en-US" sz="900" dirty="0">
                <a:solidFill>
                  <a:srgbClr val="9A4A52"/>
                </a:solidFill>
                <a:latin typeface="Calibri" pitchFamily="34" charset="0"/>
                <a:ea typeface="Calibri" pitchFamily="34" charset="-122"/>
                <a:cs typeface="Calibri" pitchFamily="34" charset="-120"/>
              </a:rPr>
              <a:t>Fact</a:t>
            </a:r>
            <a:endParaRPr lang="en-US" sz="900" dirty="0"/>
          </a:p>
        </p:txBody>
      </p:sp>
      <p:sp>
        <p:nvSpPr>
          <p:cNvPr id="27" name="Shape 25"/>
          <p:cNvSpPr/>
          <p:nvPr/>
        </p:nvSpPr>
        <p:spPr>
          <a:xfrm>
            <a:off x="256032" y="1490472"/>
            <a:ext cx="393192" cy="182880"/>
          </a:xfrm>
          <a:prstGeom prst="rect">
            <a:avLst/>
          </a:prstGeom>
          <a:solidFill>
            <a:srgbClr val="FDEAEC"/>
          </a:solidFill>
          <a:ln/>
        </p:spPr>
      </p:sp>
      <p:sp>
        <p:nvSpPr>
          <p:cNvPr id="28" name="Text 26"/>
          <p:cNvSpPr/>
          <p:nvPr/>
        </p:nvSpPr>
        <p:spPr>
          <a:xfrm>
            <a:off x="292608" y="1490472"/>
            <a:ext cx="320040" cy="182880"/>
          </a:xfrm>
          <a:prstGeom prst="rect">
            <a:avLst/>
          </a:prstGeom>
          <a:noFill/>
          <a:ln/>
        </p:spPr>
        <p:txBody>
          <a:bodyPr wrap="square" lIns="0" tIns="0" rIns="0" bIns="0" rtlCol="0" anchor="ctr"/>
          <a:lstStyle/>
          <a:p>
            <a:pPr marL="0" indent="0" algn="ctr">
              <a:buNone/>
            </a:pPr>
            <a:r>
              <a:rPr lang="en-US" sz="900" b="1" dirty="0">
                <a:solidFill>
                  <a:srgbClr val="E23744"/>
                </a:solidFill>
                <a:latin typeface="Calibri" pitchFamily="34" charset="0"/>
                <a:ea typeface="Calibri" pitchFamily="34" charset="-122"/>
                <a:cs typeface="Calibri" pitchFamily="34" charset="-120"/>
              </a:rPr>
              <a:t>2</a:t>
            </a:r>
            <a:endParaRPr lang="en-US" sz="900" dirty="0"/>
          </a:p>
        </p:txBody>
      </p:sp>
      <p:sp>
        <p:nvSpPr>
          <p:cNvPr id="29" name="Shape 27"/>
          <p:cNvSpPr/>
          <p:nvPr/>
        </p:nvSpPr>
        <p:spPr>
          <a:xfrm>
            <a:off x="685800" y="1490472"/>
            <a:ext cx="2798064" cy="182880"/>
          </a:xfrm>
          <a:prstGeom prst="rect">
            <a:avLst/>
          </a:prstGeom>
          <a:solidFill>
            <a:srgbClr val="FDEAEC"/>
          </a:solidFill>
          <a:ln/>
        </p:spPr>
      </p:sp>
      <p:sp>
        <p:nvSpPr>
          <p:cNvPr id="30" name="Text 28"/>
          <p:cNvSpPr/>
          <p:nvPr/>
        </p:nvSpPr>
        <p:spPr>
          <a:xfrm>
            <a:off x="722376" y="1490472"/>
            <a:ext cx="2724912"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Total Votes</a:t>
            </a:r>
            <a:endParaRPr lang="en-US" sz="900" dirty="0"/>
          </a:p>
        </p:txBody>
      </p:sp>
      <p:sp>
        <p:nvSpPr>
          <p:cNvPr id="31" name="Shape 29"/>
          <p:cNvSpPr/>
          <p:nvPr/>
        </p:nvSpPr>
        <p:spPr>
          <a:xfrm>
            <a:off x="3520440" y="1490472"/>
            <a:ext cx="2377440" cy="182880"/>
          </a:xfrm>
          <a:prstGeom prst="rect">
            <a:avLst/>
          </a:prstGeom>
          <a:solidFill>
            <a:srgbClr val="FDEAEC"/>
          </a:solidFill>
          <a:ln/>
        </p:spPr>
      </p:sp>
      <p:sp>
        <p:nvSpPr>
          <p:cNvPr id="32" name="Text 30"/>
          <p:cNvSpPr/>
          <p:nvPr/>
        </p:nvSpPr>
        <p:spPr>
          <a:xfrm>
            <a:off x="3557016" y="1490472"/>
            <a:ext cx="2304288"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SUM([Votes])</a:t>
            </a:r>
            <a:endParaRPr lang="en-US" sz="900" dirty="0"/>
          </a:p>
        </p:txBody>
      </p:sp>
      <p:sp>
        <p:nvSpPr>
          <p:cNvPr id="33" name="Shape 31"/>
          <p:cNvSpPr/>
          <p:nvPr/>
        </p:nvSpPr>
        <p:spPr>
          <a:xfrm>
            <a:off x="5943600" y="1490472"/>
            <a:ext cx="1591056" cy="182880"/>
          </a:xfrm>
          <a:prstGeom prst="rect">
            <a:avLst/>
          </a:prstGeom>
          <a:solidFill>
            <a:srgbClr val="FDEAEC"/>
          </a:solidFill>
          <a:ln/>
        </p:spPr>
      </p:sp>
      <p:sp>
        <p:nvSpPr>
          <p:cNvPr id="34" name="Text 32"/>
          <p:cNvSpPr/>
          <p:nvPr/>
        </p:nvSpPr>
        <p:spPr>
          <a:xfrm>
            <a:off x="5980176" y="1490472"/>
            <a:ext cx="1517904"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1,498,645</a:t>
            </a:r>
            <a:endParaRPr lang="en-US" sz="900" dirty="0"/>
          </a:p>
        </p:txBody>
      </p:sp>
      <p:sp>
        <p:nvSpPr>
          <p:cNvPr id="35" name="Shape 33"/>
          <p:cNvSpPr/>
          <p:nvPr/>
        </p:nvSpPr>
        <p:spPr>
          <a:xfrm>
            <a:off x="7571232" y="1490472"/>
            <a:ext cx="1536192" cy="182880"/>
          </a:xfrm>
          <a:prstGeom prst="rect">
            <a:avLst/>
          </a:prstGeom>
          <a:solidFill>
            <a:srgbClr val="FDEAEC"/>
          </a:solidFill>
          <a:ln/>
        </p:spPr>
      </p:sp>
      <p:sp>
        <p:nvSpPr>
          <p:cNvPr id="36" name="Text 34"/>
          <p:cNvSpPr/>
          <p:nvPr/>
        </p:nvSpPr>
        <p:spPr>
          <a:xfrm>
            <a:off x="7607808" y="1490472"/>
            <a:ext cx="1463040" cy="182880"/>
          </a:xfrm>
          <a:prstGeom prst="rect">
            <a:avLst/>
          </a:prstGeom>
          <a:noFill/>
          <a:ln/>
        </p:spPr>
        <p:txBody>
          <a:bodyPr wrap="square" lIns="0" tIns="0" rIns="0" bIns="0" rtlCol="0" anchor="ctr"/>
          <a:lstStyle/>
          <a:p>
            <a:pPr marL="0" indent="0" algn="l">
              <a:buNone/>
            </a:pPr>
            <a:r>
              <a:rPr lang="en-US" sz="900" dirty="0">
                <a:solidFill>
                  <a:srgbClr val="9A4A52"/>
                </a:solidFill>
                <a:latin typeface="Calibri" pitchFamily="34" charset="0"/>
                <a:ea typeface="Calibri" pitchFamily="34" charset="-122"/>
                <a:cs typeface="Calibri" pitchFamily="34" charset="-120"/>
              </a:rPr>
              <a:t>Fact</a:t>
            </a:r>
            <a:endParaRPr lang="en-US" sz="900" dirty="0"/>
          </a:p>
        </p:txBody>
      </p:sp>
      <p:sp>
        <p:nvSpPr>
          <p:cNvPr id="37" name="Shape 35"/>
          <p:cNvSpPr/>
          <p:nvPr/>
        </p:nvSpPr>
        <p:spPr>
          <a:xfrm>
            <a:off x="256032" y="1673352"/>
            <a:ext cx="393192" cy="182880"/>
          </a:xfrm>
          <a:prstGeom prst="rect">
            <a:avLst/>
          </a:prstGeom>
          <a:solidFill>
            <a:srgbClr val="FFFFFF"/>
          </a:solidFill>
          <a:ln/>
        </p:spPr>
      </p:sp>
      <p:sp>
        <p:nvSpPr>
          <p:cNvPr id="38" name="Text 36"/>
          <p:cNvSpPr/>
          <p:nvPr/>
        </p:nvSpPr>
        <p:spPr>
          <a:xfrm>
            <a:off x="292608" y="1673352"/>
            <a:ext cx="320040" cy="182880"/>
          </a:xfrm>
          <a:prstGeom prst="rect">
            <a:avLst/>
          </a:prstGeom>
          <a:noFill/>
          <a:ln/>
        </p:spPr>
        <p:txBody>
          <a:bodyPr wrap="square" lIns="0" tIns="0" rIns="0" bIns="0" rtlCol="0" anchor="ctr"/>
          <a:lstStyle/>
          <a:p>
            <a:pPr marL="0" indent="0" algn="ctr">
              <a:buNone/>
            </a:pPr>
            <a:r>
              <a:rPr lang="en-US" sz="900" b="1" dirty="0">
                <a:solidFill>
                  <a:srgbClr val="E23744"/>
                </a:solidFill>
                <a:latin typeface="Calibri" pitchFamily="34" charset="0"/>
                <a:ea typeface="Calibri" pitchFamily="34" charset="-122"/>
                <a:cs typeface="Calibri" pitchFamily="34" charset="-120"/>
              </a:rPr>
              <a:t>3</a:t>
            </a:r>
            <a:endParaRPr lang="en-US" sz="900" dirty="0"/>
          </a:p>
        </p:txBody>
      </p:sp>
      <p:sp>
        <p:nvSpPr>
          <p:cNvPr id="39" name="Shape 37"/>
          <p:cNvSpPr/>
          <p:nvPr/>
        </p:nvSpPr>
        <p:spPr>
          <a:xfrm>
            <a:off x="685800" y="1673352"/>
            <a:ext cx="2798064" cy="182880"/>
          </a:xfrm>
          <a:prstGeom prst="rect">
            <a:avLst/>
          </a:prstGeom>
          <a:solidFill>
            <a:srgbClr val="FFFFFF"/>
          </a:solidFill>
          <a:ln/>
        </p:spPr>
      </p:sp>
      <p:sp>
        <p:nvSpPr>
          <p:cNvPr id="40" name="Text 38"/>
          <p:cNvSpPr/>
          <p:nvPr/>
        </p:nvSpPr>
        <p:spPr>
          <a:xfrm>
            <a:off x="722376" y="1673352"/>
            <a:ext cx="2724912"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Online Delivery %</a:t>
            </a:r>
            <a:endParaRPr lang="en-US" sz="900" dirty="0"/>
          </a:p>
        </p:txBody>
      </p:sp>
      <p:sp>
        <p:nvSpPr>
          <p:cNvPr id="41" name="Shape 39"/>
          <p:cNvSpPr/>
          <p:nvPr/>
        </p:nvSpPr>
        <p:spPr>
          <a:xfrm>
            <a:off x="3520440" y="1673352"/>
            <a:ext cx="2377440" cy="182880"/>
          </a:xfrm>
          <a:prstGeom prst="rect">
            <a:avLst/>
          </a:prstGeom>
          <a:solidFill>
            <a:srgbClr val="FFFFFF"/>
          </a:solidFill>
          <a:ln/>
        </p:spPr>
      </p:sp>
      <p:sp>
        <p:nvSpPr>
          <p:cNvPr id="42" name="Text 40"/>
          <p:cNvSpPr/>
          <p:nvPr/>
        </p:nvSpPr>
        <p:spPr>
          <a:xfrm>
            <a:off x="3557016" y="1673352"/>
            <a:ext cx="2304288"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FILTER + DIVIDE</a:t>
            </a:r>
            <a:endParaRPr lang="en-US" sz="900" dirty="0"/>
          </a:p>
        </p:txBody>
      </p:sp>
      <p:sp>
        <p:nvSpPr>
          <p:cNvPr id="43" name="Shape 41"/>
          <p:cNvSpPr/>
          <p:nvPr/>
        </p:nvSpPr>
        <p:spPr>
          <a:xfrm>
            <a:off x="5943600" y="1673352"/>
            <a:ext cx="1591056" cy="182880"/>
          </a:xfrm>
          <a:prstGeom prst="rect">
            <a:avLst/>
          </a:prstGeom>
          <a:solidFill>
            <a:srgbClr val="FFFFFF"/>
          </a:solidFill>
          <a:ln/>
        </p:spPr>
      </p:sp>
      <p:sp>
        <p:nvSpPr>
          <p:cNvPr id="44" name="Text 42"/>
          <p:cNvSpPr/>
          <p:nvPr/>
        </p:nvSpPr>
        <p:spPr>
          <a:xfrm>
            <a:off x="5980176" y="1673352"/>
            <a:ext cx="1517904"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25.7%</a:t>
            </a:r>
            <a:endParaRPr lang="en-US" sz="900" dirty="0"/>
          </a:p>
        </p:txBody>
      </p:sp>
      <p:sp>
        <p:nvSpPr>
          <p:cNvPr id="45" name="Shape 43"/>
          <p:cNvSpPr/>
          <p:nvPr/>
        </p:nvSpPr>
        <p:spPr>
          <a:xfrm>
            <a:off x="7571232" y="1673352"/>
            <a:ext cx="1536192" cy="182880"/>
          </a:xfrm>
          <a:prstGeom prst="rect">
            <a:avLst/>
          </a:prstGeom>
          <a:solidFill>
            <a:srgbClr val="FFFFFF"/>
          </a:solidFill>
          <a:ln/>
        </p:spPr>
      </p:sp>
      <p:sp>
        <p:nvSpPr>
          <p:cNvPr id="46" name="Text 44"/>
          <p:cNvSpPr/>
          <p:nvPr/>
        </p:nvSpPr>
        <p:spPr>
          <a:xfrm>
            <a:off x="7607808" y="1673352"/>
            <a:ext cx="1463040" cy="182880"/>
          </a:xfrm>
          <a:prstGeom prst="rect">
            <a:avLst/>
          </a:prstGeom>
          <a:noFill/>
          <a:ln/>
        </p:spPr>
        <p:txBody>
          <a:bodyPr wrap="square" lIns="0" tIns="0" rIns="0" bIns="0" rtlCol="0" anchor="ctr"/>
          <a:lstStyle/>
          <a:p>
            <a:pPr marL="0" indent="0" algn="l">
              <a:buNone/>
            </a:pPr>
            <a:r>
              <a:rPr lang="en-US" sz="900" dirty="0">
                <a:solidFill>
                  <a:srgbClr val="9A4A52"/>
                </a:solidFill>
                <a:latin typeface="Calibri" pitchFamily="34" charset="0"/>
                <a:ea typeface="Calibri" pitchFamily="34" charset="-122"/>
                <a:cs typeface="Calibri" pitchFamily="34" charset="-120"/>
              </a:rPr>
              <a:t>Fact</a:t>
            </a:r>
            <a:endParaRPr lang="en-US" sz="900" dirty="0"/>
          </a:p>
        </p:txBody>
      </p:sp>
      <p:sp>
        <p:nvSpPr>
          <p:cNvPr id="47" name="Shape 45"/>
          <p:cNvSpPr/>
          <p:nvPr/>
        </p:nvSpPr>
        <p:spPr>
          <a:xfrm>
            <a:off x="256032" y="1856232"/>
            <a:ext cx="393192" cy="182880"/>
          </a:xfrm>
          <a:prstGeom prst="rect">
            <a:avLst/>
          </a:prstGeom>
          <a:solidFill>
            <a:srgbClr val="FDEAEC"/>
          </a:solidFill>
          <a:ln/>
        </p:spPr>
      </p:sp>
      <p:sp>
        <p:nvSpPr>
          <p:cNvPr id="48" name="Text 46"/>
          <p:cNvSpPr/>
          <p:nvPr/>
        </p:nvSpPr>
        <p:spPr>
          <a:xfrm>
            <a:off x="292608" y="1856232"/>
            <a:ext cx="320040" cy="182880"/>
          </a:xfrm>
          <a:prstGeom prst="rect">
            <a:avLst/>
          </a:prstGeom>
          <a:noFill/>
          <a:ln/>
        </p:spPr>
        <p:txBody>
          <a:bodyPr wrap="square" lIns="0" tIns="0" rIns="0" bIns="0" rtlCol="0" anchor="ctr"/>
          <a:lstStyle/>
          <a:p>
            <a:pPr marL="0" indent="0" algn="ctr">
              <a:buNone/>
            </a:pPr>
            <a:r>
              <a:rPr lang="en-US" sz="900" b="1" dirty="0">
                <a:solidFill>
                  <a:srgbClr val="E23744"/>
                </a:solidFill>
                <a:latin typeface="Calibri" pitchFamily="34" charset="0"/>
                <a:ea typeface="Calibri" pitchFamily="34" charset="-122"/>
                <a:cs typeface="Calibri" pitchFamily="34" charset="-120"/>
              </a:rPr>
              <a:t>4</a:t>
            </a:r>
            <a:endParaRPr lang="en-US" sz="900" dirty="0"/>
          </a:p>
        </p:txBody>
      </p:sp>
      <p:sp>
        <p:nvSpPr>
          <p:cNvPr id="49" name="Shape 47"/>
          <p:cNvSpPr/>
          <p:nvPr/>
        </p:nvSpPr>
        <p:spPr>
          <a:xfrm>
            <a:off x="685800" y="1856232"/>
            <a:ext cx="2798064" cy="182880"/>
          </a:xfrm>
          <a:prstGeom prst="rect">
            <a:avLst/>
          </a:prstGeom>
          <a:solidFill>
            <a:srgbClr val="FDEAEC"/>
          </a:solidFill>
          <a:ln/>
        </p:spPr>
      </p:sp>
      <p:sp>
        <p:nvSpPr>
          <p:cNvPr id="50" name="Text 48"/>
          <p:cNvSpPr/>
          <p:nvPr/>
        </p:nvSpPr>
        <p:spPr>
          <a:xfrm>
            <a:off x="722376" y="1856232"/>
            <a:ext cx="2724912"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Table Booking %</a:t>
            </a:r>
            <a:endParaRPr lang="en-US" sz="900" dirty="0"/>
          </a:p>
        </p:txBody>
      </p:sp>
      <p:sp>
        <p:nvSpPr>
          <p:cNvPr id="51" name="Shape 49"/>
          <p:cNvSpPr/>
          <p:nvPr/>
        </p:nvSpPr>
        <p:spPr>
          <a:xfrm>
            <a:off x="3520440" y="1856232"/>
            <a:ext cx="2377440" cy="182880"/>
          </a:xfrm>
          <a:prstGeom prst="rect">
            <a:avLst/>
          </a:prstGeom>
          <a:solidFill>
            <a:srgbClr val="FDEAEC"/>
          </a:solidFill>
          <a:ln/>
        </p:spPr>
      </p:sp>
      <p:sp>
        <p:nvSpPr>
          <p:cNvPr id="52" name="Text 50"/>
          <p:cNvSpPr/>
          <p:nvPr/>
        </p:nvSpPr>
        <p:spPr>
          <a:xfrm>
            <a:off x="3557016" y="1856232"/>
            <a:ext cx="2304288"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FILTER + DIVIDE</a:t>
            </a:r>
            <a:endParaRPr lang="en-US" sz="900" dirty="0"/>
          </a:p>
        </p:txBody>
      </p:sp>
      <p:sp>
        <p:nvSpPr>
          <p:cNvPr id="53" name="Shape 51"/>
          <p:cNvSpPr/>
          <p:nvPr/>
        </p:nvSpPr>
        <p:spPr>
          <a:xfrm>
            <a:off x="5943600" y="1856232"/>
            <a:ext cx="1591056" cy="182880"/>
          </a:xfrm>
          <a:prstGeom prst="rect">
            <a:avLst/>
          </a:prstGeom>
          <a:solidFill>
            <a:srgbClr val="FDEAEC"/>
          </a:solidFill>
          <a:ln/>
        </p:spPr>
      </p:sp>
      <p:sp>
        <p:nvSpPr>
          <p:cNvPr id="54" name="Text 52"/>
          <p:cNvSpPr/>
          <p:nvPr/>
        </p:nvSpPr>
        <p:spPr>
          <a:xfrm>
            <a:off x="5980176" y="1856232"/>
            <a:ext cx="1517904"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12.1%</a:t>
            </a:r>
            <a:endParaRPr lang="en-US" sz="900" dirty="0"/>
          </a:p>
        </p:txBody>
      </p:sp>
      <p:sp>
        <p:nvSpPr>
          <p:cNvPr id="55" name="Shape 53"/>
          <p:cNvSpPr/>
          <p:nvPr/>
        </p:nvSpPr>
        <p:spPr>
          <a:xfrm>
            <a:off x="7571232" y="1856232"/>
            <a:ext cx="1536192" cy="182880"/>
          </a:xfrm>
          <a:prstGeom prst="rect">
            <a:avLst/>
          </a:prstGeom>
          <a:solidFill>
            <a:srgbClr val="FDEAEC"/>
          </a:solidFill>
          <a:ln/>
        </p:spPr>
      </p:sp>
      <p:sp>
        <p:nvSpPr>
          <p:cNvPr id="56" name="Text 54"/>
          <p:cNvSpPr/>
          <p:nvPr/>
        </p:nvSpPr>
        <p:spPr>
          <a:xfrm>
            <a:off x="7607808" y="1856232"/>
            <a:ext cx="1463040" cy="182880"/>
          </a:xfrm>
          <a:prstGeom prst="rect">
            <a:avLst/>
          </a:prstGeom>
          <a:noFill/>
          <a:ln/>
        </p:spPr>
        <p:txBody>
          <a:bodyPr wrap="square" lIns="0" tIns="0" rIns="0" bIns="0" rtlCol="0" anchor="ctr"/>
          <a:lstStyle/>
          <a:p>
            <a:pPr marL="0" indent="0" algn="l">
              <a:buNone/>
            </a:pPr>
            <a:r>
              <a:rPr lang="en-US" sz="900" dirty="0">
                <a:solidFill>
                  <a:srgbClr val="9A4A52"/>
                </a:solidFill>
                <a:latin typeface="Calibri" pitchFamily="34" charset="0"/>
                <a:ea typeface="Calibri" pitchFamily="34" charset="-122"/>
                <a:cs typeface="Calibri" pitchFamily="34" charset="-120"/>
              </a:rPr>
              <a:t>Fact</a:t>
            </a:r>
            <a:endParaRPr lang="en-US" sz="900" dirty="0"/>
          </a:p>
        </p:txBody>
      </p:sp>
      <p:sp>
        <p:nvSpPr>
          <p:cNvPr id="57" name="Shape 55"/>
          <p:cNvSpPr/>
          <p:nvPr/>
        </p:nvSpPr>
        <p:spPr>
          <a:xfrm>
            <a:off x="256032" y="2039112"/>
            <a:ext cx="393192" cy="182880"/>
          </a:xfrm>
          <a:prstGeom prst="rect">
            <a:avLst/>
          </a:prstGeom>
          <a:solidFill>
            <a:srgbClr val="FFFFFF"/>
          </a:solidFill>
          <a:ln/>
        </p:spPr>
      </p:sp>
      <p:sp>
        <p:nvSpPr>
          <p:cNvPr id="58" name="Text 56"/>
          <p:cNvSpPr/>
          <p:nvPr/>
        </p:nvSpPr>
        <p:spPr>
          <a:xfrm>
            <a:off x="292608" y="2039112"/>
            <a:ext cx="320040" cy="182880"/>
          </a:xfrm>
          <a:prstGeom prst="rect">
            <a:avLst/>
          </a:prstGeom>
          <a:noFill/>
          <a:ln/>
        </p:spPr>
        <p:txBody>
          <a:bodyPr wrap="square" lIns="0" tIns="0" rIns="0" bIns="0" rtlCol="0" anchor="ctr"/>
          <a:lstStyle/>
          <a:p>
            <a:pPr marL="0" indent="0" algn="ctr">
              <a:buNone/>
            </a:pPr>
            <a:r>
              <a:rPr lang="en-US" sz="900" b="1" dirty="0">
                <a:solidFill>
                  <a:srgbClr val="E23744"/>
                </a:solidFill>
                <a:latin typeface="Calibri" pitchFamily="34" charset="0"/>
                <a:ea typeface="Calibri" pitchFamily="34" charset="-122"/>
                <a:cs typeface="Calibri" pitchFamily="34" charset="-120"/>
              </a:rPr>
              <a:t>5</a:t>
            </a:r>
            <a:endParaRPr lang="en-US" sz="900" dirty="0"/>
          </a:p>
        </p:txBody>
      </p:sp>
      <p:sp>
        <p:nvSpPr>
          <p:cNvPr id="59" name="Shape 57"/>
          <p:cNvSpPr/>
          <p:nvPr/>
        </p:nvSpPr>
        <p:spPr>
          <a:xfrm>
            <a:off x="685800" y="2039112"/>
            <a:ext cx="2798064" cy="182880"/>
          </a:xfrm>
          <a:prstGeom prst="rect">
            <a:avLst/>
          </a:prstGeom>
          <a:solidFill>
            <a:srgbClr val="FFFFFF"/>
          </a:solidFill>
          <a:ln/>
        </p:spPr>
      </p:sp>
      <p:sp>
        <p:nvSpPr>
          <p:cNvPr id="60" name="Text 58"/>
          <p:cNvSpPr/>
          <p:nvPr/>
        </p:nvSpPr>
        <p:spPr>
          <a:xfrm>
            <a:off x="722376" y="2039112"/>
            <a:ext cx="2724912"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Weighted Avg Rating</a:t>
            </a:r>
            <a:endParaRPr lang="en-US" sz="900" dirty="0"/>
          </a:p>
        </p:txBody>
      </p:sp>
      <p:sp>
        <p:nvSpPr>
          <p:cNvPr id="61" name="Shape 59"/>
          <p:cNvSpPr/>
          <p:nvPr/>
        </p:nvSpPr>
        <p:spPr>
          <a:xfrm>
            <a:off x="3520440" y="2039112"/>
            <a:ext cx="2377440" cy="182880"/>
          </a:xfrm>
          <a:prstGeom prst="rect">
            <a:avLst/>
          </a:prstGeom>
          <a:solidFill>
            <a:srgbClr val="FFFFFF"/>
          </a:solidFill>
          <a:ln/>
        </p:spPr>
      </p:sp>
      <p:sp>
        <p:nvSpPr>
          <p:cNvPr id="62" name="Text 60"/>
          <p:cNvSpPr/>
          <p:nvPr/>
        </p:nvSpPr>
        <p:spPr>
          <a:xfrm>
            <a:off x="3557016" y="2039112"/>
            <a:ext cx="2304288"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CALCULATE + AVERAGE &gt; 0</a:t>
            </a:r>
            <a:endParaRPr lang="en-US" sz="900" dirty="0"/>
          </a:p>
        </p:txBody>
      </p:sp>
      <p:sp>
        <p:nvSpPr>
          <p:cNvPr id="63" name="Shape 61"/>
          <p:cNvSpPr/>
          <p:nvPr/>
        </p:nvSpPr>
        <p:spPr>
          <a:xfrm>
            <a:off x="5943600" y="2039112"/>
            <a:ext cx="1591056" cy="182880"/>
          </a:xfrm>
          <a:prstGeom prst="rect">
            <a:avLst/>
          </a:prstGeom>
          <a:solidFill>
            <a:srgbClr val="FFFFFF"/>
          </a:solidFill>
          <a:ln/>
        </p:spPr>
      </p:sp>
      <p:sp>
        <p:nvSpPr>
          <p:cNvPr id="64" name="Text 62"/>
          <p:cNvSpPr/>
          <p:nvPr/>
        </p:nvSpPr>
        <p:spPr>
          <a:xfrm>
            <a:off x="5980176" y="2039112"/>
            <a:ext cx="1517904"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3.44</a:t>
            </a:r>
            <a:endParaRPr lang="en-US" sz="900" dirty="0"/>
          </a:p>
        </p:txBody>
      </p:sp>
      <p:sp>
        <p:nvSpPr>
          <p:cNvPr id="65" name="Shape 63"/>
          <p:cNvSpPr/>
          <p:nvPr/>
        </p:nvSpPr>
        <p:spPr>
          <a:xfrm>
            <a:off x="7571232" y="2039112"/>
            <a:ext cx="1536192" cy="182880"/>
          </a:xfrm>
          <a:prstGeom prst="rect">
            <a:avLst/>
          </a:prstGeom>
          <a:solidFill>
            <a:srgbClr val="FFFFFF"/>
          </a:solidFill>
          <a:ln/>
        </p:spPr>
      </p:sp>
      <p:sp>
        <p:nvSpPr>
          <p:cNvPr id="66" name="Text 64"/>
          <p:cNvSpPr/>
          <p:nvPr/>
        </p:nvSpPr>
        <p:spPr>
          <a:xfrm>
            <a:off x="7607808" y="2039112"/>
            <a:ext cx="1463040" cy="182880"/>
          </a:xfrm>
          <a:prstGeom prst="rect">
            <a:avLst/>
          </a:prstGeom>
          <a:noFill/>
          <a:ln/>
        </p:spPr>
        <p:txBody>
          <a:bodyPr wrap="square" lIns="0" tIns="0" rIns="0" bIns="0" rtlCol="0" anchor="ctr"/>
          <a:lstStyle/>
          <a:p>
            <a:pPr marL="0" indent="0" algn="l">
              <a:buNone/>
            </a:pPr>
            <a:r>
              <a:rPr lang="en-US" sz="900" dirty="0">
                <a:solidFill>
                  <a:srgbClr val="9A4A52"/>
                </a:solidFill>
                <a:latin typeface="Calibri" pitchFamily="34" charset="0"/>
                <a:ea typeface="Calibri" pitchFamily="34" charset="-122"/>
                <a:cs typeface="Calibri" pitchFamily="34" charset="-120"/>
              </a:rPr>
              <a:t>Fact</a:t>
            </a:r>
            <a:endParaRPr lang="en-US" sz="900" dirty="0"/>
          </a:p>
        </p:txBody>
      </p:sp>
      <p:sp>
        <p:nvSpPr>
          <p:cNvPr id="67" name="Shape 65"/>
          <p:cNvSpPr/>
          <p:nvPr/>
        </p:nvSpPr>
        <p:spPr>
          <a:xfrm>
            <a:off x="256032" y="2221992"/>
            <a:ext cx="393192" cy="182880"/>
          </a:xfrm>
          <a:prstGeom prst="rect">
            <a:avLst/>
          </a:prstGeom>
          <a:solidFill>
            <a:srgbClr val="FDEAEC"/>
          </a:solidFill>
          <a:ln/>
        </p:spPr>
      </p:sp>
      <p:sp>
        <p:nvSpPr>
          <p:cNvPr id="68" name="Text 66"/>
          <p:cNvSpPr/>
          <p:nvPr/>
        </p:nvSpPr>
        <p:spPr>
          <a:xfrm>
            <a:off x="292608" y="2221992"/>
            <a:ext cx="320040" cy="182880"/>
          </a:xfrm>
          <a:prstGeom prst="rect">
            <a:avLst/>
          </a:prstGeom>
          <a:noFill/>
          <a:ln/>
        </p:spPr>
        <p:txBody>
          <a:bodyPr wrap="square" lIns="0" tIns="0" rIns="0" bIns="0" rtlCol="0" anchor="ctr"/>
          <a:lstStyle/>
          <a:p>
            <a:pPr marL="0" indent="0" algn="ctr">
              <a:buNone/>
            </a:pPr>
            <a:r>
              <a:rPr lang="en-US" sz="900" b="1" dirty="0">
                <a:solidFill>
                  <a:srgbClr val="E23744"/>
                </a:solidFill>
                <a:latin typeface="Calibri" pitchFamily="34" charset="0"/>
                <a:ea typeface="Calibri" pitchFamily="34" charset="-122"/>
                <a:cs typeface="Calibri" pitchFamily="34" charset="-120"/>
              </a:rPr>
              <a:t>6</a:t>
            </a:r>
            <a:endParaRPr lang="en-US" sz="900" dirty="0"/>
          </a:p>
        </p:txBody>
      </p:sp>
      <p:sp>
        <p:nvSpPr>
          <p:cNvPr id="69" name="Shape 67"/>
          <p:cNvSpPr/>
          <p:nvPr/>
        </p:nvSpPr>
        <p:spPr>
          <a:xfrm>
            <a:off x="685800" y="2221992"/>
            <a:ext cx="2798064" cy="182880"/>
          </a:xfrm>
          <a:prstGeom prst="rect">
            <a:avLst/>
          </a:prstGeom>
          <a:solidFill>
            <a:srgbClr val="FDEAEC"/>
          </a:solidFill>
          <a:ln/>
        </p:spPr>
      </p:sp>
      <p:sp>
        <p:nvSpPr>
          <p:cNvPr id="70" name="Text 68"/>
          <p:cNvSpPr/>
          <p:nvPr/>
        </p:nvSpPr>
        <p:spPr>
          <a:xfrm>
            <a:off x="722376" y="2221992"/>
            <a:ext cx="2724912"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Avg Cost Cleaned</a:t>
            </a:r>
            <a:endParaRPr lang="en-US" sz="900" dirty="0"/>
          </a:p>
        </p:txBody>
      </p:sp>
      <p:sp>
        <p:nvSpPr>
          <p:cNvPr id="71" name="Shape 69"/>
          <p:cNvSpPr/>
          <p:nvPr/>
        </p:nvSpPr>
        <p:spPr>
          <a:xfrm>
            <a:off x="3520440" y="2221992"/>
            <a:ext cx="2377440" cy="182880"/>
          </a:xfrm>
          <a:prstGeom prst="rect">
            <a:avLst/>
          </a:prstGeom>
          <a:solidFill>
            <a:srgbClr val="FDEAEC"/>
          </a:solidFill>
          <a:ln/>
        </p:spPr>
      </p:sp>
      <p:sp>
        <p:nvSpPr>
          <p:cNvPr id="72" name="Text 70"/>
          <p:cNvSpPr/>
          <p:nvPr/>
        </p:nvSpPr>
        <p:spPr>
          <a:xfrm>
            <a:off x="3557016" y="2221992"/>
            <a:ext cx="2304288"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CALCULATE + AVERAGE (filtered)</a:t>
            </a:r>
            <a:endParaRPr lang="en-US" sz="900" dirty="0"/>
          </a:p>
        </p:txBody>
      </p:sp>
      <p:sp>
        <p:nvSpPr>
          <p:cNvPr id="73" name="Shape 71"/>
          <p:cNvSpPr/>
          <p:nvPr/>
        </p:nvSpPr>
        <p:spPr>
          <a:xfrm>
            <a:off x="5943600" y="2221992"/>
            <a:ext cx="1591056" cy="182880"/>
          </a:xfrm>
          <a:prstGeom prst="rect">
            <a:avLst/>
          </a:prstGeom>
          <a:solidFill>
            <a:srgbClr val="FDEAEC"/>
          </a:solidFill>
          <a:ln/>
        </p:spPr>
      </p:sp>
      <p:sp>
        <p:nvSpPr>
          <p:cNvPr id="74" name="Text 72"/>
          <p:cNvSpPr/>
          <p:nvPr/>
        </p:nvSpPr>
        <p:spPr>
          <a:xfrm>
            <a:off x="5980176" y="2221992"/>
            <a:ext cx="1517904"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₹583</a:t>
            </a:r>
            <a:endParaRPr lang="en-US" sz="900" dirty="0"/>
          </a:p>
        </p:txBody>
      </p:sp>
      <p:sp>
        <p:nvSpPr>
          <p:cNvPr id="75" name="Shape 73"/>
          <p:cNvSpPr/>
          <p:nvPr/>
        </p:nvSpPr>
        <p:spPr>
          <a:xfrm>
            <a:off x="7571232" y="2221992"/>
            <a:ext cx="1536192" cy="182880"/>
          </a:xfrm>
          <a:prstGeom prst="rect">
            <a:avLst/>
          </a:prstGeom>
          <a:solidFill>
            <a:srgbClr val="FDEAEC"/>
          </a:solidFill>
          <a:ln/>
        </p:spPr>
      </p:sp>
      <p:sp>
        <p:nvSpPr>
          <p:cNvPr id="76" name="Text 74"/>
          <p:cNvSpPr/>
          <p:nvPr/>
        </p:nvSpPr>
        <p:spPr>
          <a:xfrm>
            <a:off x="7607808" y="2221992"/>
            <a:ext cx="1463040" cy="182880"/>
          </a:xfrm>
          <a:prstGeom prst="rect">
            <a:avLst/>
          </a:prstGeom>
          <a:noFill/>
          <a:ln/>
        </p:spPr>
        <p:txBody>
          <a:bodyPr wrap="square" lIns="0" tIns="0" rIns="0" bIns="0" rtlCol="0" anchor="ctr"/>
          <a:lstStyle/>
          <a:p>
            <a:pPr marL="0" indent="0" algn="l">
              <a:buNone/>
            </a:pPr>
            <a:r>
              <a:rPr lang="en-US" sz="900" dirty="0">
                <a:solidFill>
                  <a:srgbClr val="9A4A52"/>
                </a:solidFill>
                <a:latin typeface="Calibri" pitchFamily="34" charset="0"/>
                <a:ea typeface="Calibri" pitchFamily="34" charset="-122"/>
                <a:cs typeface="Calibri" pitchFamily="34" charset="-120"/>
              </a:rPr>
              <a:t>Fact</a:t>
            </a:r>
            <a:endParaRPr lang="en-US" sz="900" dirty="0"/>
          </a:p>
        </p:txBody>
      </p:sp>
      <p:sp>
        <p:nvSpPr>
          <p:cNvPr id="77" name="Shape 75"/>
          <p:cNvSpPr/>
          <p:nvPr/>
        </p:nvSpPr>
        <p:spPr>
          <a:xfrm>
            <a:off x="256032" y="2404872"/>
            <a:ext cx="393192" cy="182880"/>
          </a:xfrm>
          <a:prstGeom prst="rect">
            <a:avLst/>
          </a:prstGeom>
          <a:solidFill>
            <a:srgbClr val="FFFFFF"/>
          </a:solidFill>
          <a:ln/>
        </p:spPr>
      </p:sp>
      <p:sp>
        <p:nvSpPr>
          <p:cNvPr id="78" name="Text 76"/>
          <p:cNvSpPr/>
          <p:nvPr/>
        </p:nvSpPr>
        <p:spPr>
          <a:xfrm>
            <a:off x="292608" y="2404872"/>
            <a:ext cx="320040" cy="182880"/>
          </a:xfrm>
          <a:prstGeom prst="rect">
            <a:avLst/>
          </a:prstGeom>
          <a:noFill/>
          <a:ln/>
        </p:spPr>
        <p:txBody>
          <a:bodyPr wrap="square" lIns="0" tIns="0" rIns="0" bIns="0" rtlCol="0" anchor="ctr"/>
          <a:lstStyle/>
          <a:p>
            <a:pPr marL="0" indent="0" algn="ctr">
              <a:buNone/>
            </a:pPr>
            <a:r>
              <a:rPr lang="en-US" sz="900" b="1" dirty="0">
                <a:solidFill>
                  <a:srgbClr val="E23744"/>
                </a:solidFill>
                <a:latin typeface="Calibri" pitchFamily="34" charset="0"/>
                <a:ea typeface="Calibri" pitchFamily="34" charset="-122"/>
                <a:cs typeface="Calibri" pitchFamily="34" charset="-120"/>
              </a:rPr>
              <a:t>7</a:t>
            </a:r>
            <a:endParaRPr lang="en-US" sz="900" dirty="0"/>
          </a:p>
        </p:txBody>
      </p:sp>
      <p:sp>
        <p:nvSpPr>
          <p:cNvPr id="79" name="Shape 77"/>
          <p:cNvSpPr/>
          <p:nvPr/>
        </p:nvSpPr>
        <p:spPr>
          <a:xfrm>
            <a:off x="685800" y="2404872"/>
            <a:ext cx="2798064" cy="182880"/>
          </a:xfrm>
          <a:prstGeom prst="rect">
            <a:avLst/>
          </a:prstGeom>
          <a:solidFill>
            <a:srgbClr val="FFFFFF"/>
          </a:solidFill>
          <a:ln/>
        </p:spPr>
      </p:sp>
      <p:sp>
        <p:nvSpPr>
          <p:cNvPr id="80" name="Text 78"/>
          <p:cNvSpPr/>
          <p:nvPr/>
        </p:nvSpPr>
        <p:spPr>
          <a:xfrm>
            <a:off x="722376" y="2404872"/>
            <a:ext cx="2724912"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Excellent %</a:t>
            </a:r>
            <a:endParaRPr lang="en-US" sz="900" dirty="0"/>
          </a:p>
        </p:txBody>
      </p:sp>
      <p:sp>
        <p:nvSpPr>
          <p:cNvPr id="81" name="Shape 79"/>
          <p:cNvSpPr/>
          <p:nvPr/>
        </p:nvSpPr>
        <p:spPr>
          <a:xfrm>
            <a:off x="3520440" y="2404872"/>
            <a:ext cx="2377440" cy="182880"/>
          </a:xfrm>
          <a:prstGeom prst="rect">
            <a:avLst/>
          </a:prstGeom>
          <a:solidFill>
            <a:srgbClr val="FFFFFF"/>
          </a:solidFill>
          <a:ln/>
        </p:spPr>
      </p:sp>
      <p:sp>
        <p:nvSpPr>
          <p:cNvPr id="82" name="Text 80"/>
          <p:cNvSpPr/>
          <p:nvPr/>
        </p:nvSpPr>
        <p:spPr>
          <a:xfrm>
            <a:off x="3557016" y="2404872"/>
            <a:ext cx="2304288"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FILTER Rating Text + DIVIDE</a:t>
            </a:r>
            <a:endParaRPr lang="en-US" sz="900" dirty="0"/>
          </a:p>
        </p:txBody>
      </p:sp>
      <p:sp>
        <p:nvSpPr>
          <p:cNvPr id="83" name="Shape 81"/>
          <p:cNvSpPr/>
          <p:nvPr/>
        </p:nvSpPr>
        <p:spPr>
          <a:xfrm>
            <a:off x="5943600" y="2404872"/>
            <a:ext cx="1591056" cy="182880"/>
          </a:xfrm>
          <a:prstGeom prst="rect">
            <a:avLst/>
          </a:prstGeom>
          <a:solidFill>
            <a:srgbClr val="FFFFFF"/>
          </a:solidFill>
          <a:ln/>
        </p:spPr>
      </p:sp>
      <p:sp>
        <p:nvSpPr>
          <p:cNvPr id="84" name="Text 82"/>
          <p:cNvSpPr/>
          <p:nvPr/>
        </p:nvSpPr>
        <p:spPr>
          <a:xfrm>
            <a:off x="5980176" y="2404872"/>
            <a:ext cx="1517904"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3.15%</a:t>
            </a:r>
            <a:endParaRPr lang="en-US" sz="900" dirty="0"/>
          </a:p>
        </p:txBody>
      </p:sp>
      <p:sp>
        <p:nvSpPr>
          <p:cNvPr id="85" name="Shape 83"/>
          <p:cNvSpPr/>
          <p:nvPr/>
        </p:nvSpPr>
        <p:spPr>
          <a:xfrm>
            <a:off x="7571232" y="2404872"/>
            <a:ext cx="1536192" cy="182880"/>
          </a:xfrm>
          <a:prstGeom prst="rect">
            <a:avLst/>
          </a:prstGeom>
          <a:solidFill>
            <a:srgbClr val="FFFFFF"/>
          </a:solidFill>
          <a:ln/>
        </p:spPr>
      </p:sp>
      <p:sp>
        <p:nvSpPr>
          <p:cNvPr id="86" name="Text 84"/>
          <p:cNvSpPr/>
          <p:nvPr/>
        </p:nvSpPr>
        <p:spPr>
          <a:xfrm>
            <a:off x="7607808" y="2404872"/>
            <a:ext cx="1463040" cy="182880"/>
          </a:xfrm>
          <a:prstGeom prst="rect">
            <a:avLst/>
          </a:prstGeom>
          <a:noFill/>
          <a:ln/>
        </p:spPr>
        <p:txBody>
          <a:bodyPr wrap="square" lIns="0" tIns="0" rIns="0" bIns="0" rtlCol="0" anchor="ctr"/>
          <a:lstStyle/>
          <a:p>
            <a:pPr marL="0" indent="0" algn="l">
              <a:buNone/>
            </a:pPr>
            <a:r>
              <a:rPr lang="en-US" sz="900" dirty="0">
                <a:solidFill>
                  <a:srgbClr val="9A4A52"/>
                </a:solidFill>
                <a:latin typeface="Calibri" pitchFamily="34" charset="0"/>
                <a:ea typeface="Calibri" pitchFamily="34" charset="-122"/>
                <a:cs typeface="Calibri" pitchFamily="34" charset="-120"/>
              </a:rPr>
              <a:t>Fact</a:t>
            </a:r>
            <a:endParaRPr lang="en-US" sz="900" dirty="0"/>
          </a:p>
        </p:txBody>
      </p:sp>
      <p:sp>
        <p:nvSpPr>
          <p:cNvPr id="87" name="Shape 85"/>
          <p:cNvSpPr/>
          <p:nvPr/>
        </p:nvSpPr>
        <p:spPr>
          <a:xfrm>
            <a:off x="256032" y="2587752"/>
            <a:ext cx="393192" cy="182880"/>
          </a:xfrm>
          <a:prstGeom prst="rect">
            <a:avLst/>
          </a:prstGeom>
          <a:solidFill>
            <a:srgbClr val="FDEAEC"/>
          </a:solidFill>
          <a:ln/>
        </p:spPr>
      </p:sp>
      <p:sp>
        <p:nvSpPr>
          <p:cNvPr id="88" name="Text 86"/>
          <p:cNvSpPr/>
          <p:nvPr/>
        </p:nvSpPr>
        <p:spPr>
          <a:xfrm>
            <a:off x="292608" y="2587752"/>
            <a:ext cx="320040" cy="182880"/>
          </a:xfrm>
          <a:prstGeom prst="rect">
            <a:avLst/>
          </a:prstGeom>
          <a:noFill/>
          <a:ln/>
        </p:spPr>
        <p:txBody>
          <a:bodyPr wrap="square" lIns="0" tIns="0" rIns="0" bIns="0" rtlCol="0" anchor="ctr"/>
          <a:lstStyle/>
          <a:p>
            <a:pPr marL="0" indent="0" algn="ctr">
              <a:buNone/>
            </a:pPr>
            <a:r>
              <a:rPr lang="en-US" sz="900" b="1" dirty="0">
                <a:solidFill>
                  <a:srgbClr val="E23744"/>
                </a:solidFill>
                <a:latin typeface="Calibri" pitchFamily="34" charset="0"/>
                <a:ea typeface="Calibri" pitchFamily="34" charset="-122"/>
                <a:cs typeface="Calibri" pitchFamily="34" charset="-120"/>
              </a:rPr>
              <a:t>8</a:t>
            </a:r>
            <a:endParaRPr lang="en-US" sz="900" dirty="0"/>
          </a:p>
        </p:txBody>
      </p:sp>
      <p:sp>
        <p:nvSpPr>
          <p:cNvPr id="89" name="Shape 87"/>
          <p:cNvSpPr/>
          <p:nvPr/>
        </p:nvSpPr>
        <p:spPr>
          <a:xfrm>
            <a:off x="685800" y="2587752"/>
            <a:ext cx="2798064" cy="182880"/>
          </a:xfrm>
          <a:prstGeom prst="rect">
            <a:avLst/>
          </a:prstGeom>
          <a:solidFill>
            <a:srgbClr val="FDEAEC"/>
          </a:solidFill>
          <a:ln/>
        </p:spPr>
      </p:sp>
      <p:sp>
        <p:nvSpPr>
          <p:cNvPr id="90" name="Text 88"/>
          <p:cNvSpPr/>
          <p:nvPr/>
        </p:nvSpPr>
        <p:spPr>
          <a:xfrm>
            <a:off x="722376" y="2587752"/>
            <a:ext cx="2724912"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High Performer %</a:t>
            </a:r>
            <a:endParaRPr lang="en-US" sz="900" dirty="0"/>
          </a:p>
        </p:txBody>
      </p:sp>
      <p:sp>
        <p:nvSpPr>
          <p:cNvPr id="91" name="Shape 89"/>
          <p:cNvSpPr/>
          <p:nvPr/>
        </p:nvSpPr>
        <p:spPr>
          <a:xfrm>
            <a:off x="3520440" y="2587752"/>
            <a:ext cx="2377440" cy="182880"/>
          </a:xfrm>
          <a:prstGeom prst="rect">
            <a:avLst/>
          </a:prstGeom>
          <a:solidFill>
            <a:srgbClr val="FDEAEC"/>
          </a:solidFill>
          <a:ln/>
        </p:spPr>
      </p:sp>
      <p:sp>
        <p:nvSpPr>
          <p:cNvPr id="92" name="Text 90"/>
          <p:cNvSpPr/>
          <p:nvPr/>
        </p:nvSpPr>
        <p:spPr>
          <a:xfrm>
            <a:off x="3557016" y="2587752"/>
            <a:ext cx="2304288"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FILTER Rating &gt;= 4 + DIVIDE</a:t>
            </a:r>
            <a:endParaRPr lang="en-US" sz="900" dirty="0"/>
          </a:p>
        </p:txBody>
      </p:sp>
      <p:sp>
        <p:nvSpPr>
          <p:cNvPr id="93" name="Shape 91"/>
          <p:cNvSpPr/>
          <p:nvPr/>
        </p:nvSpPr>
        <p:spPr>
          <a:xfrm>
            <a:off x="5943600" y="2587752"/>
            <a:ext cx="1591056" cy="182880"/>
          </a:xfrm>
          <a:prstGeom prst="rect">
            <a:avLst/>
          </a:prstGeom>
          <a:solidFill>
            <a:srgbClr val="FDEAEC"/>
          </a:solidFill>
          <a:ln/>
        </p:spPr>
      </p:sp>
      <p:sp>
        <p:nvSpPr>
          <p:cNvPr id="94" name="Text 92"/>
          <p:cNvSpPr/>
          <p:nvPr/>
        </p:nvSpPr>
        <p:spPr>
          <a:xfrm>
            <a:off x="5980176" y="2587752"/>
            <a:ext cx="1517904"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varies</a:t>
            </a:r>
            <a:endParaRPr lang="en-US" sz="900" dirty="0"/>
          </a:p>
        </p:txBody>
      </p:sp>
      <p:sp>
        <p:nvSpPr>
          <p:cNvPr id="95" name="Shape 93"/>
          <p:cNvSpPr/>
          <p:nvPr/>
        </p:nvSpPr>
        <p:spPr>
          <a:xfrm>
            <a:off x="7571232" y="2587752"/>
            <a:ext cx="1536192" cy="182880"/>
          </a:xfrm>
          <a:prstGeom prst="rect">
            <a:avLst/>
          </a:prstGeom>
          <a:solidFill>
            <a:srgbClr val="FDEAEC"/>
          </a:solidFill>
          <a:ln/>
        </p:spPr>
      </p:sp>
      <p:sp>
        <p:nvSpPr>
          <p:cNvPr id="96" name="Text 94"/>
          <p:cNvSpPr/>
          <p:nvPr/>
        </p:nvSpPr>
        <p:spPr>
          <a:xfrm>
            <a:off x="7607808" y="2587752"/>
            <a:ext cx="1463040" cy="182880"/>
          </a:xfrm>
          <a:prstGeom prst="rect">
            <a:avLst/>
          </a:prstGeom>
          <a:noFill/>
          <a:ln/>
        </p:spPr>
        <p:txBody>
          <a:bodyPr wrap="square" lIns="0" tIns="0" rIns="0" bIns="0" rtlCol="0" anchor="ctr"/>
          <a:lstStyle/>
          <a:p>
            <a:pPr marL="0" indent="0" algn="l">
              <a:buNone/>
            </a:pPr>
            <a:r>
              <a:rPr lang="en-US" sz="900" dirty="0">
                <a:solidFill>
                  <a:srgbClr val="9A4A52"/>
                </a:solidFill>
                <a:latin typeface="Calibri" pitchFamily="34" charset="0"/>
                <a:ea typeface="Calibri" pitchFamily="34" charset="-122"/>
                <a:cs typeface="Calibri" pitchFamily="34" charset="-120"/>
              </a:rPr>
              <a:t>Fact</a:t>
            </a:r>
            <a:endParaRPr lang="en-US" sz="900" dirty="0"/>
          </a:p>
        </p:txBody>
      </p:sp>
      <p:sp>
        <p:nvSpPr>
          <p:cNvPr id="97" name="Shape 95"/>
          <p:cNvSpPr/>
          <p:nvPr/>
        </p:nvSpPr>
        <p:spPr>
          <a:xfrm>
            <a:off x="256032" y="2770632"/>
            <a:ext cx="393192" cy="182880"/>
          </a:xfrm>
          <a:prstGeom prst="rect">
            <a:avLst/>
          </a:prstGeom>
          <a:solidFill>
            <a:srgbClr val="FFFFFF"/>
          </a:solidFill>
          <a:ln/>
        </p:spPr>
      </p:sp>
      <p:sp>
        <p:nvSpPr>
          <p:cNvPr id="98" name="Text 96"/>
          <p:cNvSpPr/>
          <p:nvPr/>
        </p:nvSpPr>
        <p:spPr>
          <a:xfrm>
            <a:off x="292608" y="2770632"/>
            <a:ext cx="320040" cy="182880"/>
          </a:xfrm>
          <a:prstGeom prst="rect">
            <a:avLst/>
          </a:prstGeom>
          <a:noFill/>
          <a:ln/>
        </p:spPr>
        <p:txBody>
          <a:bodyPr wrap="square" lIns="0" tIns="0" rIns="0" bIns="0" rtlCol="0" anchor="ctr"/>
          <a:lstStyle/>
          <a:p>
            <a:pPr marL="0" indent="0" algn="ctr">
              <a:buNone/>
            </a:pPr>
            <a:r>
              <a:rPr lang="en-US" sz="900" b="1" dirty="0">
                <a:solidFill>
                  <a:srgbClr val="E23744"/>
                </a:solidFill>
                <a:latin typeface="Calibri" pitchFamily="34" charset="0"/>
                <a:ea typeface="Calibri" pitchFamily="34" charset="-122"/>
                <a:cs typeface="Calibri" pitchFamily="34" charset="-120"/>
              </a:rPr>
              <a:t>9</a:t>
            </a:r>
            <a:endParaRPr lang="en-US" sz="900" dirty="0"/>
          </a:p>
        </p:txBody>
      </p:sp>
      <p:sp>
        <p:nvSpPr>
          <p:cNvPr id="99" name="Shape 97"/>
          <p:cNvSpPr/>
          <p:nvPr/>
        </p:nvSpPr>
        <p:spPr>
          <a:xfrm>
            <a:off x="685800" y="2770632"/>
            <a:ext cx="2798064" cy="182880"/>
          </a:xfrm>
          <a:prstGeom prst="rect">
            <a:avLst/>
          </a:prstGeom>
          <a:solidFill>
            <a:srgbClr val="FFFFFF"/>
          </a:solidFill>
          <a:ln/>
        </p:spPr>
      </p:sp>
      <p:sp>
        <p:nvSpPr>
          <p:cNvPr id="100" name="Text 98"/>
          <p:cNvSpPr/>
          <p:nvPr/>
        </p:nvSpPr>
        <p:spPr>
          <a:xfrm>
            <a:off x="722376" y="2770632"/>
            <a:ext cx="2724912"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Rating Completion %</a:t>
            </a:r>
            <a:endParaRPr lang="en-US" sz="900" dirty="0"/>
          </a:p>
        </p:txBody>
      </p:sp>
      <p:sp>
        <p:nvSpPr>
          <p:cNvPr id="101" name="Shape 99"/>
          <p:cNvSpPr/>
          <p:nvPr/>
        </p:nvSpPr>
        <p:spPr>
          <a:xfrm>
            <a:off x="3520440" y="2770632"/>
            <a:ext cx="2377440" cy="182880"/>
          </a:xfrm>
          <a:prstGeom prst="rect">
            <a:avLst/>
          </a:prstGeom>
          <a:solidFill>
            <a:srgbClr val="FFFFFF"/>
          </a:solidFill>
          <a:ln/>
        </p:spPr>
      </p:sp>
      <p:sp>
        <p:nvSpPr>
          <p:cNvPr id="102" name="Text 100"/>
          <p:cNvSpPr/>
          <p:nvPr/>
        </p:nvSpPr>
        <p:spPr>
          <a:xfrm>
            <a:off x="3557016" y="2770632"/>
            <a:ext cx="2304288"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FILTER &lt;&gt; Not Rated + DIVIDE</a:t>
            </a:r>
            <a:endParaRPr lang="en-US" sz="900" dirty="0"/>
          </a:p>
        </p:txBody>
      </p:sp>
      <p:sp>
        <p:nvSpPr>
          <p:cNvPr id="103" name="Shape 101"/>
          <p:cNvSpPr/>
          <p:nvPr/>
        </p:nvSpPr>
        <p:spPr>
          <a:xfrm>
            <a:off x="5943600" y="2770632"/>
            <a:ext cx="1591056" cy="182880"/>
          </a:xfrm>
          <a:prstGeom prst="rect">
            <a:avLst/>
          </a:prstGeom>
          <a:solidFill>
            <a:srgbClr val="FFFFFF"/>
          </a:solidFill>
          <a:ln/>
        </p:spPr>
      </p:sp>
      <p:sp>
        <p:nvSpPr>
          <p:cNvPr id="104" name="Text 102"/>
          <p:cNvSpPr/>
          <p:nvPr/>
        </p:nvSpPr>
        <p:spPr>
          <a:xfrm>
            <a:off x="5980176" y="2770632"/>
            <a:ext cx="1517904"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77.5%</a:t>
            </a:r>
            <a:endParaRPr lang="en-US" sz="900" dirty="0"/>
          </a:p>
        </p:txBody>
      </p:sp>
      <p:sp>
        <p:nvSpPr>
          <p:cNvPr id="105" name="Shape 103"/>
          <p:cNvSpPr/>
          <p:nvPr/>
        </p:nvSpPr>
        <p:spPr>
          <a:xfrm>
            <a:off x="7571232" y="2770632"/>
            <a:ext cx="1536192" cy="182880"/>
          </a:xfrm>
          <a:prstGeom prst="rect">
            <a:avLst/>
          </a:prstGeom>
          <a:solidFill>
            <a:srgbClr val="FFFFFF"/>
          </a:solidFill>
          <a:ln/>
        </p:spPr>
      </p:sp>
      <p:sp>
        <p:nvSpPr>
          <p:cNvPr id="106" name="Text 104"/>
          <p:cNvSpPr/>
          <p:nvPr/>
        </p:nvSpPr>
        <p:spPr>
          <a:xfrm>
            <a:off x="7607808" y="2770632"/>
            <a:ext cx="1463040" cy="182880"/>
          </a:xfrm>
          <a:prstGeom prst="rect">
            <a:avLst/>
          </a:prstGeom>
          <a:noFill/>
          <a:ln/>
        </p:spPr>
        <p:txBody>
          <a:bodyPr wrap="square" lIns="0" tIns="0" rIns="0" bIns="0" rtlCol="0" anchor="ctr"/>
          <a:lstStyle/>
          <a:p>
            <a:pPr marL="0" indent="0" algn="l">
              <a:buNone/>
            </a:pPr>
            <a:r>
              <a:rPr lang="en-US" sz="900" dirty="0">
                <a:solidFill>
                  <a:srgbClr val="9A4A52"/>
                </a:solidFill>
                <a:latin typeface="Calibri" pitchFamily="34" charset="0"/>
                <a:ea typeface="Calibri" pitchFamily="34" charset="-122"/>
                <a:cs typeface="Calibri" pitchFamily="34" charset="-120"/>
              </a:rPr>
              <a:t>Fact</a:t>
            </a:r>
            <a:endParaRPr lang="en-US" sz="900" dirty="0"/>
          </a:p>
        </p:txBody>
      </p:sp>
      <p:sp>
        <p:nvSpPr>
          <p:cNvPr id="107" name="Shape 105"/>
          <p:cNvSpPr/>
          <p:nvPr/>
        </p:nvSpPr>
        <p:spPr>
          <a:xfrm>
            <a:off x="256032" y="2953512"/>
            <a:ext cx="393192" cy="182880"/>
          </a:xfrm>
          <a:prstGeom prst="rect">
            <a:avLst/>
          </a:prstGeom>
          <a:solidFill>
            <a:srgbClr val="FDEAEC"/>
          </a:solidFill>
          <a:ln/>
        </p:spPr>
      </p:sp>
      <p:sp>
        <p:nvSpPr>
          <p:cNvPr id="108" name="Text 106"/>
          <p:cNvSpPr/>
          <p:nvPr/>
        </p:nvSpPr>
        <p:spPr>
          <a:xfrm>
            <a:off x="292608" y="2953512"/>
            <a:ext cx="320040" cy="182880"/>
          </a:xfrm>
          <a:prstGeom prst="rect">
            <a:avLst/>
          </a:prstGeom>
          <a:noFill/>
          <a:ln/>
        </p:spPr>
        <p:txBody>
          <a:bodyPr wrap="square" lIns="0" tIns="0" rIns="0" bIns="0" rtlCol="0" anchor="ctr"/>
          <a:lstStyle/>
          <a:p>
            <a:pPr marL="0" indent="0" algn="ctr">
              <a:buNone/>
            </a:pPr>
            <a:r>
              <a:rPr lang="en-US" sz="900" b="1" dirty="0">
                <a:solidFill>
                  <a:srgbClr val="E23744"/>
                </a:solidFill>
                <a:latin typeface="Calibri" pitchFamily="34" charset="0"/>
                <a:ea typeface="Calibri" pitchFamily="34" charset="-122"/>
                <a:cs typeface="Calibri" pitchFamily="34" charset="-120"/>
              </a:rPr>
              <a:t>10</a:t>
            </a:r>
            <a:endParaRPr lang="en-US" sz="900" dirty="0"/>
          </a:p>
        </p:txBody>
      </p:sp>
      <p:sp>
        <p:nvSpPr>
          <p:cNvPr id="109" name="Shape 107"/>
          <p:cNvSpPr/>
          <p:nvPr/>
        </p:nvSpPr>
        <p:spPr>
          <a:xfrm>
            <a:off x="685800" y="2953512"/>
            <a:ext cx="2798064" cy="182880"/>
          </a:xfrm>
          <a:prstGeom prst="rect">
            <a:avLst/>
          </a:prstGeom>
          <a:solidFill>
            <a:srgbClr val="FDEAEC"/>
          </a:solidFill>
          <a:ln/>
        </p:spPr>
      </p:sp>
      <p:sp>
        <p:nvSpPr>
          <p:cNvPr id="110" name="Text 108"/>
          <p:cNvSpPr/>
          <p:nvPr/>
        </p:nvSpPr>
        <p:spPr>
          <a:xfrm>
            <a:off x="722376" y="2953512"/>
            <a:ext cx="2724912"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Delivery Rating Uplift</a:t>
            </a:r>
            <a:endParaRPr lang="en-US" sz="900" dirty="0"/>
          </a:p>
        </p:txBody>
      </p:sp>
      <p:sp>
        <p:nvSpPr>
          <p:cNvPr id="111" name="Shape 109"/>
          <p:cNvSpPr/>
          <p:nvPr/>
        </p:nvSpPr>
        <p:spPr>
          <a:xfrm>
            <a:off x="3520440" y="2953512"/>
            <a:ext cx="2377440" cy="182880"/>
          </a:xfrm>
          <a:prstGeom prst="rect">
            <a:avLst/>
          </a:prstGeom>
          <a:solidFill>
            <a:srgbClr val="FDEAEC"/>
          </a:solidFill>
          <a:ln/>
        </p:spPr>
      </p:sp>
      <p:sp>
        <p:nvSpPr>
          <p:cNvPr id="112" name="Text 110"/>
          <p:cNvSpPr/>
          <p:nvPr/>
        </p:nvSpPr>
        <p:spPr>
          <a:xfrm>
            <a:off x="3557016" y="2953512"/>
            <a:ext cx="2304288"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VAR Yes/No … RETURN diff</a:t>
            </a:r>
            <a:endParaRPr lang="en-US" sz="900" dirty="0"/>
          </a:p>
        </p:txBody>
      </p:sp>
      <p:sp>
        <p:nvSpPr>
          <p:cNvPr id="113" name="Shape 111"/>
          <p:cNvSpPr/>
          <p:nvPr/>
        </p:nvSpPr>
        <p:spPr>
          <a:xfrm>
            <a:off x="5943600" y="2953512"/>
            <a:ext cx="1591056" cy="182880"/>
          </a:xfrm>
          <a:prstGeom prst="rect">
            <a:avLst/>
          </a:prstGeom>
          <a:solidFill>
            <a:srgbClr val="FDEAEC"/>
          </a:solidFill>
          <a:ln/>
        </p:spPr>
      </p:sp>
      <p:sp>
        <p:nvSpPr>
          <p:cNvPr id="114" name="Text 112"/>
          <p:cNvSpPr/>
          <p:nvPr/>
        </p:nvSpPr>
        <p:spPr>
          <a:xfrm>
            <a:off x="5980176" y="2953512"/>
            <a:ext cx="1517904"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+0.78</a:t>
            </a:r>
            <a:endParaRPr lang="en-US" sz="900" dirty="0"/>
          </a:p>
        </p:txBody>
      </p:sp>
      <p:sp>
        <p:nvSpPr>
          <p:cNvPr id="115" name="Shape 113"/>
          <p:cNvSpPr/>
          <p:nvPr/>
        </p:nvSpPr>
        <p:spPr>
          <a:xfrm>
            <a:off x="7571232" y="2953512"/>
            <a:ext cx="1536192" cy="182880"/>
          </a:xfrm>
          <a:prstGeom prst="rect">
            <a:avLst/>
          </a:prstGeom>
          <a:solidFill>
            <a:srgbClr val="FDEAEC"/>
          </a:solidFill>
          <a:ln/>
        </p:spPr>
      </p:sp>
      <p:sp>
        <p:nvSpPr>
          <p:cNvPr id="116" name="Text 114"/>
          <p:cNvSpPr/>
          <p:nvPr/>
        </p:nvSpPr>
        <p:spPr>
          <a:xfrm>
            <a:off x="7607808" y="2953512"/>
            <a:ext cx="1463040" cy="182880"/>
          </a:xfrm>
          <a:prstGeom prst="rect">
            <a:avLst/>
          </a:prstGeom>
          <a:noFill/>
          <a:ln/>
        </p:spPr>
        <p:txBody>
          <a:bodyPr wrap="square" lIns="0" tIns="0" rIns="0" bIns="0" rtlCol="0" anchor="ctr"/>
          <a:lstStyle/>
          <a:p>
            <a:pPr marL="0" indent="0" algn="l">
              <a:buNone/>
            </a:pPr>
            <a:r>
              <a:rPr lang="en-US" sz="900" dirty="0">
                <a:solidFill>
                  <a:srgbClr val="9A4A52"/>
                </a:solidFill>
                <a:latin typeface="Calibri" pitchFamily="34" charset="0"/>
                <a:ea typeface="Calibri" pitchFamily="34" charset="-122"/>
                <a:cs typeface="Calibri" pitchFamily="34" charset="-120"/>
              </a:rPr>
              <a:t>Fact</a:t>
            </a:r>
            <a:endParaRPr lang="en-US" sz="900" dirty="0"/>
          </a:p>
        </p:txBody>
      </p:sp>
      <p:sp>
        <p:nvSpPr>
          <p:cNvPr id="117" name="Shape 115"/>
          <p:cNvSpPr/>
          <p:nvPr/>
        </p:nvSpPr>
        <p:spPr>
          <a:xfrm>
            <a:off x="256032" y="3136392"/>
            <a:ext cx="393192" cy="182880"/>
          </a:xfrm>
          <a:prstGeom prst="rect">
            <a:avLst/>
          </a:prstGeom>
          <a:solidFill>
            <a:srgbClr val="FFFFFF"/>
          </a:solidFill>
          <a:ln/>
        </p:spPr>
      </p:sp>
      <p:sp>
        <p:nvSpPr>
          <p:cNvPr id="118" name="Text 116"/>
          <p:cNvSpPr/>
          <p:nvPr/>
        </p:nvSpPr>
        <p:spPr>
          <a:xfrm>
            <a:off x="292608" y="3136392"/>
            <a:ext cx="320040" cy="182880"/>
          </a:xfrm>
          <a:prstGeom prst="rect">
            <a:avLst/>
          </a:prstGeom>
          <a:noFill/>
          <a:ln/>
        </p:spPr>
        <p:txBody>
          <a:bodyPr wrap="square" lIns="0" tIns="0" rIns="0" bIns="0" rtlCol="0" anchor="ctr"/>
          <a:lstStyle/>
          <a:p>
            <a:pPr marL="0" indent="0" algn="ctr">
              <a:buNone/>
            </a:pPr>
            <a:r>
              <a:rPr lang="en-US" sz="900" b="1" dirty="0">
                <a:solidFill>
                  <a:srgbClr val="E23744"/>
                </a:solidFill>
                <a:latin typeface="Calibri" pitchFamily="34" charset="0"/>
                <a:ea typeface="Calibri" pitchFamily="34" charset="-122"/>
                <a:cs typeface="Calibri" pitchFamily="34" charset="-120"/>
              </a:rPr>
              <a:t>11</a:t>
            </a:r>
            <a:endParaRPr lang="en-US" sz="900" dirty="0"/>
          </a:p>
        </p:txBody>
      </p:sp>
      <p:sp>
        <p:nvSpPr>
          <p:cNvPr id="119" name="Shape 117"/>
          <p:cNvSpPr/>
          <p:nvPr/>
        </p:nvSpPr>
        <p:spPr>
          <a:xfrm>
            <a:off x="685800" y="3136392"/>
            <a:ext cx="2798064" cy="182880"/>
          </a:xfrm>
          <a:prstGeom prst="rect">
            <a:avLst/>
          </a:prstGeom>
          <a:solidFill>
            <a:srgbClr val="FFFFFF"/>
          </a:solidFill>
          <a:ln/>
        </p:spPr>
      </p:sp>
      <p:sp>
        <p:nvSpPr>
          <p:cNvPr id="120" name="Text 118"/>
          <p:cNvSpPr/>
          <p:nvPr/>
        </p:nvSpPr>
        <p:spPr>
          <a:xfrm>
            <a:off x="722376" y="3136392"/>
            <a:ext cx="2724912"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Budget Restaurants</a:t>
            </a:r>
            <a:endParaRPr lang="en-US" sz="900" dirty="0"/>
          </a:p>
        </p:txBody>
      </p:sp>
      <p:sp>
        <p:nvSpPr>
          <p:cNvPr id="121" name="Shape 119"/>
          <p:cNvSpPr/>
          <p:nvPr/>
        </p:nvSpPr>
        <p:spPr>
          <a:xfrm>
            <a:off x="3520440" y="3136392"/>
            <a:ext cx="2377440" cy="182880"/>
          </a:xfrm>
          <a:prstGeom prst="rect">
            <a:avLst/>
          </a:prstGeom>
          <a:solidFill>
            <a:srgbClr val="FFFFFF"/>
          </a:solidFill>
          <a:ln/>
        </p:spPr>
      </p:sp>
      <p:sp>
        <p:nvSpPr>
          <p:cNvPr id="122" name="Text 120"/>
          <p:cNvSpPr/>
          <p:nvPr/>
        </p:nvSpPr>
        <p:spPr>
          <a:xfrm>
            <a:off x="3557016" y="3136392"/>
            <a:ext cx="2304288"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CALCULATE Price Range = 1</a:t>
            </a:r>
            <a:endParaRPr lang="en-US" sz="900" dirty="0"/>
          </a:p>
        </p:txBody>
      </p:sp>
      <p:sp>
        <p:nvSpPr>
          <p:cNvPr id="123" name="Shape 121"/>
          <p:cNvSpPr/>
          <p:nvPr/>
        </p:nvSpPr>
        <p:spPr>
          <a:xfrm>
            <a:off x="5943600" y="3136392"/>
            <a:ext cx="1591056" cy="182880"/>
          </a:xfrm>
          <a:prstGeom prst="rect">
            <a:avLst/>
          </a:prstGeom>
          <a:solidFill>
            <a:srgbClr val="FFFFFF"/>
          </a:solidFill>
          <a:ln/>
        </p:spPr>
      </p:sp>
      <p:sp>
        <p:nvSpPr>
          <p:cNvPr id="124" name="Text 122"/>
          <p:cNvSpPr/>
          <p:nvPr/>
        </p:nvSpPr>
        <p:spPr>
          <a:xfrm>
            <a:off x="5980176" y="3136392"/>
            <a:ext cx="1517904"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4,444</a:t>
            </a:r>
            <a:endParaRPr lang="en-US" sz="900" dirty="0"/>
          </a:p>
        </p:txBody>
      </p:sp>
      <p:sp>
        <p:nvSpPr>
          <p:cNvPr id="125" name="Shape 123"/>
          <p:cNvSpPr/>
          <p:nvPr/>
        </p:nvSpPr>
        <p:spPr>
          <a:xfrm>
            <a:off x="7571232" y="3136392"/>
            <a:ext cx="1536192" cy="182880"/>
          </a:xfrm>
          <a:prstGeom prst="rect">
            <a:avLst/>
          </a:prstGeom>
          <a:solidFill>
            <a:srgbClr val="FFFFFF"/>
          </a:solidFill>
          <a:ln/>
        </p:spPr>
      </p:sp>
      <p:sp>
        <p:nvSpPr>
          <p:cNvPr id="126" name="Text 124"/>
          <p:cNvSpPr/>
          <p:nvPr/>
        </p:nvSpPr>
        <p:spPr>
          <a:xfrm>
            <a:off x="7607808" y="3136392"/>
            <a:ext cx="1463040" cy="182880"/>
          </a:xfrm>
          <a:prstGeom prst="rect">
            <a:avLst/>
          </a:prstGeom>
          <a:noFill/>
          <a:ln/>
        </p:spPr>
        <p:txBody>
          <a:bodyPr wrap="square" lIns="0" tIns="0" rIns="0" bIns="0" rtlCol="0" anchor="ctr"/>
          <a:lstStyle/>
          <a:p>
            <a:pPr marL="0" indent="0" algn="l">
              <a:buNone/>
            </a:pPr>
            <a:r>
              <a:rPr lang="en-US" sz="900" dirty="0">
                <a:solidFill>
                  <a:srgbClr val="9A4A52"/>
                </a:solidFill>
                <a:latin typeface="Calibri" pitchFamily="34" charset="0"/>
                <a:ea typeface="Calibri" pitchFamily="34" charset="-122"/>
                <a:cs typeface="Calibri" pitchFamily="34" charset="-120"/>
              </a:rPr>
              <a:t>Fact</a:t>
            </a:r>
            <a:endParaRPr lang="en-US" sz="900" dirty="0"/>
          </a:p>
        </p:txBody>
      </p:sp>
      <p:sp>
        <p:nvSpPr>
          <p:cNvPr id="127" name="Shape 125"/>
          <p:cNvSpPr/>
          <p:nvPr/>
        </p:nvSpPr>
        <p:spPr>
          <a:xfrm>
            <a:off x="256032" y="3319272"/>
            <a:ext cx="393192" cy="182880"/>
          </a:xfrm>
          <a:prstGeom prst="rect">
            <a:avLst/>
          </a:prstGeom>
          <a:solidFill>
            <a:srgbClr val="FDEAEC"/>
          </a:solidFill>
          <a:ln/>
        </p:spPr>
      </p:sp>
      <p:sp>
        <p:nvSpPr>
          <p:cNvPr id="128" name="Text 126"/>
          <p:cNvSpPr/>
          <p:nvPr/>
        </p:nvSpPr>
        <p:spPr>
          <a:xfrm>
            <a:off x="292608" y="3319272"/>
            <a:ext cx="320040" cy="182880"/>
          </a:xfrm>
          <a:prstGeom prst="rect">
            <a:avLst/>
          </a:prstGeom>
          <a:noFill/>
          <a:ln/>
        </p:spPr>
        <p:txBody>
          <a:bodyPr wrap="square" lIns="0" tIns="0" rIns="0" bIns="0" rtlCol="0" anchor="ctr"/>
          <a:lstStyle/>
          <a:p>
            <a:pPr marL="0" indent="0" algn="ctr">
              <a:buNone/>
            </a:pPr>
            <a:r>
              <a:rPr lang="en-US" sz="900" b="1" dirty="0">
                <a:solidFill>
                  <a:srgbClr val="E23744"/>
                </a:solidFill>
                <a:latin typeface="Calibri" pitchFamily="34" charset="0"/>
                <a:ea typeface="Calibri" pitchFamily="34" charset="-122"/>
                <a:cs typeface="Calibri" pitchFamily="34" charset="-120"/>
              </a:rPr>
              <a:t>12</a:t>
            </a:r>
            <a:endParaRPr lang="en-US" sz="900" dirty="0"/>
          </a:p>
        </p:txBody>
      </p:sp>
      <p:sp>
        <p:nvSpPr>
          <p:cNvPr id="129" name="Shape 127"/>
          <p:cNvSpPr/>
          <p:nvPr/>
        </p:nvSpPr>
        <p:spPr>
          <a:xfrm>
            <a:off x="685800" y="3319272"/>
            <a:ext cx="2798064" cy="182880"/>
          </a:xfrm>
          <a:prstGeom prst="rect">
            <a:avLst/>
          </a:prstGeom>
          <a:solidFill>
            <a:srgbClr val="FDEAEC"/>
          </a:solidFill>
          <a:ln/>
        </p:spPr>
      </p:sp>
      <p:sp>
        <p:nvSpPr>
          <p:cNvPr id="130" name="Text 128"/>
          <p:cNvSpPr/>
          <p:nvPr/>
        </p:nvSpPr>
        <p:spPr>
          <a:xfrm>
            <a:off x="722376" y="3319272"/>
            <a:ext cx="2724912"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Luxury Restaurants</a:t>
            </a:r>
            <a:endParaRPr lang="en-US" sz="900" dirty="0"/>
          </a:p>
        </p:txBody>
      </p:sp>
      <p:sp>
        <p:nvSpPr>
          <p:cNvPr id="131" name="Shape 129"/>
          <p:cNvSpPr/>
          <p:nvPr/>
        </p:nvSpPr>
        <p:spPr>
          <a:xfrm>
            <a:off x="3520440" y="3319272"/>
            <a:ext cx="2377440" cy="182880"/>
          </a:xfrm>
          <a:prstGeom prst="rect">
            <a:avLst/>
          </a:prstGeom>
          <a:solidFill>
            <a:srgbClr val="FDEAEC"/>
          </a:solidFill>
          <a:ln/>
        </p:spPr>
      </p:sp>
      <p:sp>
        <p:nvSpPr>
          <p:cNvPr id="132" name="Text 130"/>
          <p:cNvSpPr/>
          <p:nvPr/>
        </p:nvSpPr>
        <p:spPr>
          <a:xfrm>
            <a:off x="3557016" y="3319272"/>
            <a:ext cx="2304288"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CALCULATE Price Range = 4</a:t>
            </a:r>
            <a:endParaRPr lang="en-US" sz="900" dirty="0"/>
          </a:p>
        </p:txBody>
      </p:sp>
      <p:sp>
        <p:nvSpPr>
          <p:cNvPr id="133" name="Shape 131"/>
          <p:cNvSpPr/>
          <p:nvPr/>
        </p:nvSpPr>
        <p:spPr>
          <a:xfrm>
            <a:off x="5943600" y="3319272"/>
            <a:ext cx="1591056" cy="182880"/>
          </a:xfrm>
          <a:prstGeom prst="rect">
            <a:avLst/>
          </a:prstGeom>
          <a:solidFill>
            <a:srgbClr val="FDEAEC"/>
          </a:solidFill>
          <a:ln/>
        </p:spPr>
      </p:sp>
      <p:sp>
        <p:nvSpPr>
          <p:cNvPr id="134" name="Text 132"/>
          <p:cNvSpPr/>
          <p:nvPr/>
        </p:nvSpPr>
        <p:spPr>
          <a:xfrm>
            <a:off x="5980176" y="3319272"/>
            <a:ext cx="1517904"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586</a:t>
            </a:r>
            <a:endParaRPr lang="en-US" sz="900" dirty="0"/>
          </a:p>
        </p:txBody>
      </p:sp>
      <p:sp>
        <p:nvSpPr>
          <p:cNvPr id="135" name="Shape 133"/>
          <p:cNvSpPr/>
          <p:nvPr/>
        </p:nvSpPr>
        <p:spPr>
          <a:xfrm>
            <a:off x="7571232" y="3319272"/>
            <a:ext cx="1536192" cy="182880"/>
          </a:xfrm>
          <a:prstGeom prst="rect">
            <a:avLst/>
          </a:prstGeom>
          <a:solidFill>
            <a:srgbClr val="FDEAEC"/>
          </a:solidFill>
          <a:ln/>
        </p:spPr>
      </p:sp>
      <p:sp>
        <p:nvSpPr>
          <p:cNvPr id="136" name="Text 134"/>
          <p:cNvSpPr/>
          <p:nvPr/>
        </p:nvSpPr>
        <p:spPr>
          <a:xfrm>
            <a:off x="7607808" y="3319272"/>
            <a:ext cx="1463040" cy="182880"/>
          </a:xfrm>
          <a:prstGeom prst="rect">
            <a:avLst/>
          </a:prstGeom>
          <a:noFill/>
          <a:ln/>
        </p:spPr>
        <p:txBody>
          <a:bodyPr wrap="square" lIns="0" tIns="0" rIns="0" bIns="0" rtlCol="0" anchor="ctr"/>
          <a:lstStyle/>
          <a:p>
            <a:pPr marL="0" indent="0" algn="l">
              <a:buNone/>
            </a:pPr>
            <a:r>
              <a:rPr lang="en-US" sz="900" dirty="0">
                <a:solidFill>
                  <a:srgbClr val="9A4A52"/>
                </a:solidFill>
                <a:latin typeface="Calibri" pitchFamily="34" charset="0"/>
                <a:ea typeface="Calibri" pitchFamily="34" charset="-122"/>
                <a:cs typeface="Calibri" pitchFamily="34" charset="-120"/>
              </a:rPr>
              <a:t>Fact</a:t>
            </a:r>
            <a:endParaRPr lang="en-US" sz="900" dirty="0"/>
          </a:p>
        </p:txBody>
      </p:sp>
      <p:sp>
        <p:nvSpPr>
          <p:cNvPr id="137" name="Shape 135"/>
          <p:cNvSpPr/>
          <p:nvPr/>
        </p:nvSpPr>
        <p:spPr>
          <a:xfrm>
            <a:off x="256032" y="3502152"/>
            <a:ext cx="393192" cy="182880"/>
          </a:xfrm>
          <a:prstGeom prst="rect">
            <a:avLst/>
          </a:prstGeom>
          <a:solidFill>
            <a:srgbClr val="FFFFFF"/>
          </a:solidFill>
          <a:ln/>
        </p:spPr>
      </p:sp>
      <p:sp>
        <p:nvSpPr>
          <p:cNvPr id="138" name="Text 136"/>
          <p:cNvSpPr/>
          <p:nvPr/>
        </p:nvSpPr>
        <p:spPr>
          <a:xfrm>
            <a:off x="292608" y="3502152"/>
            <a:ext cx="320040" cy="182880"/>
          </a:xfrm>
          <a:prstGeom prst="rect">
            <a:avLst/>
          </a:prstGeom>
          <a:noFill/>
          <a:ln/>
        </p:spPr>
        <p:txBody>
          <a:bodyPr wrap="square" lIns="0" tIns="0" rIns="0" bIns="0" rtlCol="0" anchor="ctr"/>
          <a:lstStyle/>
          <a:p>
            <a:pPr marL="0" indent="0" algn="ctr">
              <a:buNone/>
            </a:pPr>
            <a:r>
              <a:rPr lang="en-US" sz="900" b="1" dirty="0">
                <a:solidFill>
                  <a:srgbClr val="E23744"/>
                </a:solidFill>
                <a:latin typeface="Calibri" pitchFamily="34" charset="0"/>
                <a:ea typeface="Calibri" pitchFamily="34" charset="-122"/>
                <a:cs typeface="Calibri" pitchFamily="34" charset="-120"/>
              </a:rPr>
              <a:t>13</a:t>
            </a:r>
            <a:endParaRPr lang="en-US" sz="900" dirty="0"/>
          </a:p>
        </p:txBody>
      </p:sp>
      <p:sp>
        <p:nvSpPr>
          <p:cNvPr id="139" name="Shape 137"/>
          <p:cNvSpPr/>
          <p:nvPr/>
        </p:nvSpPr>
        <p:spPr>
          <a:xfrm>
            <a:off x="685800" y="3502152"/>
            <a:ext cx="2798064" cy="182880"/>
          </a:xfrm>
          <a:prstGeom prst="rect">
            <a:avLst/>
          </a:prstGeom>
          <a:solidFill>
            <a:srgbClr val="FFFFFF"/>
          </a:solidFill>
          <a:ln/>
        </p:spPr>
      </p:sp>
      <p:sp>
        <p:nvSpPr>
          <p:cNvPr id="140" name="Text 138"/>
          <p:cNvSpPr/>
          <p:nvPr/>
        </p:nvSpPr>
        <p:spPr>
          <a:xfrm>
            <a:off x="722376" y="3502152"/>
            <a:ext cx="2724912"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Avg Votes/Restaurant</a:t>
            </a:r>
            <a:endParaRPr lang="en-US" sz="900" dirty="0"/>
          </a:p>
        </p:txBody>
      </p:sp>
      <p:sp>
        <p:nvSpPr>
          <p:cNvPr id="141" name="Shape 139"/>
          <p:cNvSpPr/>
          <p:nvPr/>
        </p:nvSpPr>
        <p:spPr>
          <a:xfrm>
            <a:off x="3520440" y="3502152"/>
            <a:ext cx="2377440" cy="182880"/>
          </a:xfrm>
          <a:prstGeom prst="rect">
            <a:avLst/>
          </a:prstGeom>
          <a:solidFill>
            <a:srgbClr val="FFFFFF"/>
          </a:solidFill>
          <a:ln/>
        </p:spPr>
      </p:sp>
      <p:sp>
        <p:nvSpPr>
          <p:cNvPr id="142" name="Text 140"/>
          <p:cNvSpPr/>
          <p:nvPr/>
        </p:nvSpPr>
        <p:spPr>
          <a:xfrm>
            <a:off x="3557016" y="3502152"/>
            <a:ext cx="2304288"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SUM(Votes) / COUNTROWS</a:t>
            </a:r>
            <a:endParaRPr lang="en-US" sz="900" dirty="0"/>
          </a:p>
        </p:txBody>
      </p:sp>
      <p:sp>
        <p:nvSpPr>
          <p:cNvPr id="143" name="Shape 141"/>
          <p:cNvSpPr/>
          <p:nvPr/>
        </p:nvSpPr>
        <p:spPr>
          <a:xfrm>
            <a:off x="5943600" y="3502152"/>
            <a:ext cx="1591056" cy="182880"/>
          </a:xfrm>
          <a:prstGeom prst="rect">
            <a:avLst/>
          </a:prstGeom>
          <a:solidFill>
            <a:srgbClr val="FFFFFF"/>
          </a:solidFill>
          <a:ln/>
        </p:spPr>
      </p:sp>
      <p:sp>
        <p:nvSpPr>
          <p:cNvPr id="144" name="Text 142"/>
          <p:cNvSpPr/>
          <p:nvPr/>
        </p:nvSpPr>
        <p:spPr>
          <a:xfrm>
            <a:off x="5980176" y="3502152"/>
            <a:ext cx="1517904"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157</a:t>
            </a:r>
            <a:endParaRPr lang="en-US" sz="900" dirty="0"/>
          </a:p>
        </p:txBody>
      </p:sp>
      <p:sp>
        <p:nvSpPr>
          <p:cNvPr id="145" name="Shape 143"/>
          <p:cNvSpPr/>
          <p:nvPr/>
        </p:nvSpPr>
        <p:spPr>
          <a:xfrm>
            <a:off x="7571232" y="3502152"/>
            <a:ext cx="1536192" cy="182880"/>
          </a:xfrm>
          <a:prstGeom prst="rect">
            <a:avLst/>
          </a:prstGeom>
          <a:solidFill>
            <a:srgbClr val="FFFFFF"/>
          </a:solidFill>
          <a:ln/>
        </p:spPr>
      </p:sp>
      <p:sp>
        <p:nvSpPr>
          <p:cNvPr id="146" name="Text 144"/>
          <p:cNvSpPr/>
          <p:nvPr/>
        </p:nvSpPr>
        <p:spPr>
          <a:xfrm>
            <a:off x="7607808" y="3502152"/>
            <a:ext cx="1463040" cy="182880"/>
          </a:xfrm>
          <a:prstGeom prst="rect">
            <a:avLst/>
          </a:prstGeom>
          <a:noFill/>
          <a:ln/>
        </p:spPr>
        <p:txBody>
          <a:bodyPr wrap="square" lIns="0" tIns="0" rIns="0" bIns="0" rtlCol="0" anchor="ctr"/>
          <a:lstStyle/>
          <a:p>
            <a:pPr marL="0" indent="0" algn="l">
              <a:buNone/>
            </a:pPr>
            <a:r>
              <a:rPr lang="en-US" sz="900" dirty="0">
                <a:solidFill>
                  <a:srgbClr val="9A4A52"/>
                </a:solidFill>
                <a:latin typeface="Calibri" pitchFamily="34" charset="0"/>
                <a:ea typeface="Calibri" pitchFamily="34" charset="-122"/>
                <a:cs typeface="Calibri" pitchFamily="34" charset="-120"/>
              </a:rPr>
              <a:t>Fact</a:t>
            </a:r>
            <a:endParaRPr lang="en-US" sz="900" dirty="0"/>
          </a:p>
        </p:txBody>
      </p:sp>
      <p:sp>
        <p:nvSpPr>
          <p:cNvPr id="147" name="Shape 145"/>
          <p:cNvSpPr/>
          <p:nvPr/>
        </p:nvSpPr>
        <p:spPr>
          <a:xfrm>
            <a:off x="256032" y="3685032"/>
            <a:ext cx="393192" cy="182880"/>
          </a:xfrm>
          <a:prstGeom prst="rect">
            <a:avLst/>
          </a:prstGeom>
          <a:solidFill>
            <a:srgbClr val="FDEAEC"/>
          </a:solidFill>
          <a:ln/>
        </p:spPr>
      </p:sp>
      <p:sp>
        <p:nvSpPr>
          <p:cNvPr id="148" name="Text 146"/>
          <p:cNvSpPr/>
          <p:nvPr/>
        </p:nvSpPr>
        <p:spPr>
          <a:xfrm>
            <a:off x="292608" y="3685032"/>
            <a:ext cx="320040" cy="182880"/>
          </a:xfrm>
          <a:prstGeom prst="rect">
            <a:avLst/>
          </a:prstGeom>
          <a:noFill/>
          <a:ln/>
        </p:spPr>
        <p:txBody>
          <a:bodyPr wrap="square" lIns="0" tIns="0" rIns="0" bIns="0" rtlCol="0" anchor="ctr"/>
          <a:lstStyle/>
          <a:p>
            <a:pPr marL="0" indent="0" algn="ctr">
              <a:buNone/>
            </a:pPr>
            <a:r>
              <a:rPr lang="en-US" sz="900" b="1" dirty="0">
                <a:solidFill>
                  <a:srgbClr val="E23744"/>
                </a:solidFill>
                <a:latin typeface="Calibri" pitchFamily="34" charset="0"/>
                <a:ea typeface="Calibri" pitchFamily="34" charset="-122"/>
                <a:cs typeface="Calibri" pitchFamily="34" charset="-120"/>
              </a:rPr>
              <a:t>14</a:t>
            </a:r>
            <a:endParaRPr lang="en-US" sz="900" dirty="0"/>
          </a:p>
        </p:txBody>
      </p:sp>
      <p:sp>
        <p:nvSpPr>
          <p:cNvPr id="149" name="Shape 147"/>
          <p:cNvSpPr/>
          <p:nvPr/>
        </p:nvSpPr>
        <p:spPr>
          <a:xfrm>
            <a:off x="685800" y="3685032"/>
            <a:ext cx="2798064" cy="182880"/>
          </a:xfrm>
          <a:prstGeom prst="rect">
            <a:avLst/>
          </a:prstGeom>
          <a:solidFill>
            <a:srgbClr val="FDEAEC"/>
          </a:solidFill>
          <a:ln/>
        </p:spPr>
      </p:sp>
      <p:sp>
        <p:nvSpPr>
          <p:cNvPr id="150" name="Text 148"/>
          <p:cNvSpPr/>
          <p:nvPr/>
        </p:nvSpPr>
        <p:spPr>
          <a:xfrm>
            <a:off x="722376" y="3685032"/>
            <a:ext cx="2724912"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Total Countries</a:t>
            </a:r>
            <a:endParaRPr lang="en-US" sz="900" dirty="0"/>
          </a:p>
        </p:txBody>
      </p:sp>
      <p:sp>
        <p:nvSpPr>
          <p:cNvPr id="151" name="Shape 149"/>
          <p:cNvSpPr/>
          <p:nvPr/>
        </p:nvSpPr>
        <p:spPr>
          <a:xfrm>
            <a:off x="3520440" y="3685032"/>
            <a:ext cx="2377440" cy="182880"/>
          </a:xfrm>
          <a:prstGeom prst="rect">
            <a:avLst/>
          </a:prstGeom>
          <a:solidFill>
            <a:srgbClr val="FDEAEC"/>
          </a:solidFill>
          <a:ln/>
        </p:spPr>
      </p:sp>
      <p:sp>
        <p:nvSpPr>
          <p:cNvPr id="152" name="Text 150"/>
          <p:cNvSpPr/>
          <p:nvPr/>
        </p:nvSpPr>
        <p:spPr>
          <a:xfrm>
            <a:off x="3557016" y="3685032"/>
            <a:ext cx="2304288"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DISTINCTCOUNT(Country Code)</a:t>
            </a:r>
            <a:endParaRPr lang="en-US" sz="900" dirty="0"/>
          </a:p>
        </p:txBody>
      </p:sp>
      <p:sp>
        <p:nvSpPr>
          <p:cNvPr id="153" name="Shape 151"/>
          <p:cNvSpPr/>
          <p:nvPr/>
        </p:nvSpPr>
        <p:spPr>
          <a:xfrm>
            <a:off x="5943600" y="3685032"/>
            <a:ext cx="1591056" cy="182880"/>
          </a:xfrm>
          <a:prstGeom prst="rect">
            <a:avLst/>
          </a:prstGeom>
          <a:solidFill>
            <a:srgbClr val="FDEAEC"/>
          </a:solidFill>
          <a:ln/>
        </p:spPr>
      </p:sp>
      <p:sp>
        <p:nvSpPr>
          <p:cNvPr id="154" name="Text 152"/>
          <p:cNvSpPr/>
          <p:nvPr/>
        </p:nvSpPr>
        <p:spPr>
          <a:xfrm>
            <a:off x="5980176" y="3685032"/>
            <a:ext cx="1517904"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15</a:t>
            </a:r>
            <a:endParaRPr lang="en-US" sz="900" dirty="0"/>
          </a:p>
        </p:txBody>
      </p:sp>
      <p:sp>
        <p:nvSpPr>
          <p:cNvPr id="155" name="Shape 153"/>
          <p:cNvSpPr/>
          <p:nvPr/>
        </p:nvSpPr>
        <p:spPr>
          <a:xfrm>
            <a:off x="7571232" y="3685032"/>
            <a:ext cx="1536192" cy="182880"/>
          </a:xfrm>
          <a:prstGeom prst="rect">
            <a:avLst/>
          </a:prstGeom>
          <a:solidFill>
            <a:srgbClr val="FDEAEC"/>
          </a:solidFill>
          <a:ln/>
        </p:spPr>
      </p:sp>
      <p:sp>
        <p:nvSpPr>
          <p:cNvPr id="156" name="Text 154"/>
          <p:cNvSpPr/>
          <p:nvPr/>
        </p:nvSpPr>
        <p:spPr>
          <a:xfrm>
            <a:off x="7607808" y="3685032"/>
            <a:ext cx="1463040" cy="182880"/>
          </a:xfrm>
          <a:prstGeom prst="rect">
            <a:avLst/>
          </a:prstGeom>
          <a:noFill/>
          <a:ln/>
        </p:spPr>
        <p:txBody>
          <a:bodyPr wrap="square" lIns="0" tIns="0" rIns="0" bIns="0" rtlCol="0" anchor="ctr"/>
          <a:lstStyle/>
          <a:p>
            <a:pPr marL="0" indent="0" algn="l">
              <a:buNone/>
            </a:pPr>
            <a:r>
              <a:rPr lang="en-US" sz="900" dirty="0">
                <a:solidFill>
                  <a:srgbClr val="9A4A52"/>
                </a:solidFill>
                <a:latin typeface="Calibri" pitchFamily="34" charset="0"/>
                <a:ea typeface="Calibri" pitchFamily="34" charset="-122"/>
                <a:cs typeface="Calibri" pitchFamily="34" charset="-120"/>
              </a:rPr>
              <a:t>Rest_Dim</a:t>
            </a:r>
            <a:endParaRPr lang="en-US" sz="900" dirty="0"/>
          </a:p>
        </p:txBody>
      </p:sp>
      <p:sp>
        <p:nvSpPr>
          <p:cNvPr id="157" name="Shape 155"/>
          <p:cNvSpPr/>
          <p:nvPr/>
        </p:nvSpPr>
        <p:spPr>
          <a:xfrm>
            <a:off x="256032" y="3867912"/>
            <a:ext cx="393192" cy="182880"/>
          </a:xfrm>
          <a:prstGeom prst="rect">
            <a:avLst/>
          </a:prstGeom>
          <a:solidFill>
            <a:srgbClr val="FFFFFF"/>
          </a:solidFill>
          <a:ln/>
        </p:spPr>
      </p:sp>
      <p:sp>
        <p:nvSpPr>
          <p:cNvPr id="158" name="Text 156"/>
          <p:cNvSpPr/>
          <p:nvPr/>
        </p:nvSpPr>
        <p:spPr>
          <a:xfrm>
            <a:off x="292608" y="3867912"/>
            <a:ext cx="320040" cy="182880"/>
          </a:xfrm>
          <a:prstGeom prst="rect">
            <a:avLst/>
          </a:prstGeom>
          <a:noFill/>
          <a:ln/>
        </p:spPr>
        <p:txBody>
          <a:bodyPr wrap="square" lIns="0" tIns="0" rIns="0" bIns="0" rtlCol="0" anchor="ctr"/>
          <a:lstStyle/>
          <a:p>
            <a:pPr marL="0" indent="0" algn="ctr">
              <a:buNone/>
            </a:pPr>
            <a:r>
              <a:rPr lang="en-US" sz="900" b="1" dirty="0">
                <a:solidFill>
                  <a:srgbClr val="E23744"/>
                </a:solidFill>
                <a:latin typeface="Calibri" pitchFamily="34" charset="0"/>
                <a:ea typeface="Calibri" pitchFamily="34" charset="-122"/>
                <a:cs typeface="Calibri" pitchFamily="34" charset="-120"/>
              </a:rPr>
              <a:t>15</a:t>
            </a:r>
            <a:endParaRPr lang="en-US" sz="900" dirty="0"/>
          </a:p>
        </p:txBody>
      </p:sp>
      <p:sp>
        <p:nvSpPr>
          <p:cNvPr id="159" name="Shape 157"/>
          <p:cNvSpPr/>
          <p:nvPr/>
        </p:nvSpPr>
        <p:spPr>
          <a:xfrm>
            <a:off x="685800" y="3867912"/>
            <a:ext cx="2798064" cy="182880"/>
          </a:xfrm>
          <a:prstGeom prst="rect">
            <a:avLst/>
          </a:prstGeom>
          <a:solidFill>
            <a:srgbClr val="FFFFFF"/>
          </a:solidFill>
          <a:ln/>
        </p:spPr>
      </p:sp>
      <p:sp>
        <p:nvSpPr>
          <p:cNvPr id="160" name="Text 158"/>
          <p:cNvSpPr/>
          <p:nvPr/>
        </p:nvSpPr>
        <p:spPr>
          <a:xfrm>
            <a:off x="722376" y="3867912"/>
            <a:ext cx="2724912"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Total Cities</a:t>
            </a:r>
            <a:endParaRPr lang="en-US" sz="900" dirty="0"/>
          </a:p>
        </p:txBody>
      </p:sp>
      <p:sp>
        <p:nvSpPr>
          <p:cNvPr id="161" name="Shape 159"/>
          <p:cNvSpPr/>
          <p:nvPr/>
        </p:nvSpPr>
        <p:spPr>
          <a:xfrm>
            <a:off x="3520440" y="3867912"/>
            <a:ext cx="2377440" cy="182880"/>
          </a:xfrm>
          <a:prstGeom prst="rect">
            <a:avLst/>
          </a:prstGeom>
          <a:solidFill>
            <a:srgbClr val="FFFFFF"/>
          </a:solidFill>
          <a:ln/>
        </p:spPr>
      </p:sp>
      <p:sp>
        <p:nvSpPr>
          <p:cNvPr id="162" name="Text 160"/>
          <p:cNvSpPr/>
          <p:nvPr/>
        </p:nvSpPr>
        <p:spPr>
          <a:xfrm>
            <a:off x="3557016" y="3867912"/>
            <a:ext cx="2304288"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DISTINCTCOUNT(City)</a:t>
            </a:r>
            <a:endParaRPr lang="en-US" sz="900" dirty="0"/>
          </a:p>
        </p:txBody>
      </p:sp>
      <p:sp>
        <p:nvSpPr>
          <p:cNvPr id="163" name="Shape 161"/>
          <p:cNvSpPr/>
          <p:nvPr/>
        </p:nvSpPr>
        <p:spPr>
          <a:xfrm>
            <a:off x="5943600" y="3867912"/>
            <a:ext cx="1591056" cy="182880"/>
          </a:xfrm>
          <a:prstGeom prst="rect">
            <a:avLst/>
          </a:prstGeom>
          <a:solidFill>
            <a:srgbClr val="FFFFFF"/>
          </a:solidFill>
          <a:ln/>
        </p:spPr>
      </p:sp>
      <p:sp>
        <p:nvSpPr>
          <p:cNvPr id="164" name="Text 162"/>
          <p:cNvSpPr/>
          <p:nvPr/>
        </p:nvSpPr>
        <p:spPr>
          <a:xfrm>
            <a:off x="5980176" y="3867912"/>
            <a:ext cx="1517904"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varies</a:t>
            </a:r>
            <a:endParaRPr lang="en-US" sz="900" dirty="0"/>
          </a:p>
        </p:txBody>
      </p:sp>
      <p:sp>
        <p:nvSpPr>
          <p:cNvPr id="165" name="Shape 163"/>
          <p:cNvSpPr/>
          <p:nvPr/>
        </p:nvSpPr>
        <p:spPr>
          <a:xfrm>
            <a:off x="7571232" y="3867912"/>
            <a:ext cx="1536192" cy="182880"/>
          </a:xfrm>
          <a:prstGeom prst="rect">
            <a:avLst/>
          </a:prstGeom>
          <a:solidFill>
            <a:srgbClr val="FFFFFF"/>
          </a:solidFill>
          <a:ln/>
        </p:spPr>
      </p:sp>
      <p:sp>
        <p:nvSpPr>
          <p:cNvPr id="166" name="Text 164"/>
          <p:cNvSpPr/>
          <p:nvPr/>
        </p:nvSpPr>
        <p:spPr>
          <a:xfrm>
            <a:off x="7607808" y="3867912"/>
            <a:ext cx="1463040" cy="182880"/>
          </a:xfrm>
          <a:prstGeom prst="rect">
            <a:avLst/>
          </a:prstGeom>
          <a:noFill/>
          <a:ln/>
        </p:spPr>
        <p:txBody>
          <a:bodyPr wrap="square" lIns="0" tIns="0" rIns="0" bIns="0" rtlCol="0" anchor="ctr"/>
          <a:lstStyle/>
          <a:p>
            <a:pPr marL="0" indent="0" algn="l">
              <a:buNone/>
            </a:pPr>
            <a:r>
              <a:rPr lang="en-US" sz="900" dirty="0">
                <a:solidFill>
                  <a:srgbClr val="9A4A52"/>
                </a:solidFill>
                <a:latin typeface="Calibri" pitchFamily="34" charset="0"/>
                <a:ea typeface="Calibri" pitchFamily="34" charset="-122"/>
                <a:cs typeface="Calibri" pitchFamily="34" charset="-120"/>
              </a:rPr>
              <a:t>Rest_Dim</a:t>
            </a:r>
            <a:endParaRPr lang="en-US" sz="900" dirty="0"/>
          </a:p>
        </p:txBody>
      </p:sp>
      <p:sp>
        <p:nvSpPr>
          <p:cNvPr id="167" name="Shape 165"/>
          <p:cNvSpPr/>
          <p:nvPr/>
        </p:nvSpPr>
        <p:spPr>
          <a:xfrm>
            <a:off x="256032" y="4050792"/>
            <a:ext cx="393192" cy="182880"/>
          </a:xfrm>
          <a:prstGeom prst="rect">
            <a:avLst/>
          </a:prstGeom>
          <a:solidFill>
            <a:srgbClr val="FDEAEC"/>
          </a:solidFill>
          <a:ln/>
        </p:spPr>
      </p:sp>
      <p:sp>
        <p:nvSpPr>
          <p:cNvPr id="168" name="Text 166"/>
          <p:cNvSpPr/>
          <p:nvPr/>
        </p:nvSpPr>
        <p:spPr>
          <a:xfrm>
            <a:off x="292608" y="4050792"/>
            <a:ext cx="320040" cy="182880"/>
          </a:xfrm>
          <a:prstGeom prst="rect">
            <a:avLst/>
          </a:prstGeom>
          <a:noFill/>
          <a:ln/>
        </p:spPr>
        <p:txBody>
          <a:bodyPr wrap="square" lIns="0" tIns="0" rIns="0" bIns="0" rtlCol="0" anchor="ctr"/>
          <a:lstStyle/>
          <a:p>
            <a:pPr marL="0" indent="0" algn="ctr">
              <a:buNone/>
            </a:pPr>
            <a:r>
              <a:rPr lang="en-US" sz="900" b="1" dirty="0">
                <a:solidFill>
                  <a:srgbClr val="E23744"/>
                </a:solidFill>
                <a:latin typeface="Calibri" pitchFamily="34" charset="0"/>
                <a:ea typeface="Calibri" pitchFamily="34" charset="-122"/>
                <a:cs typeface="Calibri" pitchFamily="34" charset="-120"/>
              </a:rPr>
              <a:t>16</a:t>
            </a:r>
            <a:endParaRPr lang="en-US" sz="900" dirty="0"/>
          </a:p>
        </p:txBody>
      </p:sp>
      <p:sp>
        <p:nvSpPr>
          <p:cNvPr id="169" name="Shape 167"/>
          <p:cNvSpPr/>
          <p:nvPr/>
        </p:nvSpPr>
        <p:spPr>
          <a:xfrm>
            <a:off x="685800" y="4050792"/>
            <a:ext cx="2798064" cy="182880"/>
          </a:xfrm>
          <a:prstGeom prst="rect">
            <a:avLst/>
          </a:prstGeom>
          <a:solidFill>
            <a:srgbClr val="FDEAEC"/>
          </a:solidFill>
          <a:ln/>
        </p:spPr>
      </p:sp>
      <p:sp>
        <p:nvSpPr>
          <p:cNvPr id="170" name="Text 168"/>
          <p:cNvSpPr/>
          <p:nvPr/>
        </p:nvSpPr>
        <p:spPr>
          <a:xfrm>
            <a:off x="722376" y="4050792"/>
            <a:ext cx="2724912"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Total Cuisines</a:t>
            </a:r>
            <a:endParaRPr lang="en-US" sz="900" dirty="0"/>
          </a:p>
        </p:txBody>
      </p:sp>
      <p:sp>
        <p:nvSpPr>
          <p:cNvPr id="171" name="Shape 169"/>
          <p:cNvSpPr/>
          <p:nvPr/>
        </p:nvSpPr>
        <p:spPr>
          <a:xfrm>
            <a:off x="3520440" y="4050792"/>
            <a:ext cx="2377440" cy="182880"/>
          </a:xfrm>
          <a:prstGeom prst="rect">
            <a:avLst/>
          </a:prstGeom>
          <a:solidFill>
            <a:srgbClr val="FDEAEC"/>
          </a:solidFill>
          <a:ln/>
        </p:spPr>
      </p:sp>
      <p:sp>
        <p:nvSpPr>
          <p:cNvPr id="172" name="Text 170"/>
          <p:cNvSpPr/>
          <p:nvPr/>
        </p:nvSpPr>
        <p:spPr>
          <a:xfrm>
            <a:off x="3557016" y="4050792"/>
            <a:ext cx="2304288"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DISTINCTCOUNT(Cuisines)</a:t>
            </a:r>
            <a:endParaRPr lang="en-US" sz="900" dirty="0"/>
          </a:p>
        </p:txBody>
      </p:sp>
      <p:sp>
        <p:nvSpPr>
          <p:cNvPr id="173" name="Shape 171"/>
          <p:cNvSpPr/>
          <p:nvPr/>
        </p:nvSpPr>
        <p:spPr>
          <a:xfrm>
            <a:off x="5943600" y="4050792"/>
            <a:ext cx="1591056" cy="182880"/>
          </a:xfrm>
          <a:prstGeom prst="rect">
            <a:avLst/>
          </a:prstGeom>
          <a:solidFill>
            <a:srgbClr val="FDEAEC"/>
          </a:solidFill>
          <a:ln/>
        </p:spPr>
      </p:sp>
      <p:sp>
        <p:nvSpPr>
          <p:cNvPr id="174" name="Text 172"/>
          <p:cNvSpPr/>
          <p:nvPr/>
        </p:nvSpPr>
        <p:spPr>
          <a:xfrm>
            <a:off x="5980176" y="4050792"/>
            <a:ext cx="1517904"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varies</a:t>
            </a:r>
            <a:endParaRPr lang="en-US" sz="900" dirty="0"/>
          </a:p>
        </p:txBody>
      </p:sp>
      <p:sp>
        <p:nvSpPr>
          <p:cNvPr id="175" name="Shape 173"/>
          <p:cNvSpPr/>
          <p:nvPr/>
        </p:nvSpPr>
        <p:spPr>
          <a:xfrm>
            <a:off x="7571232" y="4050792"/>
            <a:ext cx="1536192" cy="182880"/>
          </a:xfrm>
          <a:prstGeom prst="rect">
            <a:avLst/>
          </a:prstGeom>
          <a:solidFill>
            <a:srgbClr val="FDEAEC"/>
          </a:solidFill>
          <a:ln/>
        </p:spPr>
      </p:sp>
      <p:sp>
        <p:nvSpPr>
          <p:cNvPr id="176" name="Text 174"/>
          <p:cNvSpPr/>
          <p:nvPr/>
        </p:nvSpPr>
        <p:spPr>
          <a:xfrm>
            <a:off x="7607808" y="4050792"/>
            <a:ext cx="1463040" cy="182880"/>
          </a:xfrm>
          <a:prstGeom prst="rect">
            <a:avLst/>
          </a:prstGeom>
          <a:noFill/>
          <a:ln/>
        </p:spPr>
        <p:txBody>
          <a:bodyPr wrap="square" lIns="0" tIns="0" rIns="0" bIns="0" rtlCol="0" anchor="ctr"/>
          <a:lstStyle/>
          <a:p>
            <a:pPr marL="0" indent="0" algn="l">
              <a:buNone/>
            </a:pPr>
            <a:r>
              <a:rPr lang="en-US" sz="900" dirty="0">
                <a:solidFill>
                  <a:srgbClr val="9A4A52"/>
                </a:solidFill>
                <a:latin typeface="Calibri" pitchFamily="34" charset="0"/>
                <a:ea typeface="Calibri" pitchFamily="34" charset="-122"/>
                <a:cs typeface="Calibri" pitchFamily="34" charset="-120"/>
              </a:rPr>
              <a:t>Rest_Dim</a:t>
            </a:r>
            <a:endParaRPr lang="en-US" sz="900" dirty="0"/>
          </a:p>
        </p:txBody>
      </p:sp>
      <p:sp>
        <p:nvSpPr>
          <p:cNvPr id="177" name="Shape 175"/>
          <p:cNvSpPr/>
          <p:nvPr/>
        </p:nvSpPr>
        <p:spPr>
          <a:xfrm>
            <a:off x="256032" y="4233672"/>
            <a:ext cx="393192" cy="182880"/>
          </a:xfrm>
          <a:prstGeom prst="rect">
            <a:avLst/>
          </a:prstGeom>
          <a:solidFill>
            <a:srgbClr val="FFFFFF"/>
          </a:solidFill>
          <a:ln/>
        </p:spPr>
      </p:sp>
      <p:sp>
        <p:nvSpPr>
          <p:cNvPr id="178" name="Text 176"/>
          <p:cNvSpPr/>
          <p:nvPr/>
        </p:nvSpPr>
        <p:spPr>
          <a:xfrm>
            <a:off x="292608" y="4233672"/>
            <a:ext cx="320040" cy="182880"/>
          </a:xfrm>
          <a:prstGeom prst="rect">
            <a:avLst/>
          </a:prstGeom>
          <a:noFill/>
          <a:ln/>
        </p:spPr>
        <p:txBody>
          <a:bodyPr wrap="square" lIns="0" tIns="0" rIns="0" bIns="0" rtlCol="0" anchor="ctr"/>
          <a:lstStyle/>
          <a:p>
            <a:pPr marL="0" indent="0" algn="ctr">
              <a:buNone/>
            </a:pPr>
            <a:r>
              <a:rPr lang="en-US" sz="900" b="1" dirty="0">
                <a:solidFill>
                  <a:srgbClr val="E23744"/>
                </a:solidFill>
                <a:latin typeface="Calibri" pitchFamily="34" charset="0"/>
                <a:ea typeface="Calibri" pitchFamily="34" charset="-122"/>
                <a:cs typeface="Calibri" pitchFamily="34" charset="-120"/>
              </a:rPr>
              <a:t>17</a:t>
            </a:r>
            <a:endParaRPr lang="en-US" sz="900" dirty="0"/>
          </a:p>
        </p:txBody>
      </p:sp>
      <p:sp>
        <p:nvSpPr>
          <p:cNvPr id="179" name="Shape 177"/>
          <p:cNvSpPr/>
          <p:nvPr/>
        </p:nvSpPr>
        <p:spPr>
          <a:xfrm>
            <a:off x="685800" y="4233672"/>
            <a:ext cx="2798064" cy="182880"/>
          </a:xfrm>
          <a:prstGeom prst="rect">
            <a:avLst/>
          </a:prstGeom>
          <a:solidFill>
            <a:srgbClr val="FFFFFF"/>
          </a:solidFill>
          <a:ln/>
        </p:spPr>
      </p:sp>
      <p:sp>
        <p:nvSpPr>
          <p:cNvPr id="180" name="Text 178"/>
          <p:cNvSpPr/>
          <p:nvPr/>
        </p:nvSpPr>
        <p:spPr>
          <a:xfrm>
            <a:off x="722376" y="4233672"/>
            <a:ext cx="2724912"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North Indian Count</a:t>
            </a:r>
            <a:endParaRPr lang="en-US" sz="900" dirty="0"/>
          </a:p>
        </p:txBody>
      </p:sp>
      <p:sp>
        <p:nvSpPr>
          <p:cNvPr id="181" name="Shape 179"/>
          <p:cNvSpPr/>
          <p:nvPr/>
        </p:nvSpPr>
        <p:spPr>
          <a:xfrm>
            <a:off x="3520440" y="4233672"/>
            <a:ext cx="2377440" cy="182880"/>
          </a:xfrm>
          <a:prstGeom prst="rect">
            <a:avLst/>
          </a:prstGeom>
          <a:solidFill>
            <a:srgbClr val="FFFFFF"/>
          </a:solidFill>
          <a:ln/>
        </p:spPr>
      </p:sp>
      <p:sp>
        <p:nvSpPr>
          <p:cNvPr id="182" name="Text 180"/>
          <p:cNvSpPr/>
          <p:nvPr/>
        </p:nvSpPr>
        <p:spPr>
          <a:xfrm>
            <a:off x="3557016" y="4233672"/>
            <a:ext cx="2304288"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CALCULATE cuisine filter</a:t>
            </a:r>
            <a:endParaRPr lang="en-US" sz="900" dirty="0"/>
          </a:p>
        </p:txBody>
      </p:sp>
      <p:sp>
        <p:nvSpPr>
          <p:cNvPr id="183" name="Shape 181"/>
          <p:cNvSpPr/>
          <p:nvPr/>
        </p:nvSpPr>
        <p:spPr>
          <a:xfrm>
            <a:off x="5943600" y="4233672"/>
            <a:ext cx="1591056" cy="182880"/>
          </a:xfrm>
          <a:prstGeom prst="rect">
            <a:avLst/>
          </a:prstGeom>
          <a:solidFill>
            <a:srgbClr val="FFFFFF"/>
          </a:solidFill>
          <a:ln/>
        </p:spPr>
      </p:sp>
      <p:sp>
        <p:nvSpPr>
          <p:cNvPr id="184" name="Text 182"/>
          <p:cNvSpPr/>
          <p:nvPr/>
        </p:nvSpPr>
        <p:spPr>
          <a:xfrm>
            <a:off x="5980176" y="4233672"/>
            <a:ext cx="1517904"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936</a:t>
            </a:r>
            <a:endParaRPr lang="en-US" sz="900" dirty="0"/>
          </a:p>
        </p:txBody>
      </p:sp>
      <p:sp>
        <p:nvSpPr>
          <p:cNvPr id="185" name="Shape 183"/>
          <p:cNvSpPr/>
          <p:nvPr/>
        </p:nvSpPr>
        <p:spPr>
          <a:xfrm>
            <a:off x="7571232" y="4233672"/>
            <a:ext cx="1536192" cy="182880"/>
          </a:xfrm>
          <a:prstGeom prst="rect">
            <a:avLst/>
          </a:prstGeom>
          <a:solidFill>
            <a:srgbClr val="FFFFFF"/>
          </a:solidFill>
          <a:ln/>
        </p:spPr>
      </p:sp>
      <p:sp>
        <p:nvSpPr>
          <p:cNvPr id="186" name="Text 184"/>
          <p:cNvSpPr/>
          <p:nvPr/>
        </p:nvSpPr>
        <p:spPr>
          <a:xfrm>
            <a:off x="7607808" y="4233672"/>
            <a:ext cx="1463040" cy="182880"/>
          </a:xfrm>
          <a:prstGeom prst="rect">
            <a:avLst/>
          </a:prstGeom>
          <a:noFill/>
          <a:ln/>
        </p:spPr>
        <p:txBody>
          <a:bodyPr wrap="square" lIns="0" tIns="0" rIns="0" bIns="0" rtlCol="0" anchor="ctr"/>
          <a:lstStyle/>
          <a:p>
            <a:pPr marL="0" indent="0" algn="l">
              <a:buNone/>
            </a:pPr>
            <a:r>
              <a:rPr lang="en-US" sz="900" dirty="0">
                <a:solidFill>
                  <a:srgbClr val="9A4A52"/>
                </a:solidFill>
                <a:latin typeface="Calibri" pitchFamily="34" charset="0"/>
                <a:ea typeface="Calibri" pitchFamily="34" charset="-122"/>
                <a:cs typeface="Calibri" pitchFamily="34" charset="-120"/>
              </a:rPr>
              <a:t>Rest_Dim</a:t>
            </a:r>
            <a:endParaRPr lang="en-US" sz="900" dirty="0"/>
          </a:p>
        </p:txBody>
      </p:sp>
      <p:sp>
        <p:nvSpPr>
          <p:cNvPr id="187" name="Shape 185"/>
          <p:cNvSpPr/>
          <p:nvPr/>
        </p:nvSpPr>
        <p:spPr>
          <a:xfrm>
            <a:off x="256032" y="4416552"/>
            <a:ext cx="393192" cy="182880"/>
          </a:xfrm>
          <a:prstGeom prst="rect">
            <a:avLst/>
          </a:prstGeom>
          <a:solidFill>
            <a:srgbClr val="FDEAEC"/>
          </a:solidFill>
          <a:ln/>
        </p:spPr>
      </p:sp>
      <p:sp>
        <p:nvSpPr>
          <p:cNvPr id="188" name="Text 186"/>
          <p:cNvSpPr/>
          <p:nvPr/>
        </p:nvSpPr>
        <p:spPr>
          <a:xfrm>
            <a:off x="292608" y="4416552"/>
            <a:ext cx="320040" cy="182880"/>
          </a:xfrm>
          <a:prstGeom prst="rect">
            <a:avLst/>
          </a:prstGeom>
          <a:noFill/>
          <a:ln/>
        </p:spPr>
        <p:txBody>
          <a:bodyPr wrap="square" lIns="0" tIns="0" rIns="0" bIns="0" rtlCol="0" anchor="ctr"/>
          <a:lstStyle/>
          <a:p>
            <a:pPr marL="0" indent="0" algn="ctr">
              <a:buNone/>
            </a:pPr>
            <a:r>
              <a:rPr lang="en-US" sz="900" b="1" dirty="0">
                <a:solidFill>
                  <a:srgbClr val="E23744"/>
                </a:solidFill>
                <a:latin typeface="Calibri" pitchFamily="34" charset="0"/>
                <a:ea typeface="Calibri" pitchFamily="34" charset="-122"/>
                <a:cs typeface="Calibri" pitchFamily="34" charset="-120"/>
              </a:rPr>
              <a:t>18</a:t>
            </a:r>
            <a:endParaRPr lang="en-US" sz="900" dirty="0"/>
          </a:p>
        </p:txBody>
      </p:sp>
      <p:sp>
        <p:nvSpPr>
          <p:cNvPr id="189" name="Shape 187"/>
          <p:cNvSpPr/>
          <p:nvPr/>
        </p:nvSpPr>
        <p:spPr>
          <a:xfrm>
            <a:off x="685800" y="4416552"/>
            <a:ext cx="2798064" cy="182880"/>
          </a:xfrm>
          <a:prstGeom prst="rect">
            <a:avLst/>
          </a:prstGeom>
          <a:solidFill>
            <a:srgbClr val="FDEAEC"/>
          </a:solidFill>
          <a:ln/>
        </p:spPr>
      </p:sp>
      <p:sp>
        <p:nvSpPr>
          <p:cNvPr id="190" name="Text 188"/>
          <p:cNvSpPr/>
          <p:nvPr/>
        </p:nvSpPr>
        <p:spPr>
          <a:xfrm>
            <a:off x="722376" y="4416552"/>
            <a:ext cx="2724912"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Dynamic Title</a:t>
            </a:r>
            <a:endParaRPr lang="en-US" sz="900" dirty="0"/>
          </a:p>
        </p:txBody>
      </p:sp>
      <p:sp>
        <p:nvSpPr>
          <p:cNvPr id="191" name="Shape 189"/>
          <p:cNvSpPr/>
          <p:nvPr/>
        </p:nvSpPr>
        <p:spPr>
          <a:xfrm>
            <a:off x="3520440" y="4416552"/>
            <a:ext cx="2377440" cy="182880"/>
          </a:xfrm>
          <a:prstGeom prst="rect">
            <a:avLst/>
          </a:prstGeom>
          <a:solidFill>
            <a:srgbClr val="FDEAEC"/>
          </a:solidFill>
          <a:ln/>
        </p:spPr>
      </p:sp>
      <p:sp>
        <p:nvSpPr>
          <p:cNvPr id="192" name="Text 190"/>
          <p:cNvSpPr/>
          <p:nvPr/>
        </p:nvSpPr>
        <p:spPr>
          <a:xfrm>
            <a:off x="3557016" y="4416552"/>
            <a:ext cx="2304288"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IF + ISFILTERED + SELECTEDVALUE</a:t>
            </a:r>
            <a:endParaRPr lang="en-US" sz="900" dirty="0"/>
          </a:p>
        </p:txBody>
      </p:sp>
      <p:sp>
        <p:nvSpPr>
          <p:cNvPr id="193" name="Shape 191"/>
          <p:cNvSpPr/>
          <p:nvPr/>
        </p:nvSpPr>
        <p:spPr>
          <a:xfrm>
            <a:off x="5943600" y="4416552"/>
            <a:ext cx="1591056" cy="182880"/>
          </a:xfrm>
          <a:prstGeom prst="rect">
            <a:avLst/>
          </a:prstGeom>
          <a:solidFill>
            <a:srgbClr val="FDEAEC"/>
          </a:solidFill>
          <a:ln/>
        </p:spPr>
      </p:sp>
      <p:sp>
        <p:nvSpPr>
          <p:cNvPr id="194" name="Text 192"/>
          <p:cNvSpPr/>
          <p:nvPr/>
        </p:nvSpPr>
        <p:spPr>
          <a:xfrm>
            <a:off x="5980176" y="4416552"/>
            <a:ext cx="1517904"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text</a:t>
            </a:r>
            <a:endParaRPr lang="en-US" sz="900" dirty="0"/>
          </a:p>
        </p:txBody>
      </p:sp>
      <p:sp>
        <p:nvSpPr>
          <p:cNvPr id="195" name="Shape 193"/>
          <p:cNvSpPr/>
          <p:nvPr/>
        </p:nvSpPr>
        <p:spPr>
          <a:xfrm>
            <a:off x="7571232" y="4416552"/>
            <a:ext cx="1536192" cy="182880"/>
          </a:xfrm>
          <a:prstGeom prst="rect">
            <a:avLst/>
          </a:prstGeom>
          <a:solidFill>
            <a:srgbClr val="FDEAEC"/>
          </a:solidFill>
          <a:ln/>
        </p:spPr>
      </p:sp>
      <p:sp>
        <p:nvSpPr>
          <p:cNvPr id="196" name="Text 194"/>
          <p:cNvSpPr/>
          <p:nvPr/>
        </p:nvSpPr>
        <p:spPr>
          <a:xfrm>
            <a:off x="7607808" y="4416552"/>
            <a:ext cx="1463040" cy="182880"/>
          </a:xfrm>
          <a:prstGeom prst="rect">
            <a:avLst/>
          </a:prstGeom>
          <a:noFill/>
          <a:ln/>
        </p:spPr>
        <p:txBody>
          <a:bodyPr wrap="square" lIns="0" tIns="0" rIns="0" bIns="0" rtlCol="0" anchor="ctr"/>
          <a:lstStyle/>
          <a:p>
            <a:pPr marL="0" indent="0" algn="l">
              <a:buNone/>
            </a:pPr>
            <a:r>
              <a:rPr lang="en-US" sz="900" dirty="0">
                <a:solidFill>
                  <a:srgbClr val="9A4A52"/>
                </a:solidFill>
                <a:latin typeface="Calibri" pitchFamily="34" charset="0"/>
                <a:ea typeface="Calibri" pitchFamily="34" charset="-122"/>
                <a:cs typeface="Calibri" pitchFamily="34" charset="-120"/>
              </a:rPr>
              <a:t>Rest_Dim</a:t>
            </a:r>
            <a:endParaRPr lang="en-US" sz="900" dirty="0"/>
          </a:p>
        </p:txBody>
      </p:sp>
      <p:sp>
        <p:nvSpPr>
          <p:cNvPr id="197" name="Shape 195"/>
          <p:cNvSpPr/>
          <p:nvPr/>
        </p:nvSpPr>
        <p:spPr>
          <a:xfrm>
            <a:off x="256032" y="4599432"/>
            <a:ext cx="393192" cy="182880"/>
          </a:xfrm>
          <a:prstGeom prst="rect">
            <a:avLst/>
          </a:prstGeom>
          <a:solidFill>
            <a:srgbClr val="FFFFFF"/>
          </a:solidFill>
          <a:ln/>
        </p:spPr>
      </p:sp>
      <p:sp>
        <p:nvSpPr>
          <p:cNvPr id="198" name="Text 196"/>
          <p:cNvSpPr/>
          <p:nvPr/>
        </p:nvSpPr>
        <p:spPr>
          <a:xfrm>
            <a:off x="292608" y="4599432"/>
            <a:ext cx="320040" cy="182880"/>
          </a:xfrm>
          <a:prstGeom prst="rect">
            <a:avLst/>
          </a:prstGeom>
          <a:noFill/>
          <a:ln/>
        </p:spPr>
        <p:txBody>
          <a:bodyPr wrap="square" lIns="0" tIns="0" rIns="0" bIns="0" rtlCol="0" anchor="ctr"/>
          <a:lstStyle/>
          <a:p>
            <a:pPr marL="0" indent="0" algn="ctr">
              <a:buNone/>
            </a:pPr>
            <a:r>
              <a:rPr lang="en-US" sz="900" b="1" dirty="0">
                <a:solidFill>
                  <a:srgbClr val="E23744"/>
                </a:solidFill>
                <a:latin typeface="Calibri" pitchFamily="34" charset="0"/>
                <a:ea typeface="Calibri" pitchFamily="34" charset="-122"/>
                <a:cs typeface="Calibri" pitchFamily="34" charset="-120"/>
              </a:rPr>
              <a:t>19</a:t>
            </a:r>
            <a:endParaRPr lang="en-US" sz="900" dirty="0"/>
          </a:p>
        </p:txBody>
      </p:sp>
      <p:sp>
        <p:nvSpPr>
          <p:cNvPr id="199" name="Shape 197"/>
          <p:cNvSpPr/>
          <p:nvPr/>
        </p:nvSpPr>
        <p:spPr>
          <a:xfrm>
            <a:off x="685800" y="4599432"/>
            <a:ext cx="2798064" cy="182880"/>
          </a:xfrm>
          <a:prstGeom prst="rect">
            <a:avLst/>
          </a:prstGeom>
          <a:solidFill>
            <a:srgbClr val="FFFFFF"/>
          </a:solidFill>
          <a:ln/>
        </p:spPr>
      </p:sp>
      <p:sp>
        <p:nvSpPr>
          <p:cNvPr id="200" name="Text 198"/>
          <p:cNvSpPr/>
          <p:nvPr/>
        </p:nvSpPr>
        <p:spPr>
          <a:xfrm>
            <a:off x="722376" y="4599432"/>
            <a:ext cx="2724912"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India Share %</a:t>
            </a:r>
            <a:endParaRPr lang="en-US" sz="900" dirty="0"/>
          </a:p>
        </p:txBody>
      </p:sp>
      <p:sp>
        <p:nvSpPr>
          <p:cNvPr id="201" name="Shape 199"/>
          <p:cNvSpPr/>
          <p:nvPr/>
        </p:nvSpPr>
        <p:spPr>
          <a:xfrm>
            <a:off x="3520440" y="4599432"/>
            <a:ext cx="2377440" cy="182880"/>
          </a:xfrm>
          <a:prstGeom prst="rect">
            <a:avLst/>
          </a:prstGeom>
          <a:solidFill>
            <a:srgbClr val="FFFFFF"/>
          </a:solidFill>
          <a:ln/>
        </p:spPr>
      </p:sp>
      <p:sp>
        <p:nvSpPr>
          <p:cNvPr id="202" name="Text 200"/>
          <p:cNvSpPr/>
          <p:nvPr/>
        </p:nvSpPr>
        <p:spPr>
          <a:xfrm>
            <a:off x="3557016" y="4599432"/>
            <a:ext cx="2304288"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CALCULATE country filter / total</a:t>
            </a:r>
            <a:endParaRPr lang="en-US" sz="900" dirty="0"/>
          </a:p>
        </p:txBody>
      </p:sp>
      <p:sp>
        <p:nvSpPr>
          <p:cNvPr id="203" name="Shape 201"/>
          <p:cNvSpPr/>
          <p:nvPr/>
        </p:nvSpPr>
        <p:spPr>
          <a:xfrm>
            <a:off x="5943600" y="4599432"/>
            <a:ext cx="1591056" cy="182880"/>
          </a:xfrm>
          <a:prstGeom prst="rect">
            <a:avLst/>
          </a:prstGeom>
          <a:solidFill>
            <a:srgbClr val="FFFFFF"/>
          </a:solidFill>
          <a:ln/>
        </p:spPr>
      </p:sp>
      <p:sp>
        <p:nvSpPr>
          <p:cNvPr id="204" name="Text 202"/>
          <p:cNvSpPr/>
          <p:nvPr/>
        </p:nvSpPr>
        <p:spPr>
          <a:xfrm>
            <a:off x="5980176" y="4599432"/>
            <a:ext cx="1517904"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90.6%</a:t>
            </a:r>
            <a:endParaRPr lang="en-US" sz="900" dirty="0"/>
          </a:p>
        </p:txBody>
      </p:sp>
      <p:sp>
        <p:nvSpPr>
          <p:cNvPr id="205" name="Shape 203"/>
          <p:cNvSpPr/>
          <p:nvPr/>
        </p:nvSpPr>
        <p:spPr>
          <a:xfrm>
            <a:off x="7571232" y="4599432"/>
            <a:ext cx="1536192" cy="182880"/>
          </a:xfrm>
          <a:prstGeom prst="rect">
            <a:avLst/>
          </a:prstGeom>
          <a:solidFill>
            <a:srgbClr val="FFFFFF"/>
          </a:solidFill>
          <a:ln/>
        </p:spPr>
      </p:sp>
      <p:sp>
        <p:nvSpPr>
          <p:cNvPr id="206" name="Text 204"/>
          <p:cNvSpPr/>
          <p:nvPr/>
        </p:nvSpPr>
        <p:spPr>
          <a:xfrm>
            <a:off x="7607808" y="4599432"/>
            <a:ext cx="1463040" cy="182880"/>
          </a:xfrm>
          <a:prstGeom prst="rect">
            <a:avLst/>
          </a:prstGeom>
          <a:noFill/>
          <a:ln/>
        </p:spPr>
        <p:txBody>
          <a:bodyPr wrap="square" lIns="0" tIns="0" rIns="0" bIns="0" rtlCol="0" anchor="ctr"/>
          <a:lstStyle/>
          <a:p>
            <a:pPr marL="0" indent="0" algn="l">
              <a:buNone/>
            </a:pPr>
            <a:r>
              <a:rPr lang="en-US" sz="900" dirty="0">
                <a:solidFill>
                  <a:srgbClr val="9A4A52"/>
                </a:solidFill>
                <a:latin typeface="Calibri" pitchFamily="34" charset="0"/>
                <a:ea typeface="Calibri" pitchFamily="34" charset="-122"/>
                <a:cs typeface="Calibri" pitchFamily="34" charset="-120"/>
              </a:rPr>
              <a:t>Country</a:t>
            </a:r>
            <a:endParaRPr lang="en-US" sz="900" dirty="0"/>
          </a:p>
        </p:txBody>
      </p:sp>
      <p:sp>
        <p:nvSpPr>
          <p:cNvPr id="207" name="Shape 205"/>
          <p:cNvSpPr/>
          <p:nvPr/>
        </p:nvSpPr>
        <p:spPr>
          <a:xfrm>
            <a:off x="256032" y="4782312"/>
            <a:ext cx="393192" cy="182880"/>
          </a:xfrm>
          <a:prstGeom prst="rect">
            <a:avLst/>
          </a:prstGeom>
          <a:solidFill>
            <a:srgbClr val="FDEAEC"/>
          </a:solidFill>
          <a:ln/>
        </p:spPr>
      </p:sp>
      <p:sp>
        <p:nvSpPr>
          <p:cNvPr id="208" name="Text 206"/>
          <p:cNvSpPr/>
          <p:nvPr/>
        </p:nvSpPr>
        <p:spPr>
          <a:xfrm>
            <a:off x="292608" y="4782312"/>
            <a:ext cx="320040" cy="182880"/>
          </a:xfrm>
          <a:prstGeom prst="rect">
            <a:avLst/>
          </a:prstGeom>
          <a:noFill/>
          <a:ln/>
        </p:spPr>
        <p:txBody>
          <a:bodyPr wrap="square" lIns="0" tIns="0" rIns="0" bIns="0" rtlCol="0" anchor="ctr"/>
          <a:lstStyle/>
          <a:p>
            <a:pPr marL="0" indent="0" algn="ctr">
              <a:buNone/>
            </a:pPr>
            <a:r>
              <a:rPr lang="en-US" sz="900" b="1" dirty="0">
                <a:solidFill>
                  <a:srgbClr val="E23744"/>
                </a:solidFill>
                <a:latin typeface="Calibri" pitchFamily="34" charset="0"/>
                <a:ea typeface="Calibri" pitchFamily="34" charset="-122"/>
                <a:cs typeface="Calibri" pitchFamily="34" charset="-120"/>
              </a:rPr>
              <a:t>20</a:t>
            </a:r>
            <a:endParaRPr lang="en-US" sz="900" dirty="0"/>
          </a:p>
        </p:txBody>
      </p:sp>
      <p:sp>
        <p:nvSpPr>
          <p:cNvPr id="209" name="Shape 207"/>
          <p:cNvSpPr/>
          <p:nvPr/>
        </p:nvSpPr>
        <p:spPr>
          <a:xfrm>
            <a:off x="685800" y="4782312"/>
            <a:ext cx="2798064" cy="182880"/>
          </a:xfrm>
          <a:prstGeom prst="rect">
            <a:avLst/>
          </a:prstGeom>
          <a:solidFill>
            <a:srgbClr val="FDEAEC"/>
          </a:solidFill>
          <a:ln/>
        </p:spPr>
      </p:sp>
      <p:sp>
        <p:nvSpPr>
          <p:cNvPr id="210" name="Text 208"/>
          <p:cNvSpPr/>
          <p:nvPr/>
        </p:nvSpPr>
        <p:spPr>
          <a:xfrm>
            <a:off x="722376" y="4782312"/>
            <a:ext cx="2724912"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Asia Count</a:t>
            </a:r>
            <a:endParaRPr lang="en-US" sz="900" dirty="0"/>
          </a:p>
        </p:txBody>
      </p:sp>
      <p:sp>
        <p:nvSpPr>
          <p:cNvPr id="211" name="Shape 209"/>
          <p:cNvSpPr/>
          <p:nvPr/>
        </p:nvSpPr>
        <p:spPr>
          <a:xfrm>
            <a:off x="3520440" y="4782312"/>
            <a:ext cx="2377440" cy="182880"/>
          </a:xfrm>
          <a:prstGeom prst="rect">
            <a:avLst/>
          </a:prstGeom>
          <a:solidFill>
            <a:srgbClr val="FDEAEC"/>
          </a:solidFill>
          <a:ln/>
        </p:spPr>
      </p:sp>
      <p:sp>
        <p:nvSpPr>
          <p:cNvPr id="212" name="Text 210"/>
          <p:cNvSpPr/>
          <p:nvPr/>
        </p:nvSpPr>
        <p:spPr>
          <a:xfrm>
            <a:off x="3557016" y="4782312"/>
            <a:ext cx="2304288"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CALCULATE continent filter</a:t>
            </a:r>
            <a:endParaRPr lang="en-US" sz="900" dirty="0"/>
          </a:p>
        </p:txBody>
      </p:sp>
      <p:sp>
        <p:nvSpPr>
          <p:cNvPr id="213" name="Shape 211"/>
          <p:cNvSpPr/>
          <p:nvPr/>
        </p:nvSpPr>
        <p:spPr>
          <a:xfrm>
            <a:off x="5943600" y="4782312"/>
            <a:ext cx="1591056" cy="182880"/>
          </a:xfrm>
          <a:prstGeom prst="rect">
            <a:avLst/>
          </a:prstGeom>
          <a:solidFill>
            <a:srgbClr val="FDEAEC"/>
          </a:solidFill>
          <a:ln/>
        </p:spPr>
      </p:sp>
      <p:sp>
        <p:nvSpPr>
          <p:cNvPr id="214" name="Text 212"/>
          <p:cNvSpPr/>
          <p:nvPr/>
        </p:nvSpPr>
        <p:spPr>
          <a:xfrm>
            <a:off x="5980176" y="4782312"/>
            <a:ext cx="1517904" cy="182880"/>
          </a:xfrm>
          <a:prstGeom prst="rect">
            <a:avLst/>
          </a:prstGeom>
          <a:noFill/>
          <a:ln/>
        </p:spPr>
        <p:txBody>
          <a:bodyPr wrap="square" lIns="0" tIns="0" rIns="0" bIns="0" rtlCol="0" anchor="ctr"/>
          <a:lstStyle/>
          <a:p>
            <a:pPr marL="0" indent="0" algn="l">
              <a:buNone/>
            </a:pPr>
            <a:r>
              <a:rPr lang="en-US" sz="900" dirty="0">
                <a:solidFill>
                  <a:srgbClr val="2C0A0E"/>
                </a:solidFill>
                <a:latin typeface="Calibri" pitchFamily="34" charset="0"/>
                <a:ea typeface="Calibri" pitchFamily="34" charset="-122"/>
                <a:cs typeface="Calibri" pitchFamily="34" charset="-120"/>
              </a:rPr>
              <a:t>8,815</a:t>
            </a:r>
            <a:endParaRPr lang="en-US" sz="900" dirty="0"/>
          </a:p>
        </p:txBody>
      </p:sp>
      <p:sp>
        <p:nvSpPr>
          <p:cNvPr id="215" name="Shape 213"/>
          <p:cNvSpPr/>
          <p:nvPr/>
        </p:nvSpPr>
        <p:spPr>
          <a:xfrm>
            <a:off x="7571232" y="4782312"/>
            <a:ext cx="1536192" cy="182880"/>
          </a:xfrm>
          <a:prstGeom prst="rect">
            <a:avLst/>
          </a:prstGeom>
          <a:solidFill>
            <a:srgbClr val="FDEAEC"/>
          </a:solidFill>
          <a:ln/>
        </p:spPr>
      </p:sp>
      <p:sp>
        <p:nvSpPr>
          <p:cNvPr id="216" name="Text 214"/>
          <p:cNvSpPr/>
          <p:nvPr/>
        </p:nvSpPr>
        <p:spPr>
          <a:xfrm>
            <a:off x="7607808" y="4782312"/>
            <a:ext cx="1463040" cy="182880"/>
          </a:xfrm>
          <a:prstGeom prst="rect">
            <a:avLst/>
          </a:prstGeom>
          <a:noFill/>
          <a:ln/>
        </p:spPr>
        <p:txBody>
          <a:bodyPr wrap="square" lIns="0" tIns="0" rIns="0" bIns="0" rtlCol="0" anchor="ctr"/>
          <a:lstStyle/>
          <a:p>
            <a:pPr marL="0" indent="0" algn="l">
              <a:buNone/>
            </a:pPr>
            <a:r>
              <a:rPr lang="en-US" sz="900" dirty="0">
                <a:solidFill>
                  <a:srgbClr val="9A4A52"/>
                </a:solidFill>
                <a:latin typeface="Calibri" pitchFamily="34" charset="0"/>
                <a:ea typeface="Calibri" pitchFamily="34" charset="-122"/>
                <a:cs typeface="Calibri" pitchFamily="34" charset="-120"/>
              </a:rPr>
              <a:t>Country</a:t>
            </a:r>
            <a:endParaRPr lang="en-US" sz="900" dirty="0"/>
          </a:p>
        </p:txBody>
      </p:sp>
      <p:sp>
        <p:nvSpPr>
          <p:cNvPr id="217" name="Shape 215"/>
          <p:cNvSpPr/>
          <p:nvPr/>
        </p:nvSpPr>
        <p:spPr>
          <a:xfrm>
            <a:off x="0" y="4832604"/>
            <a:ext cx="9144000" cy="310896"/>
          </a:xfrm>
          <a:prstGeom prst="rect">
            <a:avLst/>
          </a:prstGeom>
          <a:solidFill>
            <a:srgbClr val="E23744"/>
          </a:solidFill>
          <a:ln/>
        </p:spPr>
      </p:sp>
      <p:sp>
        <p:nvSpPr>
          <p:cNvPr id="218" name="Text 216"/>
          <p:cNvSpPr/>
          <p:nvPr/>
        </p:nvSpPr>
        <p:spPr>
          <a:xfrm>
            <a:off x="274320" y="4832604"/>
            <a:ext cx="8595360" cy="310896"/>
          </a:xfrm>
          <a:prstGeom prst="rect">
            <a:avLst/>
          </a:prstGeom>
          <a:noFill/>
          <a:ln/>
        </p:spPr>
        <p:txBody>
          <a:bodyPr wrap="square" rtlCol="0" anchor="ctr"/>
          <a:lstStyle/>
          <a:p>
            <a:pPr marL="0" indent="0">
              <a:buNone/>
            </a:pP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23744"/>
          </a:solidFill>
          <a:ln/>
        </p:spPr>
      </p:sp>
      <p:sp>
        <p:nvSpPr>
          <p:cNvPr id="3" name="Shape 1"/>
          <p:cNvSpPr/>
          <p:nvPr/>
        </p:nvSpPr>
        <p:spPr>
          <a:xfrm>
            <a:off x="0" y="749808"/>
            <a:ext cx="9144000" cy="45720"/>
          </a:xfrm>
          <a:prstGeom prst="rect">
            <a:avLst/>
          </a:prstGeom>
          <a:solidFill>
            <a:srgbClr val="B8202E"/>
          </a:solidFill>
          <a:ln/>
        </p:spPr>
      </p:sp>
      <p:sp>
        <p:nvSpPr>
          <p:cNvPr id="4" name="Text 2"/>
          <p:cNvSpPr/>
          <p:nvPr/>
        </p:nvSpPr>
        <p:spPr>
          <a:xfrm>
            <a:off x="320040" y="0"/>
            <a:ext cx="8229600" cy="749808"/>
          </a:xfrm>
          <a:prstGeom prst="rect">
            <a:avLst/>
          </a:prstGeom>
          <a:noFill/>
          <a:ln/>
        </p:spPr>
        <p:txBody>
          <a:bodyPr wrap="square" rtlCol="0" anchor="ctr"/>
          <a:lstStyle/>
          <a:p>
            <a:pPr marL="0" indent="0" algn="ctr">
              <a:buNone/>
            </a:pPr>
            <a:r>
              <a:rPr lang="en-US" sz="2300" b="1" dirty="0">
                <a:solidFill>
                  <a:srgbClr val="FFFFFF"/>
                </a:solidFill>
                <a:latin typeface="Calibri" pitchFamily="34" charset="0"/>
                <a:ea typeface="Calibri" pitchFamily="34" charset="-122"/>
                <a:cs typeface="Calibri" pitchFamily="34" charset="-120"/>
              </a:rPr>
              <a:t>DASHBOARD PAGE 1 </a:t>
            </a:r>
            <a:endParaRPr lang="en-US" sz="2300" dirty="0"/>
          </a:p>
        </p:txBody>
      </p:sp>
      <p:sp>
        <p:nvSpPr>
          <p:cNvPr id="5" name="Shape 3"/>
          <p:cNvSpPr/>
          <p:nvPr/>
        </p:nvSpPr>
        <p:spPr>
          <a:xfrm>
            <a:off x="8705088" y="109728"/>
            <a:ext cx="347472" cy="347472"/>
          </a:xfrm>
          <a:prstGeom prst="ellipse">
            <a:avLst/>
          </a:prstGeom>
          <a:solidFill>
            <a:srgbClr val="B8202E"/>
          </a:solidFill>
          <a:ln/>
        </p:spPr>
      </p:sp>
      <p:sp>
        <p:nvSpPr>
          <p:cNvPr id="6" name="Text 4"/>
          <p:cNvSpPr/>
          <p:nvPr/>
        </p:nvSpPr>
        <p:spPr>
          <a:xfrm>
            <a:off x="8705088" y="1097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9</a:t>
            </a:r>
            <a:endParaRPr lang="en-US" sz="1300" dirty="0"/>
          </a:p>
        </p:txBody>
      </p:sp>
      <p:sp>
        <p:nvSpPr>
          <p:cNvPr id="8" name="Shape 5"/>
          <p:cNvSpPr/>
          <p:nvPr/>
        </p:nvSpPr>
        <p:spPr>
          <a:xfrm>
            <a:off x="256032" y="3913632"/>
            <a:ext cx="5394960" cy="329184"/>
          </a:xfrm>
          <a:prstGeom prst="rect">
            <a:avLst/>
          </a:prstGeom>
          <a:solidFill>
            <a:srgbClr val="FDEAEC"/>
          </a:solidFill>
          <a:ln/>
        </p:spPr>
      </p:sp>
      <p:sp>
        <p:nvSpPr>
          <p:cNvPr id="9" name="Shape 6"/>
          <p:cNvSpPr/>
          <p:nvPr/>
        </p:nvSpPr>
        <p:spPr>
          <a:xfrm>
            <a:off x="256032" y="3913632"/>
            <a:ext cx="54864" cy="329184"/>
          </a:xfrm>
          <a:prstGeom prst="rect">
            <a:avLst/>
          </a:prstGeom>
          <a:solidFill>
            <a:srgbClr val="E23744"/>
          </a:solidFill>
          <a:ln/>
        </p:spPr>
      </p:sp>
      <p:sp>
        <p:nvSpPr>
          <p:cNvPr id="10" name="Text 7"/>
          <p:cNvSpPr/>
          <p:nvPr/>
        </p:nvSpPr>
        <p:spPr>
          <a:xfrm>
            <a:off x="347472" y="3913632"/>
            <a:ext cx="5212080" cy="329184"/>
          </a:xfrm>
          <a:prstGeom prst="rect">
            <a:avLst/>
          </a:prstGeom>
          <a:noFill/>
          <a:ln/>
        </p:spPr>
        <p:txBody>
          <a:bodyPr wrap="square" lIns="0" tIns="0" rIns="0" bIns="0" rtlCol="0" anchor="ctr"/>
          <a:lstStyle/>
          <a:p>
            <a:pPr marL="0" indent="0">
              <a:buNone/>
            </a:pPr>
            <a:r>
              <a:rPr lang="en-US" sz="950" b="1" dirty="0">
                <a:solidFill>
                  <a:srgbClr val="B8202E"/>
                </a:solidFill>
                <a:latin typeface="Calibri" pitchFamily="34" charset="0"/>
                <a:ea typeface="Calibri" pitchFamily="34" charset="-122"/>
                <a:cs typeface="Calibri" pitchFamily="34" charset="-120"/>
              </a:rPr>
              <a:t>📊  Live Dashboard — Page 1: Restaurant Performance &amp; Customer Rating Analysis</a:t>
            </a:r>
            <a:endParaRPr lang="en-US" sz="950" dirty="0"/>
          </a:p>
        </p:txBody>
      </p:sp>
      <p:sp>
        <p:nvSpPr>
          <p:cNvPr id="39" name="Shape 36"/>
          <p:cNvSpPr/>
          <p:nvPr/>
        </p:nvSpPr>
        <p:spPr>
          <a:xfrm>
            <a:off x="0" y="4830318"/>
            <a:ext cx="9144000" cy="310896"/>
          </a:xfrm>
          <a:prstGeom prst="rect">
            <a:avLst/>
          </a:prstGeom>
          <a:solidFill>
            <a:srgbClr val="E23744"/>
          </a:solidFill>
          <a:ln/>
        </p:spPr>
        <p:txBody>
          <a:bodyPr/>
          <a:lstStyle/>
          <a:p>
            <a:endParaRPr lang="en-IN" dirty="0"/>
          </a:p>
        </p:txBody>
      </p:sp>
      <p:sp>
        <p:nvSpPr>
          <p:cNvPr id="40" name="Text 37"/>
          <p:cNvSpPr/>
          <p:nvPr/>
        </p:nvSpPr>
        <p:spPr>
          <a:xfrm>
            <a:off x="274320" y="4832604"/>
            <a:ext cx="8595360" cy="310896"/>
          </a:xfrm>
          <a:prstGeom prst="rect">
            <a:avLst/>
          </a:prstGeom>
          <a:noFill/>
          <a:ln/>
        </p:spPr>
        <p:txBody>
          <a:bodyPr wrap="square" rtlCol="0" anchor="ctr"/>
          <a:lstStyle/>
          <a:p>
            <a:pPr marL="0" indent="0">
              <a:buNone/>
            </a:pPr>
            <a:endParaRPr lang="en-US" sz="1050" dirty="0"/>
          </a:p>
        </p:txBody>
      </p:sp>
      <p:pic>
        <p:nvPicPr>
          <p:cNvPr id="42" name="Picture 41">
            <a:extLst>
              <a:ext uri="{FF2B5EF4-FFF2-40B4-BE49-F238E27FC236}">
                <a16:creationId xmlns:a16="http://schemas.microsoft.com/office/drawing/2014/main" id="{8407D1D1-4AEE-CE00-DB5A-9E853DC47DF4}"/>
              </a:ext>
            </a:extLst>
          </p:cNvPr>
          <p:cNvPicPr>
            <a:picLocks noChangeAspect="1"/>
          </p:cNvPicPr>
          <p:nvPr/>
        </p:nvPicPr>
        <p:blipFill>
          <a:blip r:embed="rId3"/>
          <a:stretch>
            <a:fillRect/>
          </a:stretch>
        </p:blipFill>
        <p:spPr>
          <a:xfrm>
            <a:off x="70778" y="900684"/>
            <a:ext cx="8981782" cy="292150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9F9"/>
        </a:solidFill>
        <a:effectLst/>
      </p:bgPr>
    </p:bg>
    <p:spTree>
      <p:nvGrpSpPr>
        <p:cNvPr id="1" name=""/>
        <p:cNvGrpSpPr/>
        <p:nvPr/>
      </p:nvGrpSpPr>
      <p:grpSpPr>
        <a:xfrm>
          <a:off x="0" y="0"/>
          <a:ext cx="0" cy="0"/>
          <a:chOff x="0" y="0"/>
          <a:chExt cx="0" cy="0"/>
        </a:xfrm>
      </p:grpSpPr>
      <p:sp>
        <p:nvSpPr>
          <p:cNvPr id="2" name="Shape 0"/>
          <p:cNvSpPr/>
          <p:nvPr/>
        </p:nvSpPr>
        <p:spPr>
          <a:xfrm>
            <a:off x="-25322" y="-4572"/>
            <a:ext cx="9144000" cy="749808"/>
          </a:xfrm>
          <a:prstGeom prst="rect">
            <a:avLst/>
          </a:prstGeom>
          <a:solidFill>
            <a:srgbClr val="E23744"/>
          </a:solidFill>
          <a:ln/>
        </p:spPr>
      </p:sp>
      <p:sp>
        <p:nvSpPr>
          <p:cNvPr id="3" name="Shape 1"/>
          <p:cNvSpPr/>
          <p:nvPr/>
        </p:nvSpPr>
        <p:spPr>
          <a:xfrm>
            <a:off x="0" y="749808"/>
            <a:ext cx="9144000" cy="45720"/>
          </a:xfrm>
          <a:prstGeom prst="rect">
            <a:avLst/>
          </a:prstGeom>
          <a:solidFill>
            <a:srgbClr val="B8202E"/>
          </a:solidFill>
          <a:ln/>
        </p:spPr>
      </p:sp>
      <p:sp>
        <p:nvSpPr>
          <p:cNvPr id="4" name="Text 2"/>
          <p:cNvSpPr/>
          <p:nvPr/>
        </p:nvSpPr>
        <p:spPr>
          <a:xfrm>
            <a:off x="320040" y="0"/>
            <a:ext cx="8229600" cy="749808"/>
          </a:xfrm>
          <a:prstGeom prst="rect">
            <a:avLst/>
          </a:prstGeom>
          <a:noFill/>
          <a:ln/>
        </p:spPr>
        <p:txBody>
          <a:bodyPr wrap="square" rtlCol="0" anchor="ctr"/>
          <a:lstStyle/>
          <a:p>
            <a:pPr marL="0" indent="0" algn="ctr">
              <a:buNone/>
            </a:pPr>
            <a:r>
              <a:rPr lang="en-US" sz="2300" b="1" dirty="0">
                <a:solidFill>
                  <a:srgbClr val="FFFFFF"/>
                </a:solidFill>
                <a:latin typeface="Calibri" pitchFamily="34" charset="0"/>
                <a:ea typeface="Calibri" pitchFamily="34" charset="-122"/>
                <a:cs typeface="Calibri" pitchFamily="34" charset="-120"/>
              </a:rPr>
              <a:t>DASHBOARD PAGE 2 </a:t>
            </a:r>
            <a:endParaRPr lang="en-US" sz="2300" dirty="0"/>
          </a:p>
        </p:txBody>
      </p:sp>
      <p:sp>
        <p:nvSpPr>
          <p:cNvPr id="5" name="Shape 3"/>
          <p:cNvSpPr/>
          <p:nvPr/>
        </p:nvSpPr>
        <p:spPr>
          <a:xfrm>
            <a:off x="8705088" y="109728"/>
            <a:ext cx="347472" cy="347472"/>
          </a:xfrm>
          <a:prstGeom prst="ellipse">
            <a:avLst/>
          </a:prstGeom>
          <a:solidFill>
            <a:srgbClr val="B8202E"/>
          </a:solidFill>
          <a:ln/>
        </p:spPr>
      </p:sp>
      <p:sp>
        <p:nvSpPr>
          <p:cNvPr id="6" name="Text 4"/>
          <p:cNvSpPr/>
          <p:nvPr/>
        </p:nvSpPr>
        <p:spPr>
          <a:xfrm>
            <a:off x="8705088" y="1097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10</a:t>
            </a:r>
            <a:endParaRPr lang="en-US" sz="1300" dirty="0"/>
          </a:p>
        </p:txBody>
      </p:sp>
      <p:sp>
        <p:nvSpPr>
          <p:cNvPr id="8" name="Shape 5"/>
          <p:cNvSpPr/>
          <p:nvPr/>
        </p:nvSpPr>
        <p:spPr>
          <a:xfrm>
            <a:off x="256032" y="3913632"/>
            <a:ext cx="5394960" cy="329184"/>
          </a:xfrm>
          <a:prstGeom prst="rect">
            <a:avLst/>
          </a:prstGeom>
          <a:solidFill>
            <a:srgbClr val="FDEAEC"/>
          </a:solidFill>
          <a:ln/>
        </p:spPr>
      </p:sp>
      <p:sp>
        <p:nvSpPr>
          <p:cNvPr id="9" name="Shape 6"/>
          <p:cNvSpPr/>
          <p:nvPr/>
        </p:nvSpPr>
        <p:spPr>
          <a:xfrm>
            <a:off x="256032" y="3913632"/>
            <a:ext cx="54864" cy="329184"/>
          </a:xfrm>
          <a:prstGeom prst="rect">
            <a:avLst/>
          </a:prstGeom>
          <a:solidFill>
            <a:srgbClr val="B8202E"/>
          </a:solidFill>
          <a:ln/>
        </p:spPr>
      </p:sp>
      <p:sp>
        <p:nvSpPr>
          <p:cNvPr id="10" name="Text 7"/>
          <p:cNvSpPr/>
          <p:nvPr/>
        </p:nvSpPr>
        <p:spPr>
          <a:xfrm>
            <a:off x="347472" y="3913632"/>
            <a:ext cx="5212080" cy="329184"/>
          </a:xfrm>
          <a:prstGeom prst="rect">
            <a:avLst/>
          </a:prstGeom>
          <a:noFill/>
          <a:ln/>
        </p:spPr>
        <p:txBody>
          <a:bodyPr wrap="square" lIns="0" tIns="0" rIns="0" bIns="0" rtlCol="0" anchor="ctr"/>
          <a:lstStyle/>
          <a:p>
            <a:pPr marL="0" indent="0">
              <a:buNone/>
            </a:pPr>
            <a:r>
              <a:rPr lang="en-US" sz="950" b="1" dirty="0">
                <a:solidFill>
                  <a:srgbClr val="B8202E"/>
                </a:solidFill>
                <a:latin typeface="Calibri" pitchFamily="34" charset="0"/>
                <a:ea typeface="Calibri" pitchFamily="34" charset="-122"/>
                <a:cs typeface="Calibri" pitchFamily="34" charset="-120"/>
              </a:rPr>
              <a:t>📊  Live Dashboard — Page 2: Performance Deep Dive Analysis</a:t>
            </a:r>
            <a:endParaRPr lang="en-US" sz="950" dirty="0"/>
          </a:p>
        </p:txBody>
      </p:sp>
      <p:sp>
        <p:nvSpPr>
          <p:cNvPr id="11" name="Shape 8"/>
          <p:cNvSpPr/>
          <p:nvPr/>
        </p:nvSpPr>
        <p:spPr>
          <a:xfrm>
            <a:off x="5870448" y="960120"/>
            <a:ext cx="3017520" cy="3886200"/>
          </a:xfrm>
          <a:prstGeom prst="rect">
            <a:avLst/>
          </a:prstGeom>
          <a:solidFill>
            <a:srgbClr val="FFFFFF"/>
          </a:solidFill>
          <a:ln/>
          <a:effectLst>
            <a:outerShdw blurRad="63500" dist="25400" dir="8100000" algn="bl" rotWithShape="0">
              <a:srgbClr val="000000">
                <a:alpha val="10000"/>
              </a:srgbClr>
            </a:outerShdw>
          </a:effectLst>
        </p:spPr>
      </p:sp>
      <p:sp>
        <p:nvSpPr>
          <p:cNvPr id="33" name="Shape 30"/>
          <p:cNvSpPr/>
          <p:nvPr/>
        </p:nvSpPr>
        <p:spPr>
          <a:xfrm>
            <a:off x="0" y="4832604"/>
            <a:ext cx="9144000" cy="310896"/>
          </a:xfrm>
          <a:prstGeom prst="rect">
            <a:avLst/>
          </a:prstGeom>
          <a:solidFill>
            <a:srgbClr val="E23744"/>
          </a:solidFill>
          <a:ln/>
        </p:spPr>
        <p:txBody>
          <a:bodyPr/>
          <a:lstStyle/>
          <a:p>
            <a:endParaRPr lang="en-IN" dirty="0"/>
          </a:p>
        </p:txBody>
      </p:sp>
      <p:sp>
        <p:nvSpPr>
          <p:cNvPr id="34" name="Text 31"/>
          <p:cNvSpPr/>
          <p:nvPr/>
        </p:nvSpPr>
        <p:spPr>
          <a:xfrm>
            <a:off x="274320" y="4832604"/>
            <a:ext cx="8595360" cy="310896"/>
          </a:xfrm>
          <a:prstGeom prst="rect">
            <a:avLst/>
          </a:prstGeom>
          <a:noFill/>
          <a:ln/>
        </p:spPr>
        <p:txBody>
          <a:bodyPr wrap="square" rtlCol="0" anchor="ctr"/>
          <a:lstStyle/>
          <a:p>
            <a:pPr marL="0" indent="0">
              <a:buNone/>
            </a:pPr>
            <a:endParaRPr lang="en-US" sz="1050" dirty="0"/>
          </a:p>
        </p:txBody>
      </p:sp>
      <p:pic>
        <p:nvPicPr>
          <p:cNvPr id="36" name="Picture 35">
            <a:extLst>
              <a:ext uri="{FF2B5EF4-FFF2-40B4-BE49-F238E27FC236}">
                <a16:creationId xmlns:a16="http://schemas.microsoft.com/office/drawing/2014/main" id="{EDDD72C8-DF9F-876F-5B27-90733ABB9299}"/>
              </a:ext>
            </a:extLst>
          </p:cNvPr>
          <p:cNvPicPr>
            <a:picLocks noChangeAspect="1"/>
          </p:cNvPicPr>
          <p:nvPr/>
        </p:nvPicPr>
        <p:blipFill>
          <a:blip r:embed="rId3"/>
          <a:stretch>
            <a:fillRect/>
          </a:stretch>
        </p:blipFill>
        <p:spPr>
          <a:xfrm>
            <a:off x="40796" y="900684"/>
            <a:ext cx="9011764" cy="312496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23744"/>
          </a:solidFill>
          <a:ln/>
        </p:spPr>
      </p:sp>
      <p:sp>
        <p:nvSpPr>
          <p:cNvPr id="3" name="Shape 1"/>
          <p:cNvSpPr/>
          <p:nvPr/>
        </p:nvSpPr>
        <p:spPr>
          <a:xfrm>
            <a:off x="0" y="749808"/>
            <a:ext cx="9144000" cy="45720"/>
          </a:xfrm>
          <a:prstGeom prst="rect">
            <a:avLst/>
          </a:prstGeom>
          <a:solidFill>
            <a:srgbClr val="B8202E"/>
          </a:solidFill>
          <a:ln/>
        </p:spPr>
      </p:sp>
      <p:sp>
        <p:nvSpPr>
          <p:cNvPr id="4" name="Text 2"/>
          <p:cNvSpPr/>
          <p:nvPr/>
        </p:nvSpPr>
        <p:spPr>
          <a:xfrm>
            <a:off x="320040" y="0"/>
            <a:ext cx="8229600" cy="749808"/>
          </a:xfrm>
          <a:prstGeom prst="rect">
            <a:avLst/>
          </a:prstGeom>
          <a:noFill/>
          <a:ln/>
        </p:spPr>
        <p:txBody>
          <a:bodyPr wrap="square"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KEY PERFORMANCE INDICATORS</a:t>
            </a:r>
            <a:endParaRPr lang="en-US" sz="2300" dirty="0"/>
          </a:p>
        </p:txBody>
      </p:sp>
      <p:sp>
        <p:nvSpPr>
          <p:cNvPr id="5" name="Shape 3"/>
          <p:cNvSpPr/>
          <p:nvPr/>
        </p:nvSpPr>
        <p:spPr>
          <a:xfrm>
            <a:off x="8705088" y="109728"/>
            <a:ext cx="347472" cy="347472"/>
          </a:xfrm>
          <a:prstGeom prst="ellipse">
            <a:avLst/>
          </a:prstGeom>
          <a:solidFill>
            <a:srgbClr val="B8202E"/>
          </a:solidFill>
          <a:ln/>
        </p:spPr>
      </p:sp>
      <p:sp>
        <p:nvSpPr>
          <p:cNvPr id="6" name="Text 4"/>
          <p:cNvSpPr/>
          <p:nvPr/>
        </p:nvSpPr>
        <p:spPr>
          <a:xfrm>
            <a:off x="8705088" y="1097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11</a:t>
            </a:r>
            <a:endParaRPr lang="en-US" sz="1300" dirty="0"/>
          </a:p>
        </p:txBody>
      </p:sp>
      <p:sp>
        <p:nvSpPr>
          <p:cNvPr id="7" name="Shape 5"/>
          <p:cNvSpPr/>
          <p:nvPr/>
        </p:nvSpPr>
        <p:spPr>
          <a:xfrm>
            <a:off x="256032" y="960120"/>
            <a:ext cx="4206240" cy="301752"/>
          </a:xfrm>
          <a:prstGeom prst="rect">
            <a:avLst/>
          </a:prstGeom>
          <a:solidFill>
            <a:srgbClr val="E23744"/>
          </a:solidFill>
          <a:ln/>
        </p:spPr>
      </p:sp>
      <p:sp>
        <p:nvSpPr>
          <p:cNvPr id="8" name="Text 6"/>
          <p:cNvSpPr/>
          <p:nvPr/>
        </p:nvSpPr>
        <p:spPr>
          <a:xfrm>
            <a:off x="256032" y="960120"/>
            <a:ext cx="4206240" cy="301752"/>
          </a:xfrm>
          <a:prstGeom prst="rect">
            <a:avLst/>
          </a:prstGeom>
          <a:noFill/>
          <a:ln/>
        </p:spPr>
        <p:txBody>
          <a:bodyPr wrap="square" lIns="0" tIns="0" rIns="0" bIns="0" rtlCol="0" anchor="ctr"/>
          <a:lstStyle/>
          <a:p>
            <a:pPr marL="0" indent="0" algn="ctr">
              <a:buNone/>
            </a:pPr>
            <a:r>
              <a:rPr lang="en-US" sz="1000" b="1" kern="0" spc="100" dirty="0">
                <a:solidFill>
                  <a:srgbClr val="FFFFFF"/>
                </a:solidFill>
              </a:rPr>
              <a:t>PAGE 1 — RESTAURANT PERFORMANCE</a:t>
            </a:r>
            <a:endParaRPr lang="en-US" sz="1000" dirty="0"/>
          </a:p>
        </p:txBody>
      </p:sp>
      <p:sp>
        <p:nvSpPr>
          <p:cNvPr id="9" name="Shape 7"/>
          <p:cNvSpPr/>
          <p:nvPr/>
        </p:nvSpPr>
        <p:spPr>
          <a:xfrm>
            <a:off x="256032" y="1316736"/>
            <a:ext cx="987552" cy="1005840"/>
          </a:xfrm>
          <a:prstGeom prst="rect">
            <a:avLst/>
          </a:prstGeom>
          <a:solidFill>
            <a:srgbClr val="FFFFFF"/>
          </a:solidFill>
          <a:ln/>
          <a:effectLst>
            <a:outerShdw blurRad="63500" dist="25400" dir="8100000" algn="bl" rotWithShape="0">
              <a:srgbClr val="000000">
                <a:alpha val="10000"/>
              </a:srgbClr>
            </a:outerShdw>
          </a:effectLst>
        </p:spPr>
      </p:sp>
      <p:sp>
        <p:nvSpPr>
          <p:cNvPr id="10" name="Shape 8"/>
          <p:cNvSpPr/>
          <p:nvPr/>
        </p:nvSpPr>
        <p:spPr>
          <a:xfrm>
            <a:off x="256032" y="1316736"/>
            <a:ext cx="987552" cy="54864"/>
          </a:xfrm>
          <a:prstGeom prst="rect">
            <a:avLst/>
          </a:prstGeom>
          <a:solidFill>
            <a:srgbClr val="E23744"/>
          </a:solidFill>
          <a:ln/>
        </p:spPr>
      </p:sp>
      <p:sp>
        <p:nvSpPr>
          <p:cNvPr id="11" name="Text 9"/>
          <p:cNvSpPr/>
          <p:nvPr/>
        </p:nvSpPr>
        <p:spPr>
          <a:xfrm>
            <a:off x="256032" y="1389888"/>
            <a:ext cx="987552" cy="523037"/>
          </a:xfrm>
          <a:prstGeom prst="rect">
            <a:avLst/>
          </a:prstGeom>
          <a:noFill/>
          <a:ln/>
        </p:spPr>
        <p:txBody>
          <a:bodyPr wrap="square" rtlCol="0" anchor="ctr"/>
          <a:lstStyle/>
          <a:p>
            <a:pPr marL="0" indent="0" algn="ctr">
              <a:buNone/>
            </a:pPr>
            <a:r>
              <a:rPr lang="en-US" sz="2000" b="1" dirty="0">
                <a:solidFill>
                  <a:srgbClr val="E23744"/>
                </a:solidFill>
                <a:latin typeface="Calibri" pitchFamily="34" charset="0"/>
                <a:ea typeface="Calibri" pitchFamily="34" charset="-122"/>
                <a:cs typeface="Calibri" pitchFamily="34" charset="-120"/>
              </a:rPr>
              <a:t>9,551</a:t>
            </a:r>
            <a:endParaRPr lang="en-US" sz="2000" dirty="0"/>
          </a:p>
        </p:txBody>
      </p:sp>
      <p:sp>
        <p:nvSpPr>
          <p:cNvPr id="12" name="Text 10"/>
          <p:cNvSpPr/>
          <p:nvPr/>
        </p:nvSpPr>
        <p:spPr>
          <a:xfrm>
            <a:off x="256032" y="1940357"/>
            <a:ext cx="987552" cy="331927"/>
          </a:xfrm>
          <a:prstGeom prst="rect">
            <a:avLst/>
          </a:prstGeom>
          <a:noFill/>
          <a:ln/>
        </p:spPr>
        <p:txBody>
          <a:bodyPr wrap="square" rtlCol="0" anchor="ctr"/>
          <a:lstStyle/>
          <a:p>
            <a:pPr marL="0" indent="0" algn="ctr">
              <a:buNone/>
            </a:pPr>
            <a:r>
              <a:rPr lang="en-US" sz="850" dirty="0">
                <a:solidFill>
                  <a:srgbClr val="9A4A52"/>
                </a:solidFill>
                <a:latin typeface="Calibri" pitchFamily="34" charset="0"/>
                <a:ea typeface="Calibri" pitchFamily="34" charset="-122"/>
                <a:cs typeface="Calibri" pitchFamily="34" charset="-120"/>
              </a:rPr>
              <a:t>Total Restaurants</a:t>
            </a:r>
            <a:endParaRPr lang="en-US" sz="850" dirty="0"/>
          </a:p>
        </p:txBody>
      </p:sp>
      <p:sp>
        <p:nvSpPr>
          <p:cNvPr id="13" name="Shape 11"/>
          <p:cNvSpPr/>
          <p:nvPr/>
        </p:nvSpPr>
        <p:spPr>
          <a:xfrm>
            <a:off x="1307592" y="1316736"/>
            <a:ext cx="987552" cy="1005840"/>
          </a:xfrm>
          <a:prstGeom prst="rect">
            <a:avLst/>
          </a:prstGeom>
          <a:solidFill>
            <a:srgbClr val="FFFFFF"/>
          </a:solidFill>
          <a:ln/>
          <a:effectLst>
            <a:outerShdw blurRad="63500" dist="25400" dir="8100000" algn="bl" rotWithShape="0">
              <a:srgbClr val="000000">
                <a:alpha val="10000"/>
              </a:srgbClr>
            </a:outerShdw>
          </a:effectLst>
        </p:spPr>
      </p:sp>
      <p:sp>
        <p:nvSpPr>
          <p:cNvPr id="14" name="Shape 12"/>
          <p:cNvSpPr/>
          <p:nvPr/>
        </p:nvSpPr>
        <p:spPr>
          <a:xfrm>
            <a:off x="1307592" y="1316736"/>
            <a:ext cx="987552" cy="54864"/>
          </a:xfrm>
          <a:prstGeom prst="rect">
            <a:avLst/>
          </a:prstGeom>
          <a:solidFill>
            <a:srgbClr val="B8202E"/>
          </a:solidFill>
          <a:ln/>
        </p:spPr>
      </p:sp>
      <p:sp>
        <p:nvSpPr>
          <p:cNvPr id="15" name="Text 13"/>
          <p:cNvSpPr/>
          <p:nvPr/>
        </p:nvSpPr>
        <p:spPr>
          <a:xfrm>
            <a:off x="1307592" y="1389888"/>
            <a:ext cx="987552" cy="523037"/>
          </a:xfrm>
          <a:prstGeom prst="rect">
            <a:avLst/>
          </a:prstGeom>
          <a:noFill/>
          <a:ln/>
        </p:spPr>
        <p:txBody>
          <a:bodyPr wrap="square" rtlCol="0" anchor="ctr"/>
          <a:lstStyle/>
          <a:p>
            <a:pPr marL="0" indent="0" algn="ctr">
              <a:buNone/>
            </a:pPr>
            <a:r>
              <a:rPr lang="en-US" sz="2000" b="1" dirty="0">
                <a:solidFill>
                  <a:srgbClr val="B8202E"/>
                </a:solidFill>
                <a:latin typeface="Calibri" pitchFamily="34" charset="0"/>
                <a:ea typeface="Calibri" pitchFamily="34" charset="-122"/>
                <a:cs typeface="Calibri" pitchFamily="34" charset="-120"/>
              </a:rPr>
              <a:t>3.44</a:t>
            </a:r>
            <a:endParaRPr lang="en-US" sz="2000" dirty="0"/>
          </a:p>
        </p:txBody>
      </p:sp>
      <p:sp>
        <p:nvSpPr>
          <p:cNvPr id="16" name="Text 14"/>
          <p:cNvSpPr/>
          <p:nvPr/>
        </p:nvSpPr>
        <p:spPr>
          <a:xfrm>
            <a:off x="1307592" y="1940357"/>
            <a:ext cx="987552" cy="331927"/>
          </a:xfrm>
          <a:prstGeom prst="rect">
            <a:avLst/>
          </a:prstGeom>
          <a:noFill/>
          <a:ln/>
        </p:spPr>
        <p:txBody>
          <a:bodyPr wrap="square" rtlCol="0" anchor="ctr"/>
          <a:lstStyle/>
          <a:p>
            <a:pPr marL="0" indent="0" algn="ctr">
              <a:buNone/>
            </a:pPr>
            <a:r>
              <a:rPr lang="en-US" sz="850" dirty="0">
                <a:solidFill>
                  <a:srgbClr val="9A4A52"/>
                </a:solidFill>
                <a:latin typeface="Calibri" pitchFamily="34" charset="0"/>
                <a:ea typeface="Calibri" pitchFamily="34" charset="-122"/>
                <a:cs typeface="Calibri" pitchFamily="34" charset="-120"/>
              </a:rPr>
              <a:t>Weighted Avg Rating</a:t>
            </a:r>
            <a:endParaRPr lang="en-US" sz="850" dirty="0"/>
          </a:p>
        </p:txBody>
      </p:sp>
      <p:sp>
        <p:nvSpPr>
          <p:cNvPr id="17" name="Shape 15"/>
          <p:cNvSpPr/>
          <p:nvPr/>
        </p:nvSpPr>
        <p:spPr>
          <a:xfrm>
            <a:off x="2359152" y="1316736"/>
            <a:ext cx="987552" cy="1005840"/>
          </a:xfrm>
          <a:prstGeom prst="rect">
            <a:avLst/>
          </a:prstGeom>
          <a:solidFill>
            <a:srgbClr val="FFFFFF"/>
          </a:solidFill>
          <a:ln/>
          <a:effectLst>
            <a:outerShdw blurRad="63500" dist="25400" dir="8100000" algn="bl" rotWithShape="0">
              <a:srgbClr val="000000">
                <a:alpha val="10000"/>
              </a:srgbClr>
            </a:outerShdw>
          </a:effectLst>
        </p:spPr>
      </p:sp>
      <p:sp>
        <p:nvSpPr>
          <p:cNvPr id="18" name="Shape 16"/>
          <p:cNvSpPr/>
          <p:nvPr/>
        </p:nvSpPr>
        <p:spPr>
          <a:xfrm>
            <a:off x="2359152" y="1316736"/>
            <a:ext cx="987552" cy="54864"/>
          </a:xfrm>
          <a:prstGeom prst="rect">
            <a:avLst/>
          </a:prstGeom>
          <a:solidFill>
            <a:srgbClr val="E23744"/>
          </a:solidFill>
          <a:ln/>
        </p:spPr>
      </p:sp>
      <p:sp>
        <p:nvSpPr>
          <p:cNvPr id="19" name="Text 17"/>
          <p:cNvSpPr/>
          <p:nvPr/>
        </p:nvSpPr>
        <p:spPr>
          <a:xfrm>
            <a:off x="2359152" y="1389888"/>
            <a:ext cx="987552" cy="523037"/>
          </a:xfrm>
          <a:prstGeom prst="rect">
            <a:avLst/>
          </a:prstGeom>
          <a:noFill/>
          <a:ln/>
        </p:spPr>
        <p:txBody>
          <a:bodyPr wrap="square" rtlCol="0" anchor="ctr"/>
          <a:lstStyle/>
          <a:p>
            <a:pPr marL="0" indent="0" algn="ctr">
              <a:buNone/>
            </a:pPr>
            <a:r>
              <a:rPr lang="en-US" sz="2000" b="1" dirty="0">
                <a:solidFill>
                  <a:srgbClr val="E23744"/>
                </a:solidFill>
                <a:latin typeface="Calibri" pitchFamily="34" charset="0"/>
                <a:ea typeface="Calibri" pitchFamily="34" charset="-122"/>
                <a:cs typeface="Calibri" pitchFamily="34" charset="-120"/>
              </a:rPr>
              <a:t>1M</a:t>
            </a:r>
            <a:endParaRPr lang="en-US" sz="2000" dirty="0"/>
          </a:p>
        </p:txBody>
      </p:sp>
      <p:sp>
        <p:nvSpPr>
          <p:cNvPr id="20" name="Text 18"/>
          <p:cNvSpPr/>
          <p:nvPr/>
        </p:nvSpPr>
        <p:spPr>
          <a:xfrm>
            <a:off x="2359152" y="1940357"/>
            <a:ext cx="987552" cy="331927"/>
          </a:xfrm>
          <a:prstGeom prst="rect">
            <a:avLst/>
          </a:prstGeom>
          <a:noFill/>
          <a:ln/>
        </p:spPr>
        <p:txBody>
          <a:bodyPr wrap="square" rtlCol="0" anchor="ctr"/>
          <a:lstStyle/>
          <a:p>
            <a:pPr marL="0" indent="0" algn="ctr">
              <a:buNone/>
            </a:pPr>
            <a:r>
              <a:rPr lang="en-US" sz="850" dirty="0">
                <a:solidFill>
                  <a:srgbClr val="9A4A52"/>
                </a:solidFill>
                <a:latin typeface="Calibri" pitchFamily="34" charset="0"/>
                <a:ea typeface="Calibri" pitchFamily="34" charset="-122"/>
                <a:cs typeface="Calibri" pitchFamily="34" charset="-120"/>
              </a:rPr>
              <a:t>Total Votes</a:t>
            </a:r>
            <a:endParaRPr lang="en-US" sz="850" dirty="0"/>
          </a:p>
        </p:txBody>
      </p:sp>
      <p:sp>
        <p:nvSpPr>
          <p:cNvPr id="21" name="Shape 19"/>
          <p:cNvSpPr/>
          <p:nvPr/>
        </p:nvSpPr>
        <p:spPr>
          <a:xfrm>
            <a:off x="3410712" y="1316736"/>
            <a:ext cx="987552" cy="1005840"/>
          </a:xfrm>
          <a:prstGeom prst="rect">
            <a:avLst/>
          </a:prstGeom>
          <a:solidFill>
            <a:srgbClr val="FFFFFF"/>
          </a:solidFill>
          <a:ln/>
          <a:effectLst>
            <a:outerShdw blurRad="63500" dist="25400" dir="8100000" algn="bl" rotWithShape="0">
              <a:srgbClr val="000000">
                <a:alpha val="10000"/>
              </a:srgbClr>
            </a:outerShdw>
          </a:effectLst>
        </p:spPr>
      </p:sp>
      <p:sp>
        <p:nvSpPr>
          <p:cNvPr id="22" name="Shape 20"/>
          <p:cNvSpPr/>
          <p:nvPr/>
        </p:nvSpPr>
        <p:spPr>
          <a:xfrm>
            <a:off x="3410712" y="1316736"/>
            <a:ext cx="987552" cy="54864"/>
          </a:xfrm>
          <a:prstGeom prst="rect">
            <a:avLst/>
          </a:prstGeom>
          <a:solidFill>
            <a:srgbClr val="B8202E"/>
          </a:solidFill>
          <a:ln/>
        </p:spPr>
      </p:sp>
      <p:sp>
        <p:nvSpPr>
          <p:cNvPr id="23" name="Text 21"/>
          <p:cNvSpPr/>
          <p:nvPr/>
        </p:nvSpPr>
        <p:spPr>
          <a:xfrm>
            <a:off x="3410712" y="1389888"/>
            <a:ext cx="987552" cy="523037"/>
          </a:xfrm>
          <a:prstGeom prst="rect">
            <a:avLst/>
          </a:prstGeom>
          <a:noFill/>
          <a:ln/>
        </p:spPr>
        <p:txBody>
          <a:bodyPr wrap="square" rtlCol="0" anchor="ctr"/>
          <a:lstStyle/>
          <a:p>
            <a:pPr marL="0" indent="0" algn="ctr">
              <a:buNone/>
            </a:pPr>
            <a:r>
              <a:rPr lang="en-US" sz="2000" b="1" dirty="0">
                <a:solidFill>
                  <a:srgbClr val="B8202E"/>
                </a:solidFill>
                <a:latin typeface="Calibri" pitchFamily="34" charset="0"/>
                <a:ea typeface="Calibri" pitchFamily="34" charset="-122"/>
                <a:cs typeface="Calibri" pitchFamily="34" charset="-120"/>
              </a:rPr>
              <a:t>₹583</a:t>
            </a:r>
            <a:endParaRPr lang="en-US" sz="2000" dirty="0"/>
          </a:p>
        </p:txBody>
      </p:sp>
      <p:sp>
        <p:nvSpPr>
          <p:cNvPr id="24" name="Text 22"/>
          <p:cNvSpPr/>
          <p:nvPr/>
        </p:nvSpPr>
        <p:spPr>
          <a:xfrm>
            <a:off x="3410712" y="1940357"/>
            <a:ext cx="987552" cy="331927"/>
          </a:xfrm>
          <a:prstGeom prst="rect">
            <a:avLst/>
          </a:prstGeom>
          <a:noFill/>
          <a:ln/>
        </p:spPr>
        <p:txBody>
          <a:bodyPr wrap="square" rtlCol="0" anchor="ctr"/>
          <a:lstStyle/>
          <a:p>
            <a:pPr marL="0" indent="0" algn="ctr">
              <a:buNone/>
            </a:pPr>
            <a:r>
              <a:rPr lang="en-US" sz="850" dirty="0">
                <a:solidFill>
                  <a:srgbClr val="9A4A52"/>
                </a:solidFill>
                <a:latin typeface="Calibri" pitchFamily="34" charset="0"/>
                <a:ea typeface="Calibri" pitchFamily="34" charset="-122"/>
                <a:cs typeface="Calibri" pitchFamily="34" charset="-120"/>
              </a:rPr>
              <a:t>Avg Cost For Two</a:t>
            </a:r>
            <a:endParaRPr lang="en-US" sz="850" dirty="0"/>
          </a:p>
        </p:txBody>
      </p:sp>
      <p:sp>
        <p:nvSpPr>
          <p:cNvPr id="25" name="Shape 23"/>
          <p:cNvSpPr/>
          <p:nvPr/>
        </p:nvSpPr>
        <p:spPr>
          <a:xfrm>
            <a:off x="256032" y="2423160"/>
            <a:ext cx="987552" cy="1005840"/>
          </a:xfrm>
          <a:prstGeom prst="rect">
            <a:avLst/>
          </a:prstGeom>
          <a:solidFill>
            <a:srgbClr val="FFFFFF"/>
          </a:solidFill>
          <a:ln/>
          <a:effectLst>
            <a:outerShdw blurRad="63500" dist="25400" dir="8100000" algn="bl" rotWithShape="0">
              <a:srgbClr val="000000">
                <a:alpha val="10000"/>
              </a:srgbClr>
            </a:outerShdw>
          </a:effectLst>
        </p:spPr>
      </p:sp>
      <p:sp>
        <p:nvSpPr>
          <p:cNvPr id="26" name="Shape 24"/>
          <p:cNvSpPr/>
          <p:nvPr/>
        </p:nvSpPr>
        <p:spPr>
          <a:xfrm>
            <a:off x="256032" y="2423160"/>
            <a:ext cx="987552" cy="54864"/>
          </a:xfrm>
          <a:prstGeom prst="rect">
            <a:avLst/>
          </a:prstGeom>
          <a:solidFill>
            <a:srgbClr val="E23744"/>
          </a:solidFill>
          <a:ln/>
        </p:spPr>
      </p:sp>
      <p:sp>
        <p:nvSpPr>
          <p:cNvPr id="27" name="Text 25"/>
          <p:cNvSpPr/>
          <p:nvPr/>
        </p:nvSpPr>
        <p:spPr>
          <a:xfrm>
            <a:off x="256032" y="2496312"/>
            <a:ext cx="987552" cy="523037"/>
          </a:xfrm>
          <a:prstGeom prst="rect">
            <a:avLst/>
          </a:prstGeom>
          <a:noFill/>
          <a:ln/>
        </p:spPr>
        <p:txBody>
          <a:bodyPr wrap="square" rtlCol="0" anchor="ctr"/>
          <a:lstStyle/>
          <a:p>
            <a:pPr marL="0" indent="0" algn="ctr">
              <a:buNone/>
            </a:pPr>
            <a:r>
              <a:rPr lang="en-US" sz="2000" b="1" dirty="0">
                <a:solidFill>
                  <a:srgbClr val="E23744"/>
                </a:solidFill>
                <a:latin typeface="Calibri" pitchFamily="34" charset="0"/>
                <a:ea typeface="Calibri" pitchFamily="34" charset="-122"/>
                <a:cs typeface="Calibri" pitchFamily="34" charset="-120"/>
              </a:rPr>
              <a:t>25.7%</a:t>
            </a:r>
            <a:endParaRPr lang="en-US" sz="2000" dirty="0"/>
          </a:p>
        </p:txBody>
      </p:sp>
      <p:sp>
        <p:nvSpPr>
          <p:cNvPr id="28" name="Text 26"/>
          <p:cNvSpPr/>
          <p:nvPr/>
        </p:nvSpPr>
        <p:spPr>
          <a:xfrm>
            <a:off x="256032" y="3046781"/>
            <a:ext cx="987552" cy="331927"/>
          </a:xfrm>
          <a:prstGeom prst="rect">
            <a:avLst/>
          </a:prstGeom>
          <a:noFill/>
          <a:ln/>
        </p:spPr>
        <p:txBody>
          <a:bodyPr wrap="square" rtlCol="0" anchor="ctr"/>
          <a:lstStyle/>
          <a:p>
            <a:pPr marL="0" indent="0" algn="ctr">
              <a:buNone/>
            </a:pPr>
            <a:r>
              <a:rPr lang="en-US" sz="850" dirty="0">
                <a:solidFill>
                  <a:srgbClr val="9A4A52"/>
                </a:solidFill>
                <a:latin typeface="Calibri" pitchFamily="34" charset="0"/>
                <a:ea typeface="Calibri" pitchFamily="34" charset="-122"/>
                <a:cs typeface="Calibri" pitchFamily="34" charset="-120"/>
              </a:rPr>
              <a:t>Online Delivery %</a:t>
            </a:r>
            <a:endParaRPr lang="en-US" sz="850" dirty="0"/>
          </a:p>
        </p:txBody>
      </p:sp>
      <p:sp>
        <p:nvSpPr>
          <p:cNvPr id="29" name="Shape 27"/>
          <p:cNvSpPr/>
          <p:nvPr/>
        </p:nvSpPr>
        <p:spPr>
          <a:xfrm>
            <a:off x="1307592" y="2423160"/>
            <a:ext cx="987552" cy="1005840"/>
          </a:xfrm>
          <a:prstGeom prst="rect">
            <a:avLst/>
          </a:prstGeom>
          <a:solidFill>
            <a:srgbClr val="FFFFFF"/>
          </a:solidFill>
          <a:ln/>
          <a:effectLst>
            <a:outerShdw blurRad="63500" dist="25400" dir="8100000" algn="bl" rotWithShape="0">
              <a:srgbClr val="000000">
                <a:alpha val="10000"/>
              </a:srgbClr>
            </a:outerShdw>
          </a:effectLst>
        </p:spPr>
      </p:sp>
      <p:sp>
        <p:nvSpPr>
          <p:cNvPr id="30" name="Shape 28"/>
          <p:cNvSpPr/>
          <p:nvPr/>
        </p:nvSpPr>
        <p:spPr>
          <a:xfrm>
            <a:off x="1307592" y="2423160"/>
            <a:ext cx="987552" cy="54864"/>
          </a:xfrm>
          <a:prstGeom prst="rect">
            <a:avLst/>
          </a:prstGeom>
          <a:solidFill>
            <a:srgbClr val="B8202E"/>
          </a:solidFill>
          <a:ln/>
        </p:spPr>
      </p:sp>
      <p:sp>
        <p:nvSpPr>
          <p:cNvPr id="31" name="Text 29"/>
          <p:cNvSpPr/>
          <p:nvPr/>
        </p:nvSpPr>
        <p:spPr>
          <a:xfrm>
            <a:off x="1307592" y="2496312"/>
            <a:ext cx="987552" cy="523037"/>
          </a:xfrm>
          <a:prstGeom prst="rect">
            <a:avLst/>
          </a:prstGeom>
          <a:noFill/>
          <a:ln/>
        </p:spPr>
        <p:txBody>
          <a:bodyPr wrap="square" rtlCol="0" anchor="ctr"/>
          <a:lstStyle/>
          <a:p>
            <a:pPr marL="0" indent="0" algn="ctr">
              <a:buNone/>
            </a:pPr>
            <a:r>
              <a:rPr lang="en-US" sz="2000" b="1" dirty="0">
                <a:solidFill>
                  <a:srgbClr val="B8202E"/>
                </a:solidFill>
                <a:latin typeface="Calibri" pitchFamily="34" charset="0"/>
                <a:ea typeface="Calibri" pitchFamily="34" charset="-122"/>
                <a:cs typeface="Calibri" pitchFamily="34" charset="-120"/>
              </a:rPr>
              <a:t>12.1%</a:t>
            </a:r>
            <a:endParaRPr lang="en-US" sz="2000" dirty="0"/>
          </a:p>
        </p:txBody>
      </p:sp>
      <p:sp>
        <p:nvSpPr>
          <p:cNvPr id="32" name="Text 30"/>
          <p:cNvSpPr/>
          <p:nvPr/>
        </p:nvSpPr>
        <p:spPr>
          <a:xfrm>
            <a:off x="1307592" y="3046781"/>
            <a:ext cx="987552" cy="331927"/>
          </a:xfrm>
          <a:prstGeom prst="rect">
            <a:avLst/>
          </a:prstGeom>
          <a:noFill/>
          <a:ln/>
        </p:spPr>
        <p:txBody>
          <a:bodyPr wrap="square" rtlCol="0" anchor="ctr"/>
          <a:lstStyle/>
          <a:p>
            <a:pPr marL="0" indent="0" algn="ctr">
              <a:buNone/>
            </a:pPr>
            <a:r>
              <a:rPr lang="en-US" sz="850" dirty="0">
                <a:solidFill>
                  <a:srgbClr val="9A4A52"/>
                </a:solidFill>
                <a:latin typeface="Calibri" pitchFamily="34" charset="0"/>
                <a:ea typeface="Calibri" pitchFamily="34" charset="-122"/>
                <a:cs typeface="Calibri" pitchFamily="34" charset="-120"/>
              </a:rPr>
              <a:t>Table Booking %</a:t>
            </a:r>
            <a:endParaRPr lang="en-US" sz="850" dirty="0"/>
          </a:p>
        </p:txBody>
      </p:sp>
      <p:sp>
        <p:nvSpPr>
          <p:cNvPr id="33" name="Shape 31"/>
          <p:cNvSpPr/>
          <p:nvPr/>
        </p:nvSpPr>
        <p:spPr>
          <a:xfrm>
            <a:off x="2359152" y="2423160"/>
            <a:ext cx="987552" cy="1005840"/>
          </a:xfrm>
          <a:prstGeom prst="rect">
            <a:avLst/>
          </a:prstGeom>
          <a:solidFill>
            <a:srgbClr val="FFFFFF"/>
          </a:solidFill>
          <a:ln/>
          <a:effectLst>
            <a:outerShdw blurRad="63500" dist="25400" dir="8100000" algn="bl" rotWithShape="0">
              <a:srgbClr val="000000">
                <a:alpha val="10000"/>
              </a:srgbClr>
            </a:outerShdw>
          </a:effectLst>
        </p:spPr>
      </p:sp>
      <p:sp>
        <p:nvSpPr>
          <p:cNvPr id="34" name="Shape 32"/>
          <p:cNvSpPr/>
          <p:nvPr/>
        </p:nvSpPr>
        <p:spPr>
          <a:xfrm>
            <a:off x="2359152" y="2423160"/>
            <a:ext cx="987552" cy="54864"/>
          </a:xfrm>
          <a:prstGeom prst="rect">
            <a:avLst/>
          </a:prstGeom>
          <a:solidFill>
            <a:srgbClr val="E23744"/>
          </a:solidFill>
          <a:ln/>
        </p:spPr>
      </p:sp>
      <p:sp>
        <p:nvSpPr>
          <p:cNvPr id="35" name="Text 33"/>
          <p:cNvSpPr/>
          <p:nvPr/>
        </p:nvSpPr>
        <p:spPr>
          <a:xfrm>
            <a:off x="2359152" y="2496312"/>
            <a:ext cx="987552" cy="523037"/>
          </a:xfrm>
          <a:prstGeom prst="rect">
            <a:avLst/>
          </a:prstGeom>
          <a:noFill/>
          <a:ln/>
        </p:spPr>
        <p:txBody>
          <a:bodyPr wrap="square" rtlCol="0" anchor="ctr"/>
          <a:lstStyle/>
          <a:p>
            <a:pPr marL="0" indent="0" algn="ctr">
              <a:buNone/>
            </a:pPr>
            <a:r>
              <a:rPr lang="en-US" sz="2000" b="1" dirty="0">
                <a:solidFill>
                  <a:srgbClr val="E23744"/>
                </a:solidFill>
                <a:latin typeface="Calibri" pitchFamily="34" charset="0"/>
                <a:ea typeface="Calibri" pitchFamily="34" charset="-122"/>
                <a:cs typeface="Calibri" pitchFamily="34" charset="-120"/>
              </a:rPr>
              <a:t>3.15%</a:t>
            </a:r>
            <a:endParaRPr lang="en-US" sz="2000" dirty="0"/>
          </a:p>
        </p:txBody>
      </p:sp>
      <p:sp>
        <p:nvSpPr>
          <p:cNvPr id="36" name="Text 34"/>
          <p:cNvSpPr/>
          <p:nvPr/>
        </p:nvSpPr>
        <p:spPr>
          <a:xfrm>
            <a:off x="2359152" y="3046781"/>
            <a:ext cx="987552" cy="331927"/>
          </a:xfrm>
          <a:prstGeom prst="rect">
            <a:avLst/>
          </a:prstGeom>
          <a:noFill/>
          <a:ln/>
        </p:spPr>
        <p:txBody>
          <a:bodyPr wrap="square" rtlCol="0" anchor="ctr"/>
          <a:lstStyle/>
          <a:p>
            <a:pPr marL="0" indent="0" algn="ctr">
              <a:buNone/>
            </a:pPr>
            <a:r>
              <a:rPr lang="en-US" sz="850" dirty="0">
                <a:solidFill>
                  <a:srgbClr val="9A4A52"/>
                </a:solidFill>
                <a:latin typeface="Calibri" pitchFamily="34" charset="0"/>
                <a:ea typeface="Calibri" pitchFamily="34" charset="-122"/>
                <a:cs typeface="Calibri" pitchFamily="34" charset="-120"/>
              </a:rPr>
              <a:t>Excellent %</a:t>
            </a:r>
            <a:endParaRPr lang="en-US" sz="850" dirty="0"/>
          </a:p>
        </p:txBody>
      </p:sp>
      <p:sp>
        <p:nvSpPr>
          <p:cNvPr id="37" name="Shape 35"/>
          <p:cNvSpPr/>
          <p:nvPr/>
        </p:nvSpPr>
        <p:spPr>
          <a:xfrm>
            <a:off x="3410712" y="2423160"/>
            <a:ext cx="987552" cy="1005840"/>
          </a:xfrm>
          <a:prstGeom prst="rect">
            <a:avLst/>
          </a:prstGeom>
          <a:solidFill>
            <a:srgbClr val="FFFFFF"/>
          </a:solidFill>
          <a:ln/>
          <a:effectLst>
            <a:outerShdw blurRad="63500" dist="25400" dir="8100000" algn="bl" rotWithShape="0">
              <a:srgbClr val="000000">
                <a:alpha val="10000"/>
              </a:srgbClr>
            </a:outerShdw>
          </a:effectLst>
        </p:spPr>
      </p:sp>
      <p:sp>
        <p:nvSpPr>
          <p:cNvPr id="38" name="Shape 36"/>
          <p:cNvSpPr/>
          <p:nvPr/>
        </p:nvSpPr>
        <p:spPr>
          <a:xfrm>
            <a:off x="3410712" y="2423160"/>
            <a:ext cx="987552" cy="54864"/>
          </a:xfrm>
          <a:prstGeom prst="rect">
            <a:avLst/>
          </a:prstGeom>
          <a:solidFill>
            <a:srgbClr val="B8202E"/>
          </a:solidFill>
          <a:ln/>
        </p:spPr>
      </p:sp>
      <p:sp>
        <p:nvSpPr>
          <p:cNvPr id="39" name="Text 37"/>
          <p:cNvSpPr/>
          <p:nvPr/>
        </p:nvSpPr>
        <p:spPr>
          <a:xfrm>
            <a:off x="3410712" y="2496312"/>
            <a:ext cx="987552" cy="523037"/>
          </a:xfrm>
          <a:prstGeom prst="rect">
            <a:avLst/>
          </a:prstGeom>
          <a:noFill/>
          <a:ln/>
        </p:spPr>
        <p:txBody>
          <a:bodyPr wrap="square" rtlCol="0" anchor="ctr"/>
          <a:lstStyle/>
          <a:p>
            <a:pPr marL="0" indent="0" algn="ctr">
              <a:buNone/>
            </a:pPr>
            <a:r>
              <a:rPr lang="en-US" sz="2000" b="1" dirty="0">
                <a:solidFill>
                  <a:srgbClr val="B8202E"/>
                </a:solidFill>
                <a:latin typeface="Calibri" pitchFamily="34" charset="0"/>
                <a:ea typeface="Calibri" pitchFamily="34" charset="-122"/>
                <a:cs typeface="Calibri" pitchFamily="34" charset="-120"/>
              </a:rPr>
              <a:t>77.5%</a:t>
            </a:r>
            <a:endParaRPr lang="en-US" sz="2000" dirty="0"/>
          </a:p>
        </p:txBody>
      </p:sp>
      <p:sp>
        <p:nvSpPr>
          <p:cNvPr id="40" name="Text 38"/>
          <p:cNvSpPr/>
          <p:nvPr/>
        </p:nvSpPr>
        <p:spPr>
          <a:xfrm>
            <a:off x="3410712" y="3046781"/>
            <a:ext cx="987552" cy="331927"/>
          </a:xfrm>
          <a:prstGeom prst="rect">
            <a:avLst/>
          </a:prstGeom>
          <a:noFill/>
          <a:ln/>
        </p:spPr>
        <p:txBody>
          <a:bodyPr wrap="square" rtlCol="0" anchor="ctr"/>
          <a:lstStyle/>
          <a:p>
            <a:pPr marL="0" indent="0" algn="ctr">
              <a:buNone/>
            </a:pPr>
            <a:r>
              <a:rPr lang="en-US" sz="850" dirty="0">
                <a:solidFill>
                  <a:srgbClr val="9A4A52"/>
                </a:solidFill>
                <a:latin typeface="Calibri" pitchFamily="34" charset="0"/>
                <a:ea typeface="Calibri" pitchFamily="34" charset="-122"/>
                <a:cs typeface="Calibri" pitchFamily="34" charset="-120"/>
              </a:rPr>
              <a:t>Rating Completion</a:t>
            </a:r>
            <a:endParaRPr lang="en-US" sz="850" dirty="0"/>
          </a:p>
        </p:txBody>
      </p:sp>
      <p:sp>
        <p:nvSpPr>
          <p:cNvPr id="41" name="Shape 39"/>
          <p:cNvSpPr/>
          <p:nvPr/>
        </p:nvSpPr>
        <p:spPr>
          <a:xfrm>
            <a:off x="4462272" y="960120"/>
            <a:ext cx="41148" cy="2505456"/>
          </a:xfrm>
          <a:prstGeom prst="rect">
            <a:avLst/>
          </a:prstGeom>
          <a:solidFill>
            <a:srgbClr val="F5B8BE"/>
          </a:solidFill>
          <a:ln/>
        </p:spPr>
      </p:sp>
      <p:sp>
        <p:nvSpPr>
          <p:cNvPr id="42" name="Shape 40"/>
          <p:cNvSpPr/>
          <p:nvPr/>
        </p:nvSpPr>
        <p:spPr>
          <a:xfrm>
            <a:off x="4681728" y="960120"/>
            <a:ext cx="4206240" cy="301752"/>
          </a:xfrm>
          <a:prstGeom prst="rect">
            <a:avLst/>
          </a:prstGeom>
          <a:solidFill>
            <a:srgbClr val="B8202E"/>
          </a:solidFill>
          <a:ln/>
        </p:spPr>
      </p:sp>
      <p:sp>
        <p:nvSpPr>
          <p:cNvPr id="43" name="Text 41"/>
          <p:cNvSpPr/>
          <p:nvPr/>
        </p:nvSpPr>
        <p:spPr>
          <a:xfrm>
            <a:off x="4681728" y="960120"/>
            <a:ext cx="4206240" cy="301752"/>
          </a:xfrm>
          <a:prstGeom prst="rect">
            <a:avLst/>
          </a:prstGeom>
          <a:noFill/>
          <a:ln/>
        </p:spPr>
        <p:txBody>
          <a:bodyPr wrap="square" lIns="0" tIns="0" rIns="0" bIns="0" rtlCol="0" anchor="ctr"/>
          <a:lstStyle/>
          <a:p>
            <a:pPr marL="0" indent="0" algn="ctr">
              <a:buNone/>
            </a:pPr>
            <a:r>
              <a:rPr lang="en-US" sz="1000" b="1" kern="0" spc="100" dirty="0">
                <a:solidFill>
                  <a:srgbClr val="FFFFFF"/>
                </a:solidFill>
              </a:rPr>
              <a:t>PAGE 2 — DEEP DIVE HIGHLIGHTS</a:t>
            </a:r>
            <a:endParaRPr lang="en-US" sz="1000" dirty="0"/>
          </a:p>
        </p:txBody>
      </p:sp>
      <p:sp>
        <p:nvSpPr>
          <p:cNvPr id="44" name="Shape 42"/>
          <p:cNvSpPr/>
          <p:nvPr/>
        </p:nvSpPr>
        <p:spPr>
          <a:xfrm>
            <a:off x="4681728" y="1316736"/>
            <a:ext cx="4206240" cy="429768"/>
          </a:xfrm>
          <a:prstGeom prst="rect">
            <a:avLst/>
          </a:prstGeom>
          <a:solidFill>
            <a:srgbClr val="FFFFFF"/>
          </a:solidFill>
          <a:ln/>
          <a:effectLst>
            <a:outerShdw blurRad="63500" dist="25400" dir="8100000" algn="bl" rotWithShape="0">
              <a:srgbClr val="000000">
                <a:alpha val="10000"/>
              </a:srgbClr>
            </a:outerShdw>
          </a:effectLst>
        </p:spPr>
      </p:sp>
      <p:sp>
        <p:nvSpPr>
          <p:cNvPr id="45" name="Shape 43"/>
          <p:cNvSpPr/>
          <p:nvPr/>
        </p:nvSpPr>
        <p:spPr>
          <a:xfrm>
            <a:off x="4681728" y="1316736"/>
            <a:ext cx="50292" cy="429768"/>
          </a:xfrm>
          <a:prstGeom prst="rect">
            <a:avLst/>
          </a:prstGeom>
          <a:solidFill>
            <a:srgbClr val="E23744"/>
          </a:solidFill>
          <a:ln/>
        </p:spPr>
      </p:sp>
      <p:sp>
        <p:nvSpPr>
          <p:cNvPr id="46" name="Text 44"/>
          <p:cNvSpPr/>
          <p:nvPr/>
        </p:nvSpPr>
        <p:spPr>
          <a:xfrm>
            <a:off x="4773168" y="1353312"/>
            <a:ext cx="2743200" cy="182880"/>
          </a:xfrm>
          <a:prstGeom prst="rect">
            <a:avLst/>
          </a:prstGeom>
          <a:noFill/>
          <a:ln/>
        </p:spPr>
        <p:txBody>
          <a:bodyPr wrap="square" lIns="0" tIns="0" rIns="0" bIns="0" rtlCol="0" anchor="ctr"/>
          <a:lstStyle/>
          <a:p>
            <a:pPr marL="0" indent="0">
              <a:buNone/>
            </a:pPr>
            <a:r>
              <a:rPr lang="en-US" sz="1000" dirty="0">
                <a:solidFill>
                  <a:srgbClr val="9A4A52"/>
                </a:solidFill>
                <a:latin typeface="Calibri" pitchFamily="34" charset="0"/>
                <a:ea typeface="Calibri" pitchFamily="34" charset="-122"/>
                <a:cs typeface="Calibri" pitchFamily="34" charset="-120"/>
              </a:rPr>
              <a:t>Best Avg Rating (Continent)</a:t>
            </a:r>
            <a:endParaRPr lang="en-US" sz="1000" dirty="0"/>
          </a:p>
        </p:txBody>
      </p:sp>
      <p:sp>
        <p:nvSpPr>
          <p:cNvPr id="47" name="Text 45"/>
          <p:cNvSpPr/>
          <p:nvPr/>
        </p:nvSpPr>
        <p:spPr>
          <a:xfrm>
            <a:off x="4773168" y="1536192"/>
            <a:ext cx="4023360" cy="182880"/>
          </a:xfrm>
          <a:prstGeom prst="rect">
            <a:avLst/>
          </a:prstGeom>
          <a:noFill/>
          <a:ln/>
        </p:spPr>
        <p:txBody>
          <a:bodyPr wrap="square" lIns="0" tIns="0" rIns="0" bIns="0" rtlCol="0" anchor="ctr"/>
          <a:lstStyle/>
          <a:p>
            <a:pPr marL="0" indent="0">
              <a:buNone/>
            </a:pPr>
            <a:r>
              <a:rPr lang="en-US" sz="1200" b="1" dirty="0">
                <a:solidFill>
                  <a:srgbClr val="2C0A0E"/>
                </a:solidFill>
                <a:latin typeface="Calibri" pitchFamily="34" charset="0"/>
                <a:ea typeface="Calibri" pitchFamily="34" charset="-122"/>
                <a:cs typeface="Calibri" pitchFamily="34" charset="-120"/>
              </a:rPr>
              <a:t>Africa  4.21 ⭐</a:t>
            </a:r>
            <a:endParaRPr lang="en-US" sz="1200" dirty="0"/>
          </a:p>
        </p:txBody>
      </p:sp>
      <p:sp>
        <p:nvSpPr>
          <p:cNvPr id="48" name="Shape 46"/>
          <p:cNvSpPr/>
          <p:nvPr/>
        </p:nvSpPr>
        <p:spPr>
          <a:xfrm>
            <a:off x="4681728" y="1810512"/>
            <a:ext cx="4206240" cy="429768"/>
          </a:xfrm>
          <a:prstGeom prst="rect">
            <a:avLst/>
          </a:prstGeom>
          <a:solidFill>
            <a:srgbClr val="FFF5F6"/>
          </a:solidFill>
          <a:ln/>
          <a:effectLst>
            <a:outerShdw blurRad="63500" dist="25400" dir="8100000" algn="bl" rotWithShape="0">
              <a:srgbClr val="000000">
                <a:alpha val="10000"/>
              </a:srgbClr>
            </a:outerShdw>
          </a:effectLst>
        </p:spPr>
      </p:sp>
      <p:sp>
        <p:nvSpPr>
          <p:cNvPr id="49" name="Shape 47"/>
          <p:cNvSpPr/>
          <p:nvPr/>
        </p:nvSpPr>
        <p:spPr>
          <a:xfrm>
            <a:off x="4681728" y="1810512"/>
            <a:ext cx="50292" cy="429768"/>
          </a:xfrm>
          <a:prstGeom prst="rect">
            <a:avLst/>
          </a:prstGeom>
          <a:solidFill>
            <a:srgbClr val="E23744"/>
          </a:solidFill>
          <a:ln/>
        </p:spPr>
      </p:sp>
      <p:sp>
        <p:nvSpPr>
          <p:cNvPr id="50" name="Text 48"/>
          <p:cNvSpPr/>
          <p:nvPr/>
        </p:nvSpPr>
        <p:spPr>
          <a:xfrm>
            <a:off x="4773168" y="1847088"/>
            <a:ext cx="2743200" cy="182880"/>
          </a:xfrm>
          <a:prstGeom prst="rect">
            <a:avLst/>
          </a:prstGeom>
          <a:noFill/>
          <a:ln/>
        </p:spPr>
        <p:txBody>
          <a:bodyPr wrap="square" lIns="0" tIns="0" rIns="0" bIns="0" rtlCol="0" anchor="ctr"/>
          <a:lstStyle/>
          <a:p>
            <a:pPr marL="0" indent="0">
              <a:buNone/>
            </a:pPr>
            <a:r>
              <a:rPr lang="en-US" sz="1000" dirty="0">
                <a:solidFill>
                  <a:srgbClr val="9A4A52"/>
                </a:solidFill>
                <a:latin typeface="Calibri" pitchFamily="34" charset="0"/>
                <a:ea typeface="Calibri" pitchFamily="34" charset="-122"/>
                <a:cs typeface="Calibri" pitchFamily="34" charset="-120"/>
              </a:rPr>
              <a:t>Most Restaurants (Continent)</a:t>
            </a:r>
            <a:endParaRPr lang="en-US" sz="1000" dirty="0"/>
          </a:p>
        </p:txBody>
      </p:sp>
      <p:sp>
        <p:nvSpPr>
          <p:cNvPr id="51" name="Text 49"/>
          <p:cNvSpPr/>
          <p:nvPr/>
        </p:nvSpPr>
        <p:spPr>
          <a:xfrm>
            <a:off x="4773168" y="2029968"/>
            <a:ext cx="4023360" cy="182880"/>
          </a:xfrm>
          <a:prstGeom prst="rect">
            <a:avLst/>
          </a:prstGeom>
          <a:noFill/>
          <a:ln/>
        </p:spPr>
        <p:txBody>
          <a:bodyPr wrap="square" lIns="0" tIns="0" rIns="0" bIns="0" rtlCol="0" anchor="ctr"/>
          <a:lstStyle/>
          <a:p>
            <a:pPr marL="0" indent="0">
              <a:buNone/>
            </a:pPr>
            <a:r>
              <a:rPr lang="en-US" sz="1200" b="1" dirty="0">
                <a:solidFill>
                  <a:srgbClr val="2C0A0E"/>
                </a:solidFill>
                <a:latin typeface="Calibri" pitchFamily="34" charset="0"/>
                <a:ea typeface="Calibri" pitchFamily="34" charset="-122"/>
                <a:cs typeface="Calibri" pitchFamily="34" charset="-120"/>
              </a:rPr>
              <a:t>Asia  8,815</a:t>
            </a:r>
            <a:endParaRPr lang="en-US" sz="1200" dirty="0"/>
          </a:p>
        </p:txBody>
      </p:sp>
      <p:sp>
        <p:nvSpPr>
          <p:cNvPr id="52" name="Shape 50"/>
          <p:cNvSpPr/>
          <p:nvPr/>
        </p:nvSpPr>
        <p:spPr>
          <a:xfrm>
            <a:off x="4681728" y="2304288"/>
            <a:ext cx="4206240" cy="429768"/>
          </a:xfrm>
          <a:prstGeom prst="rect">
            <a:avLst/>
          </a:prstGeom>
          <a:solidFill>
            <a:srgbClr val="FFFFFF"/>
          </a:solidFill>
          <a:ln/>
          <a:effectLst>
            <a:outerShdw blurRad="63500" dist="25400" dir="8100000" algn="bl" rotWithShape="0">
              <a:srgbClr val="000000">
                <a:alpha val="10000"/>
              </a:srgbClr>
            </a:outerShdw>
          </a:effectLst>
        </p:spPr>
      </p:sp>
      <p:sp>
        <p:nvSpPr>
          <p:cNvPr id="53" name="Shape 51"/>
          <p:cNvSpPr/>
          <p:nvPr/>
        </p:nvSpPr>
        <p:spPr>
          <a:xfrm>
            <a:off x="4681728" y="2304288"/>
            <a:ext cx="50292" cy="429768"/>
          </a:xfrm>
          <a:prstGeom prst="rect">
            <a:avLst/>
          </a:prstGeom>
          <a:solidFill>
            <a:srgbClr val="E23744"/>
          </a:solidFill>
          <a:ln/>
        </p:spPr>
      </p:sp>
      <p:sp>
        <p:nvSpPr>
          <p:cNvPr id="54" name="Text 52"/>
          <p:cNvSpPr/>
          <p:nvPr/>
        </p:nvSpPr>
        <p:spPr>
          <a:xfrm>
            <a:off x="4773168" y="2340864"/>
            <a:ext cx="2743200" cy="182880"/>
          </a:xfrm>
          <a:prstGeom prst="rect">
            <a:avLst/>
          </a:prstGeom>
          <a:noFill/>
          <a:ln/>
        </p:spPr>
        <p:txBody>
          <a:bodyPr wrap="square" lIns="0" tIns="0" rIns="0" bIns="0" rtlCol="0" anchor="ctr"/>
          <a:lstStyle/>
          <a:p>
            <a:pPr marL="0" indent="0">
              <a:buNone/>
            </a:pPr>
            <a:r>
              <a:rPr lang="en-US" sz="1000" dirty="0">
                <a:solidFill>
                  <a:srgbClr val="9A4A52"/>
                </a:solidFill>
                <a:latin typeface="Calibri" pitchFamily="34" charset="0"/>
                <a:ea typeface="Calibri" pitchFamily="34" charset="-122"/>
                <a:cs typeface="Calibri" pitchFamily="34" charset="-120"/>
              </a:rPr>
              <a:t>India's Share of Dataset</a:t>
            </a:r>
            <a:endParaRPr lang="en-US" sz="1000" dirty="0"/>
          </a:p>
        </p:txBody>
      </p:sp>
      <p:sp>
        <p:nvSpPr>
          <p:cNvPr id="55" name="Text 53"/>
          <p:cNvSpPr/>
          <p:nvPr/>
        </p:nvSpPr>
        <p:spPr>
          <a:xfrm>
            <a:off x="4773168" y="2523744"/>
            <a:ext cx="4023360" cy="182880"/>
          </a:xfrm>
          <a:prstGeom prst="rect">
            <a:avLst/>
          </a:prstGeom>
          <a:noFill/>
          <a:ln/>
        </p:spPr>
        <p:txBody>
          <a:bodyPr wrap="square" lIns="0" tIns="0" rIns="0" bIns="0" rtlCol="0" anchor="ctr"/>
          <a:lstStyle/>
          <a:p>
            <a:pPr marL="0" indent="0">
              <a:buNone/>
            </a:pPr>
            <a:r>
              <a:rPr lang="en-US" sz="1200" b="1" dirty="0">
                <a:solidFill>
                  <a:srgbClr val="2C0A0E"/>
                </a:solidFill>
                <a:latin typeface="Calibri" pitchFamily="34" charset="0"/>
                <a:ea typeface="Calibri" pitchFamily="34" charset="-122"/>
                <a:cs typeface="Calibri" pitchFamily="34" charset="-120"/>
              </a:rPr>
              <a:t>90.6%</a:t>
            </a:r>
            <a:endParaRPr lang="en-US" sz="1200" dirty="0"/>
          </a:p>
        </p:txBody>
      </p:sp>
      <p:sp>
        <p:nvSpPr>
          <p:cNvPr id="56" name="Shape 54"/>
          <p:cNvSpPr/>
          <p:nvPr/>
        </p:nvSpPr>
        <p:spPr>
          <a:xfrm>
            <a:off x="4681728" y="2798064"/>
            <a:ext cx="4206240" cy="429768"/>
          </a:xfrm>
          <a:prstGeom prst="rect">
            <a:avLst/>
          </a:prstGeom>
          <a:solidFill>
            <a:srgbClr val="FFF5F6"/>
          </a:solidFill>
          <a:ln/>
          <a:effectLst>
            <a:outerShdw blurRad="63500" dist="25400" dir="8100000" algn="bl" rotWithShape="0">
              <a:srgbClr val="000000">
                <a:alpha val="10000"/>
              </a:srgbClr>
            </a:outerShdw>
          </a:effectLst>
        </p:spPr>
      </p:sp>
      <p:sp>
        <p:nvSpPr>
          <p:cNvPr id="57" name="Shape 55"/>
          <p:cNvSpPr/>
          <p:nvPr/>
        </p:nvSpPr>
        <p:spPr>
          <a:xfrm>
            <a:off x="4681728" y="2798064"/>
            <a:ext cx="50292" cy="429768"/>
          </a:xfrm>
          <a:prstGeom prst="rect">
            <a:avLst/>
          </a:prstGeom>
          <a:solidFill>
            <a:srgbClr val="E23744"/>
          </a:solidFill>
          <a:ln/>
        </p:spPr>
      </p:sp>
      <p:sp>
        <p:nvSpPr>
          <p:cNvPr id="58" name="Text 56"/>
          <p:cNvSpPr/>
          <p:nvPr/>
        </p:nvSpPr>
        <p:spPr>
          <a:xfrm>
            <a:off x="4773168" y="2834640"/>
            <a:ext cx="2743200" cy="182880"/>
          </a:xfrm>
          <a:prstGeom prst="rect">
            <a:avLst/>
          </a:prstGeom>
          <a:noFill/>
          <a:ln/>
        </p:spPr>
        <p:txBody>
          <a:bodyPr wrap="square" lIns="0" tIns="0" rIns="0" bIns="0" rtlCol="0" anchor="ctr"/>
          <a:lstStyle/>
          <a:p>
            <a:pPr marL="0" indent="0">
              <a:buNone/>
            </a:pPr>
            <a:r>
              <a:rPr lang="en-US" sz="1000" dirty="0">
                <a:solidFill>
                  <a:srgbClr val="9A4A52"/>
                </a:solidFill>
                <a:latin typeface="Calibri" pitchFamily="34" charset="0"/>
                <a:ea typeface="Calibri" pitchFamily="34" charset="-122"/>
                <a:cs typeface="Calibri" pitchFamily="34" charset="-120"/>
              </a:rPr>
              <a:t>Delivery Rating Uplift</a:t>
            </a:r>
            <a:endParaRPr lang="en-US" sz="1000" dirty="0"/>
          </a:p>
        </p:txBody>
      </p:sp>
      <p:sp>
        <p:nvSpPr>
          <p:cNvPr id="59" name="Text 57"/>
          <p:cNvSpPr/>
          <p:nvPr/>
        </p:nvSpPr>
        <p:spPr>
          <a:xfrm>
            <a:off x="4773168" y="3017520"/>
            <a:ext cx="4023360" cy="182880"/>
          </a:xfrm>
          <a:prstGeom prst="rect">
            <a:avLst/>
          </a:prstGeom>
          <a:noFill/>
          <a:ln/>
        </p:spPr>
        <p:txBody>
          <a:bodyPr wrap="square" lIns="0" tIns="0" rIns="0" bIns="0" rtlCol="0" anchor="ctr"/>
          <a:lstStyle/>
          <a:p>
            <a:pPr marL="0" indent="0">
              <a:buNone/>
            </a:pPr>
            <a:r>
              <a:rPr lang="en-US" sz="1200" b="1" dirty="0">
                <a:solidFill>
                  <a:srgbClr val="2C0A0E"/>
                </a:solidFill>
                <a:latin typeface="Calibri" pitchFamily="34" charset="0"/>
                <a:ea typeface="Calibri" pitchFamily="34" charset="-122"/>
                <a:cs typeface="Calibri" pitchFamily="34" charset="-120"/>
              </a:rPr>
              <a:t>+0.78 pts</a:t>
            </a:r>
            <a:endParaRPr lang="en-US" sz="1200" dirty="0"/>
          </a:p>
        </p:txBody>
      </p:sp>
      <p:sp>
        <p:nvSpPr>
          <p:cNvPr id="60" name="Shape 58"/>
          <p:cNvSpPr/>
          <p:nvPr/>
        </p:nvSpPr>
        <p:spPr>
          <a:xfrm>
            <a:off x="4681728" y="3291840"/>
            <a:ext cx="4206240" cy="429768"/>
          </a:xfrm>
          <a:prstGeom prst="rect">
            <a:avLst/>
          </a:prstGeom>
          <a:solidFill>
            <a:srgbClr val="FFFFFF"/>
          </a:solidFill>
          <a:ln/>
          <a:effectLst>
            <a:outerShdw blurRad="63500" dist="25400" dir="8100000" algn="bl" rotWithShape="0">
              <a:srgbClr val="000000">
                <a:alpha val="10000"/>
              </a:srgbClr>
            </a:outerShdw>
          </a:effectLst>
        </p:spPr>
      </p:sp>
      <p:sp>
        <p:nvSpPr>
          <p:cNvPr id="61" name="Shape 59"/>
          <p:cNvSpPr/>
          <p:nvPr/>
        </p:nvSpPr>
        <p:spPr>
          <a:xfrm>
            <a:off x="4681728" y="3291840"/>
            <a:ext cx="50292" cy="429768"/>
          </a:xfrm>
          <a:prstGeom prst="rect">
            <a:avLst/>
          </a:prstGeom>
          <a:solidFill>
            <a:srgbClr val="E23744"/>
          </a:solidFill>
          <a:ln/>
        </p:spPr>
      </p:sp>
      <p:sp>
        <p:nvSpPr>
          <p:cNvPr id="62" name="Text 60"/>
          <p:cNvSpPr/>
          <p:nvPr/>
        </p:nvSpPr>
        <p:spPr>
          <a:xfrm>
            <a:off x="4773168" y="3328416"/>
            <a:ext cx="2743200" cy="182880"/>
          </a:xfrm>
          <a:prstGeom prst="rect">
            <a:avLst/>
          </a:prstGeom>
          <a:noFill/>
          <a:ln/>
        </p:spPr>
        <p:txBody>
          <a:bodyPr wrap="square" lIns="0" tIns="0" rIns="0" bIns="0" rtlCol="0" anchor="ctr"/>
          <a:lstStyle/>
          <a:p>
            <a:pPr marL="0" indent="0">
              <a:buNone/>
            </a:pPr>
            <a:r>
              <a:rPr lang="en-US" sz="1000" dirty="0">
                <a:solidFill>
                  <a:srgbClr val="9A4A52"/>
                </a:solidFill>
                <a:latin typeface="Calibri" pitchFamily="34" charset="0"/>
                <a:ea typeface="Calibri" pitchFamily="34" charset="-122"/>
                <a:cs typeface="Calibri" pitchFamily="34" charset="-120"/>
              </a:rPr>
              <a:t>Price Range 1 (Budget) Count</a:t>
            </a:r>
            <a:endParaRPr lang="en-US" sz="1000" dirty="0"/>
          </a:p>
        </p:txBody>
      </p:sp>
      <p:sp>
        <p:nvSpPr>
          <p:cNvPr id="63" name="Text 61"/>
          <p:cNvSpPr/>
          <p:nvPr/>
        </p:nvSpPr>
        <p:spPr>
          <a:xfrm>
            <a:off x="4773168" y="3511296"/>
            <a:ext cx="4023360" cy="182880"/>
          </a:xfrm>
          <a:prstGeom prst="rect">
            <a:avLst/>
          </a:prstGeom>
          <a:noFill/>
          <a:ln/>
        </p:spPr>
        <p:txBody>
          <a:bodyPr wrap="square" lIns="0" tIns="0" rIns="0" bIns="0" rtlCol="0" anchor="ctr"/>
          <a:lstStyle/>
          <a:p>
            <a:pPr marL="0" indent="0">
              <a:buNone/>
            </a:pPr>
            <a:r>
              <a:rPr lang="en-US" sz="1200" b="1" dirty="0">
                <a:solidFill>
                  <a:srgbClr val="2C0A0E"/>
                </a:solidFill>
                <a:latin typeface="Calibri" pitchFamily="34" charset="0"/>
                <a:ea typeface="Calibri" pitchFamily="34" charset="-122"/>
                <a:cs typeface="Calibri" pitchFamily="34" charset="-120"/>
              </a:rPr>
              <a:t>4,444 (46.5%)</a:t>
            </a:r>
            <a:endParaRPr lang="en-US" sz="1200" dirty="0"/>
          </a:p>
        </p:txBody>
      </p:sp>
      <p:sp>
        <p:nvSpPr>
          <p:cNvPr id="64" name="Shape 62"/>
          <p:cNvSpPr/>
          <p:nvPr/>
        </p:nvSpPr>
        <p:spPr>
          <a:xfrm>
            <a:off x="0" y="4832604"/>
            <a:ext cx="9144000" cy="310896"/>
          </a:xfrm>
          <a:prstGeom prst="rect">
            <a:avLst/>
          </a:prstGeom>
          <a:solidFill>
            <a:srgbClr val="E23744"/>
          </a:solidFill>
          <a:ln/>
        </p:spPr>
        <p:txBody>
          <a:bodyPr/>
          <a:lstStyle/>
          <a:p>
            <a:endParaRPr lang="en-IN" dirty="0"/>
          </a:p>
        </p:txBody>
      </p:sp>
      <p:sp>
        <p:nvSpPr>
          <p:cNvPr id="65" name="Text 63"/>
          <p:cNvSpPr/>
          <p:nvPr/>
        </p:nvSpPr>
        <p:spPr>
          <a:xfrm>
            <a:off x="274320" y="4832604"/>
            <a:ext cx="8595360" cy="310896"/>
          </a:xfrm>
          <a:prstGeom prst="rect">
            <a:avLst/>
          </a:prstGeom>
          <a:noFill/>
          <a:ln/>
        </p:spPr>
        <p:txBody>
          <a:bodyPr wrap="square" rtlCol="0" anchor="ctr"/>
          <a:lstStyle/>
          <a:p>
            <a:pPr marL="0" indent="0">
              <a:buNone/>
            </a:pP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23744"/>
          </a:solidFill>
          <a:ln/>
        </p:spPr>
      </p:sp>
      <p:sp>
        <p:nvSpPr>
          <p:cNvPr id="3" name="Shape 1"/>
          <p:cNvSpPr/>
          <p:nvPr/>
        </p:nvSpPr>
        <p:spPr>
          <a:xfrm>
            <a:off x="0" y="749808"/>
            <a:ext cx="9144000" cy="45720"/>
          </a:xfrm>
          <a:prstGeom prst="rect">
            <a:avLst/>
          </a:prstGeom>
          <a:solidFill>
            <a:srgbClr val="B8202E"/>
          </a:solidFill>
          <a:ln/>
        </p:spPr>
      </p:sp>
      <p:sp>
        <p:nvSpPr>
          <p:cNvPr id="4" name="Text 2"/>
          <p:cNvSpPr/>
          <p:nvPr/>
        </p:nvSpPr>
        <p:spPr>
          <a:xfrm>
            <a:off x="320040" y="0"/>
            <a:ext cx="8229600" cy="749808"/>
          </a:xfrm>
          <a:prstGeom prst="rect">
            <a:avLst/>
          </a:prstGeom>
          <a:noFill/>
          <a:ln/>
        </p:spPr>
        <p:txBody>
          <a:bodyPr wrap="square"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KEY INSIGHTS &amp; FINDINGS</a:t>
            </a:r>
            <a:endParaRPr lang="en-US" sz="2300" dirty="0"/>
          </a:p>
        </p:txBody>
      </p:sp>
      <p:sp>
        <p:nvSpPr>
          <p:cNvPr id="5" name="Shape 3"/>
          <p:cNvSpPr/>
          <p:nvPr/>
        </p:nvSpPr>
        <p:spPr>
          <a:xfrm>
            <a:off x="8705088" y="109728"/>
            <a:ext cx="347472" cy="347472"/>
          </a:xfrm>
          <a:prstGeom prst="ellipse">
            <a:avLst/>
          </a:prstGeom>
          <a:solidFill>
            <a:srgbClr val="B8202E"/>
          </a:solidFill>
          <a:ln/>
        </p:spPr>
      </p:sp>
      <p:sp>
        <p:nvSpPr>
          <p:cNvPr id="6" name="Text 4"/>
          <p:cNvSpPr/>
          <p:nvPr/>
        </p:nvSpPr>
        <p:spPr>
          <a:xfrm>
            <a:off x="8705088" y="1097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12</a:t>
            </a:r>
            <a:endParaRPr lang="en-US" sz="1300" dirty="0"/>
          </a:p>
        </p:txBody>
      </p:sp>
      <p:sp>
        <p:nvSpPr>
          <p:cNvPr id="7" name="Shape 5"/>
          <p:cNvSpPr/>
          <p:nvPr/>
        </p:nvSpPr>
        <p:spPr>
          <a:xfrm>
            <a:off x="182880" y="960120"/>
            <a:ext cx="2834640" cy="1847088"/>
          </a:xfrm>
          <a:prstGeom prst="rect">
            <a:avLst/>
          </a:prstGeom>
          <a:solidFill>
            <a:srgbClr val="FFFFFF"/>
          </a:solidFill>
          <a:ln/>
          <a:effectLst>
            <a:outerShdw blurRad="63500" dist="25400" dir="8100000" algn="bl" rotWithShape="0">
              <a:srgbClr val="000000">
                <a:alpha val="10000"/>
              </a:srgbClr>
            </a:outerShdw>
          </a:effectLst>
        </p:spPr>
      </p:sp>
      <p:sp>
        <p:nvSpPr>
          <p:cNvPr id="8" name="Shape 6"/>
          <p:cNvSpPr/>
          <p:nvPr/>
        </p:nvSpPr>
        <p:spPr>
          <a:xfrm>
            <a:off x="182880" y="960120"/>
            <a:ext cx="50292" cy="1847088"/>
          </a:xfrm>
          <a:prstGeom prst="rect">
            <a:avLst/>
          </a:prstGeom>
          <a:solidFill>
            <a:srgbClr val="E23744"/>
          </a:solidFill>
          <a:ln/>
        </p:spPr>
      </p:sp>
      <p:sp>
        <p:nvSpPr>
          <p:cNvPr id="9" name="Shape 7"/>
          <p:cNvSpPr/>
          <p:nvPr/>
        </p:nvSpPr>
        <p:spPr>
          <a:xfrm>
            <a:off x="182880" y="960120"/>
            <a:ext cx="2834640" cy="329184"/>
          </a:xfrm>
          <a:prstGeom prst="rect">
            <a:avLst/>
          </a:prstGeom>
          <a:solidFill>
            <a:srgbClr val="FFF5F6"/>
          </a:solidFill>
          <a:ln/>
        </p:spPr>
      </p:sp>
      <p:sp>
        <p:nvSpPr>
          <p:cNvPr id="10" name="Shape 8"/>
          <p:cNvSpPr/>
          <p:nvPr/>
        </p:nvSpPr>
        <p:spPr>
          <a:xfrm>
            <a:off x="182880" y="960120"/>
            <a:ext cx="50292" cy="329184"/>
          </a:xfrm>
          <a:prstGeom prst="rect">
            <a:avLst/>
          </a:prstGeom>
          <a:solidFill>
            <a:srgbClr val="E23744"/>
          </a:solidFill>
          <a:ln/>
        </p:spPr>
      </p:sp>
      <p:sp>
        <p:nvSpPr>
          <p:cNvPr id="11" name="Text 9"/>
          <p:cNvSpPr/>
          <p:nvPr/>
        </p:nvSpPr>
        <p:spPr>
          <a:xfrm>
            <a:off x="292608" y="1024128"/>
            <a:ext cx="384048" cy="228600"/>
          </a:xfrm>
          <a:prstGeom prst="rect">
            <a:avLst/>
          </a:prstGeom>
          <a:noFill/>
          <a:ln/>
        </p:spPr>
        <p:txBody>
          <a:bodyPr wrap="square" lIns="0" tIns="0" rIns="0" bIns="0" rtlCol="0" anchor="ctr"/>
          <a:lstStyle/>
          <a:p>
            <a:pPr marL="0" indent="0">
              <a:buNone/>
            </a:pPr>
            <a:r>
              <a:rPr lang="en-US" sz="1100" b="1" dirty="0">
                <a:solidFill>
                  <a:srgbClr val="E23744"/>
                </a:solidFill>
              </a:rPr>
              <a:t>01</a:t>
            </a:r>
            <a:endParaRPr lang="en-US" sz="1100" dirty="0"/>
          </a:p>
        </p:txBody>
      </p:sp>
      <p:sp>
        <p:nvSpPr>
          <p:cNvPr id="12" name="Text 10"/>
          <p:cNvSpPr/>
          <p:nvPr/>
        </p:nvSpPr>
        <p:spPr>
          <a:xfrm>
            <a:off x="292608" y="1307592"/>
            <a:ext cx="2633472" cy="274320"/>
          </a:xfrm>
          <a:prstGeom prst="rect">
            <a:avLst/>
          </a:prstGeom>
          <a:noFill/>
          <a:ln/>
        </p:spPr>
        <p:txBody>
          <a:bodyPr wrap="square" lIns="0" tIns="0" rIns="0" bIns="0" rtlCol="0" anchor="ctr"/>
          <a:lstStyle/>
          <a:p>
            <a:pPr marL="0" indent="0">
              <a:buNone/>
            </a:pPr>
            <a:r>
              <a:rPr lang="en-US" sz="1100" b="1" dirty="0">
                <a:solidFill>
                  <a:srgbClr val="2C0A0E"/>
                </a:solidFill>
                <a:latin typeface="Calibri" pitchFamily="34" charset="0"/>
                <a:ea typeface="Calibri" pitchFamily="34" charset="-122"/>
                <a:cs typeface="Calibri" pitchFamily="34" charset="-120"/>
              </a:rPr>
              <a:t>🇮🇳  India Dominates</a:t>
            </a:r>
            <a:endParaRPr lang="en-US" sz="1100" dirty="0"/>
          </a:p>
        </p:txBody>
      </p:sp>
      <p:sp>
        <p:nvSpPr>
          <p:cNvPr id="13" name="Text 11"/>
          <p:cNvSpPr/>
          <p:nvPr/>
        </p:nvSpPr>
        <p:spPr>
          <a:xfrm>
            <a:off x="292608" y="1600200"/>
            <a:ext cx="2633472" cy="420624"/>
          </a:xfrm>
          <a:prstGeom prst="rect">
            <a:avLst/>
          </a:prstGeom>
          <a:noFill/>
          <a:ln/>
        </p:spPr>
        <p:txBody>
          <a:bodyPr wrap="square" lIns="0" tIns="0" rIns="0" bIns="0" rtlCol="0" anchor="ctr"/>
          <a:lstStyle/>
          <a:p>
            <a:pPr marL="0" indent="0">
              <a:buNone/>
            </a:pPr>
            <a:r>
              <a:rPr lang="en-US" sz="2400" b="1" dirty="0">
                <a:solidFill>
                  <a:srgbClr val="E23744"/>
                </a:solidFill>
                <a:latin typeface="Calibri" pitchFamily="34" charset="0"/>
                <a:ea typeface="Calibri" pitchFamily="34" charset="-122"/>
                <a:cs typeface="Calibri" pitchFamily="34" charset="-120"/>
              </a:rPr>
              <a:t>90.6%</a:t>
            </a:r>
            <a:endParaRPr lang="en-US" sz="2400" dirty="0"/>
          </a:p>
        </p:txBody>
      </p:sp>
      <p:sp>
        <p:nvSpPr>
          <p:cNvPr id="14" name="Text 12"/>
          <p:cNvSpPr/>
          <p:nvPr/>
        </p:nvSpPr>
        <p:spPr>
          <a:xfrm>
            <a:off x="292608" y="2002536"/>
            <a:ext cx="2633472" cy="182880"/>
          </a:xfrm>
          <a:prstGeom prst="rect">
            <a:avLst/>
          </a:prstGeom>
          <a:noFill/>
          <a:ln/>
        </p:spPr>
        <p:txBody>
          <a:bodyPr wrap="square" lIns="0" tIns="0" rIns="0" bIns="0" rtlCol="0" anchor="ctr"/>
          <a:lstStyle/>
          <a:p>
            <a:pPr marL="0" indent="0">
              <a:buNone/>
            </a:pPr>
            <a:r>
              <a:rPr lang="en-US" sz="900" dirty="0">
                <a:solidFill>
                  <a:srgbClr val="9A4A52"/>
                </a:solidFill>
                <a:latin typeface="Calibri" pitchFamily="34" charset="0"/>
                <a:ea typeface="Calibri" pitchFamily="34" charset="-122"/>
                <a:cs typeface="Calibri" pitchFamily="34" charset="-120"/>
              </a:rPr>
              <a:t>of all restaurants</a:t>
            </a:r>
            <a:endParaRPr lang="en-US" sz="900" dirty="0"/>
          </a:p>
        </p:txBody>
      </p:sp>
      <p:sp>
        <p:nvSpPr>
          <p:cNvPr id="15" name="Text 13"/>
          <p:cNvSpPr/>
          <p:nvPr/>
        </p:nvSpPr>
        <p:spPr>
          <a:xfrm>
            <a:off x="292608" y="2203704"/>
            <a:ext cx="2633472" cy="548640"/>
          </a:xfrm>
          <a:prstGeom prst="rect">
            <a:avLst/>
          </a:prstGeom>
          <a:noFill/>
          <a:ln/>
        </p:spPr>
        <p:txBody>
          <a:bodyPr wrap="square" lIns="0" tIns="0" rIns="0" bIns="0" rtlCol="0" anchor="ctr"/>
          <a:lstStyle/>
          <a:p>
            <a:pPr marL="0" indent="0">
              <a:buNone/>
            </a:pPr>
            <a:r>
              <a:rPr lang="en-US" sz="900" dirty="0">
                <a:solidFill>
                  <a:srgbClr val="4A1520"/>
                </a:solidFill>
                <a:latin typeface="Calibri" pitchFamily="34" charset="0"/>
                <a:ea typeface="Calibri" pitchFamily="34" charset="-122"/>
                <a:cs typeface="Calibri" pitchFamily="34" charset="-120"/>
              </a:rPr>
              <a:t>8,652 of 9,551 restaurants are from India. All global trends in this dataset are heavily shaped by Indian market patterns.</a:t>
            </a:r>
            <a:endParaRPr lang="en-US" sz="900" dirty="0"/>
          </a:p>
        </p:txBody>
      </p:sp>
      <p:sp>
        <p:nvSpPr>
          <p:cNvPr id="16" name="Shape 14"/>
          <p:cNvSpPr/>
          <p:nvPr/>
        </p:nvSpPr>
        <p:spPr>
          <a:xfrm>
            <a:off x="3182112" y="960120"/>
            <a:ext cx="2834640" cy="1847088"/>
          </a:xfrm>
          <a:prstGeom prst="rect">
            <a:avLst/>
          </a:prstGeom>
          <a:solidFill>
            <a:srgbClr val="FFFFFF"/>
          </a:solidFill>
          <a:ln/>
          <a:effectLst>
            <a:outerShdw blurRad="63500" dist="25400" dir="8100000" algn="bl" rotWithShape="0">
              <a:srgbClr val="000000">
                <a:alpha val="10000"/>
              </a:srgbClr>
            </a:outerShdw>
          </a:effectLst>
        </p:spPr>
      </p:sp>
      <p:sp>
        <p:nvSpPr>
          <p:cNvPr id="17" name="Shape 15"/>
          <p:cNvSpPr/>
          <p:nvPr/>
        </p:nvSpPr>
        <p:spPr>
          <a:xfrm>
            <a:off x="3182112" y="960120"/>
            <a:ext cx="50292" cy="1847088"/>
          </a:xfrm>
          <a:prstGeom prst="rect">
            <a:avLst/>
          </a:prstGeom>
          <a:solidFill>
            <a:srgbClr val="B8202E"/>
          </a:solidFill>
          <a:ln/>
        </p:spPr>
      </p:sp>
      <p:sp>
        <p:nvSpPr>
          <p:cNvPr id="18" name="Shape 16"/>
          <p:cNvSpPr/>
          <p:nvPr/>
        </p:nvSpPr>
        <p:spPr>
          <a:xfrm>
            <a:off x="3182112" y="960120"/>
            <a:ext cx="2834640" cy="329184"/>
          </a:xfrm>
          <a:prstGeom prst="rect">
            <a:avLst/>
          </a:prstGeom>
          <a:solidFill>
            <a:srgbClr val="FFF5F6"/>
          </a:solidFill>
          <a:ln/>
        </p:spPr>
      </p:sp>
      <p:sp>
        <p:nvSpPr>
          <p:cNvPr id="19" name="Shape 17"/>
          <p:cNvSpPr/>
          <p:nvPr/>
        </p:nvSpPr>
        <p:spPr>
          <a:xfrm>
            <a:off x="3182112" y="960120"/>
            <a:ext cx="50292" cy="329184"/>
          </a:xfrm>
          <a:prstGeom prst="rect">
            <a:avLst/>
          </a:prstGeom>
          <a:solidFill>
            <a:srgbClr val="B8202E"/>
          </a:solidFill>
          <a:ln/>
        </p:spPr>
      </p:sp>
      <p:sp>
        <p:nvSpPr>
          <p:cNvPr id="20" name="Text 18"/>
          <p:cNvSpPr/>
          <p:nvPr/>
        </p:nvSpPr>
        <p:spPr>
          <a:xfrm>
            <a:off x="3291840" y="1024128"/>
            <a:ext cx="384048" cy="228600"/>
          </a:xfrm>
          <a:prstGeom prst="rect">
            <a:avLst/>
          </a:prstGeom>
          <a:noFill/>
          <a:ln/>
        </p:spPr>
        <p:txBody>
          <a:bodyPr wrap="square" lIns="0" tIns="0" rIns="0" bIns="0" rtlCol="0" anchor="ctr"/>
          <a:lstStyle/>
          <a:p>
            <a:pPr marL="0" indent="0">
              <a:buNone/>
            </a:pPr>
            <a:r>
              <a:rPr lang="en-US" sz="1100" b="1" dirty="0">
                <a:solidFill>
                  <a:srgbClr val="B8202E"/>
                </a:solidFill>
              </a:rPr>
              <a:t>02</a:t>
            </a:r>
            <a:endParaRPr lang="en-US" sz="1100" dirty="0"/>
          </a:p>
        </p:txBody>
      </p:sp>
      <p:sp>
        <p:nvSpPr>
          <p:cNvPr id="21" name="Text 19"/>
          <p:cNvSpPr/>
          <p:nvPr/>
        </p:nvSpPr>
        <p:spPr>
          <a:xfrm>
            <a:off x="3291840" y="1307592"/>
            <a:ext cx="2633472" cy="274320"/>
          </a:xfrm>
          <a:prstGeom prst="rect">
            <a:avLst/>
          </a:prstGeom>
          <a:noFill/>
          <a:ln/>
        </p:spPr>
        <p:txBody>
          <a:bodyPr wrap="square" lIns="0" tIns="0" rIns="0" bIns="0" rtlCol="0" anchor="ctr"/>
          <a:lstStyle/>
          <a:p>
            <a:pPr marL="0" indent="0">
              <a:buNone/>
            </a:pPr>
            <a:r>
              <a:rPr lang="en-US" sz="1100" b="1" dirty="0">
                <a:solidFill>
                  <a:srgbClr val="2C0A0E"/>
                </a:solidFill>
                <a:latin typeface="Calibri" pitchFamily="34" charset="0"/>
                <a:ea typeface="Calibri" pitchFamily="34" charset="-122"/>
                <a:cs typeface="Calibri" pitchFamily="34" charset="-120"/>
              </a:rPr>
              <a:t>🛵  Delivery Boosts Rating</a:t>
            </a:r>
            <a:endParaRPr lang="en-US" sz="1100" dirty="0"/>
          </a:p>
        </p:txBody>
      </p:sp>
      <p:sp>
        <p:nvSpPr>
          <p:cNvPr id="22" name="Text 20"/>
          <p:cNvSpPr/>
          <p:nvPr/>
        </p:nvSpPr>
        <p:spPr>
          <a:xfrm>
            <a:off x="3291840" y="1600200"/>
            <a:ext cx="2633472" cy="420624"/>
          </a:xfrm>
          <a:prstGeom prst="rect">
            <a:avLst/>
          </a:prstGeom>
          <a:noFill/>
          <a:ln/>
        </p:spPr>
        <p:txBody>
          <a:bodyPr wrap="square" lIns="0" tIns="0" rIns="0" bIns="0" rtlCol="0" anchor="ctr"/>
          <a:lstStyle/>
          <a:p>
            <a:pPr marL="0" indent="0">
              <a:buNone/>
            </a:pPr>
            <a:r>
              <a:rPr lang="en-US" sz="2400" b="1" dirty="0">
                <a:solidFill>
                  <a:srgbClr val="B8202E"/>
                </a:solidFill>
                <a:latin typeface="Calibri" pitchFamily="34" charset="0"/>
                <a:ea typeface="Calibri" pitchFamily="34" charset="-122"/>
                <a:cs typeface="Calibri" pitchFamily="34" charset="-120"/>
              </a:rPr>
              <a:t>+0.78 pts</a:t>
            </a:r>
            <a:endParaRPr lang="en-US" sz="2400" dirty="0"/>
          </a:p>
        </p:txBody>
      </p:sp>
      <p:sp>
        <p:nvSpPr>
          <p:cNvPr id="23" name="Text 21"/>
          <p:cNvSpPr/>
          <p:nvPr/>
        </p:nvSpPr>
        <p:spPr>
          <a:xfrm>
            <a:off x="3291840" y="2002536"/>
            <a:ext cx="2633472" cy="182880"/>
          </a:xfrm>
          <a:prstGeom prst="rect">
            <a:avLst/>
          </a:prstGeom>
          <a:noFill/>
          <a:ln/>
        </p:spPr>
        <p:txBody>
          <a:bodyPr wrap="square" lIns="0" tIns="0" rIns="0" bIns="0" rtlCol="0" anchor="ctr"/>
          <a:lstStyle/>
          <a:p>
            <a:pPr marL="0" indent="0">
              <a:buNone/>
            </a:pPr>
            <a:r>
              <a:rPr lang="en-US" sz="900" dirty="0">
                <a:solidFill>
                  <a:srgbClr val="9A4A52"/>
                </a:solidFill>
                <a:latin typeface="Calibri" pitchFamily="34" charset="0"/>
                <a:ea typeface="Calibri" pitchFamily="34" charset="-122"/>
                <a:cs typeface="Calibri" pitchFamily="34" charset="-120"/>
              </a:rPr>
              <a:t>delivery rating uplift</a:t>
            </a:r>
            <a:endParaRPr lang="en-US" sz="900" dirty="0"/>
          </a:p>
        </p:txBody>
      </p:sp>
      <p:sp>
        <p:nvSpPr>
          <p:cNvPr id="24" name="Text 22"/>
          <p:cNvSpPr/>
          <p:nvPr/>
        </p:nvSpPr>
        <p:spPr>
          <a:xfrm>
            <a:off x="3291840" y="2203704"/>
            <a:ext cx="2633472" cy="548640"/>
          </a:xfrm>
          <a:prstGeom prst="rect">
            <a:avLst/>
          </a:prstGeom>
          <a:noFill/>
          <a:ln/>
        </p:spPr>
        <p:txBody>
          <a:bodyPr wrap="square" lIns="0" tIns="0" rIns="0" bIns="0" rtlCol="0" anchor="ctr"/>
          <a:lstStyle/>
          <a:p>
            <a:pPr marL="0" indent="0">
              <a:buNone/>
            </a:pPr>
            <a:r>
              <a:rPr lang="en-US" sz="900" dirty="0">
                <a:solidFill>
                  <a:srgbClr val="4A1520"/>
                </a:solidFill>
                <a:latin typeface="Calibri" pitchFamily="34" charset="0"/>
                <a:ea typeface="Calibri" pitchFamily="34" charset="-122"/>
                <a:cs typeface="Calibri" pitchFamily="34" charset="-120"/>
              </a:rPr>
              <a:t>Restaurants with online delivery average 3.25 stars vs 2.47 without — suggesting higher investment in quality.</a:t>
            </a:r>
            <a:endParaRPr lang="en-US" sz="900" dirty="0"/>
          </a:p>
        </p:txBody>
      </p:sp>
      <p:sp>
        <p:nvSpPr>
          <p:cNvPr id="25" name="Shape 23"/>
          <p:cNvSpPr/>
          <p:nvPr/>
        </p:nvSpPr>
        <p:spPr>
          <a:xfrm>
            <a:off x="6181344" y="960120"/>
            <a:ext cx="2834640" cy="1847088"/>
          </a:xfrm>
          <a:prstGeom prst="rect">
            <a:avLst/>
          </a:prstGeom>
          <a:solidFill>
            <a:srgbClr val="FFFFFF"/>
          </a:solidFill>
          <a:ln/>
          <a:effectLst>
            <a:outerShdw blurRad="63500" dist="25400" dir="8100000" algn="bl" rotWithShape="0">
              <a:srgbClr val="000000">
                <a:alpha val="10000"/>
              </a:srgbClr>
            </a:outerShdw>
          </a:effectLst>
        </p:spPr>
      </p:sp>
      <p:sp>
        <p:nvSpPr>
          <p:cNvPr id="26" name="Shape 24"/>
          <p:cNvSpPr/>
          <p:nvPr/>
        </p:nvSpPr>
        <p:spPr>
          <a:xfrm>
            <a:off x="6181344" y="960120"/>
            <a:ext cx="50292" cy="1847088"/>
          </a:xfrm>
          <a:prstGeom prst="rect">
            <a:avLst/>
          </a:prstGeom>
          <a:solidFill>
            <a:srgbClr val="E23744"/>
          </a:solidFill>
          <a:ln/>
        </p:spPr>
      </p:sp>
      <p:sp>
        <p:nvSpPr>
          <p:cNvPr id="27" name="Shape 25"/>
          <p:cNvSpPr/>
          <p:nvPr/>
        </p:nvSpPr>
        <p:spPr>
          <a:xfrm>
            <a:off x="6181344" y="960120"/>
            <a:ext cx="2834640" cy="329184"/>
          </a:xfrm>
          <a:prstGeom prst="rect">
            <a:avLst/>
          </a:prstGeom>
          <a:solidFill>
            <a:srgbClr val="FFF5F6"/>
          </a:solidFill>
          <a:ln/>
        </p:spPr>
      </p:sp>
      <p:sp>
        <p:nvSpPr>
          <p:cNvPr id="28" name="Shape 26"/>
          <p:cNvSpPr/>
          <p:nvPr/>
        </p:nvSpPr>
        <p:spPr>
          <a:xfrm>
            <a:off x="6181344" y="960120"/>
            <a:ext cx="50292" cy="329184"/>
          </a:xfrm>
          <a:prstGeom prst="rect">
            <a:avLst/>
          </a:prstGeom>
          <a:solidFill>
            <a:srgbClr val="E23744"/>
          </a:solidFill>
          <a:ln/>
        </p:spPr>
      </p:sp>
      <p:sp>
        <p:nvSpPr>
          <p:cNvPr id="29" name="Text 27"/>
          <p:cNvSpPr/>
          <p:nvPr/>
        </p:nvSpPr>
        <p:spPr>
          <a:xfrm>
            <a:off x="6291072" y="1024128"/>
            <a:ext cx="384048" cy="228600"/>
          </a:xfrm>
          <a:prstGeom prst="rect">
            <a:avLst/>
          </a:prstGeom>
          <a:noFill/>
          <a:ln/>
        </p:spPr>
        <p:txBody>
          <a:bodyPr wrap="square" lIns="0" tIns="0" rIns="0" bIns="0" rtlCol="0" anchor="ctr"/>
          <a:lstStyle/>
          <a:p>
            <a:pPr marL="0" indent="0">
              <a:buNone/>
            </a:pPr>
            <a:r>
              <a:rPr lang="en-US" sz="1100" b="1" dirty="0">
                <a:solidFill>
                  <a:srgbClr val="E23744"/>
                </a:solidFill>
              </a:rPr>
              <a:t>03</a:t>
            </a:r>
            <a:endParaRPr lang="en-US" sz="1100" dirty="0"/>
          </a:p>
        </p:txBody>
      </p:sp>
      <p:sp>
        <p:nvSpPr>
          <p:cNvPr id="30" name="Text 28"/>
          <p:cNvSpPr/>
          <p:nvPr/>
        </p:nvSpPr>
        <p:spPr>
          <a:xfrm>
            <a:off x="6291072" y="1307592"/>
            <a:ext cx="2633472" cy="274320"/>
          </a:xfrm>
          <a:prstGeom prst="rect">
            <a:avLst/>
          </a:prstGeom>
          <a:noFill/>
          <a:ln/>
        </p:spPr>
        <p:txBody>
          <a:bodyPr wrap="square" lIns="0" tIns="0" rIns="0" bIns="0" rtlCol="0" anchor="ctr"/>
          <a:lstStyle/>
          <a:p>
            <a:pPr marL="0" indent="0">
              <a:buNone/>
            </a:pPr>
            <a:r>
              <a:rPr lang="en-US" sz="1100" b="1" dirty="0">
                <a:solidFill>
                  <a:srgbClr val="2C0A0E"/>
                </a:solidFill>
                <a:latin typeface="Calibri" pitchFamily="34" charset="0"/>
                <a:ea typeface="Calibri" pitchFamily="34" charset="-122"/>
                <a:cs typeface="Calibri" pitchFamily="34" charset="-120"/>
              </a:rPr>
              <a:t>💰  Price Drives Quality</a:t>
            </a:r>
            <a:endParaRPr lang="en-US" sz="1100" dirty="0"/>
          </a:p>
        </p:txBody>
      </p:sp>
      <p:sp>
        <p:nvSpPr>
          <p:cNvPr id="31" name="Text 29"/>
          <p:cNvSpPr/>
          <p:nvPr/>
        </p:nvSpPr>
        <p:spPr>
          <a:xfrm>
            <a:off x="6291072" y="1600200"/>
            <a:ext cx="2633472" cy="420624"/>
          </a:xfrm>
          <a:prstGeom prst="rect">
            <a:avLst/>
          </a:prstGeom>
          <a:noFill/>
          <a:ln/>
        </p:spPr>
        <p:txBody>
          <a:bodyPr wrap="square" lIns="0" tIns="0" rIns="0" bIns="0" rtlCol="0" anchor="ctr"/>
          <a:lstStyle/>
          <a:p>
            <a:pPr marL="0" indent="0">
              <a:buNone/>
            </a:pPr>
            <a:r>
              <a:rPr lang="en-US" sz="2400" b="1" dirty="0">
                <a:solidFill>
                  <a:srgbClr val="E23744"/>
                </a:solidFill>
                <a:latin typeface="Calibri" pitchFamily="34" charset="0"/>
                <a:ea typeface="Calibri" pitchFamily="34" charset="-122"/>
                <a:cs typeface="Calibri" pitchFamily="34" charset="-120"/>
              </a:rPr>
              <a:t>3.82 vs 2.0</a:t>
            </a:r>
            <a:endParaRPr lang="en-US" sz="2400" dirty="0"/>
          </a:p>
        </p:txBody>
      </p:sp>
      <p:sp>
        <p:nvSpPr>
          <p:cNvPr id="32" name="Text 30"/>
          <p:cNvSpPr/>
          <p:nvPr/>
        </p:nvSpPr>
        <p:spPr>
          <a:xfrm>
            <a:off x="6291072" y="2002536"/>
            <a:ext cx="2633472" cy="182880"/>
          </a:xfrm>
          <a:prstGeom prst="rect">
            <a:avLst/>
          </a:prstGeom>
          <a:noFill/>
          <a:ln/>
        </p:spPr>
        <p:txBody>
          <a:bodyPr wrap="square" lIns="0" tIns="0" rIns="0" bIns="0" rtlCol="0" anchor="ctr"/>
          <a:lstStyle/>
          <a:p>
            <a:pPr marL="0" indent="0">
              <a:buNone/>
            </a:pPr>
            <a:r>
              <a:rPr lang="en-US" sz="900" dirty="0">
                <a:solidFill>
                  <a:srgbClr val="9A4A52"/>
                </a:solidFill>
                <a:latin typeface="Calibri" pitchFamily="34" charset="0"/>
                <a:ea typeface="Calibri" pitchFamily="34" charset="-122"/>
                <a:cs typeface="Calibri" pitchFamily="34" charset="-120"/>
              </a:rPr>
              <a:t>Luxury vs Budget rating</a:t>
            </a:r>
            <a:endParaRPr lang="en-US" sz="900" dirty="0"/>
          </a:p>
        </p:txBody>
      </p:sp>
      <p:sp>
        <p:nvSpPr>
          <p:cNvPr id="33" name="Text 31"/>
          <p:cNvSpPr/>
          <p:nvPr/>
        </p:nvSpPr>
        <p:spPr>
          <a:xfrm>
            <a:off x="6291072" y="2203704"/>
            <a:ext cx="2633472" cy="548640"/>
          </a:xfrm>
          <a:prstGeom prst="rect">
            <a:avLst/>
          </a:prstGeom>
          <a:noFill/>
          <a:ln/>
        </p:spPr>
        <p:txBody>
          <a:bodyPr wrap="square" lIns="0" tIns="0" rIns="0" bIns="0" rtlCol="0" anchor="ctr"/>
          <a:lstStyle/>
          <a:p>
            <a:pPr marL="0" indent="0">
              <a:buNone/>
            </a:pPr>
            <a:r>
              <a:rPr lang="en-US" sz="900" dirty="0">
                <a:solidFill>
                  <a:srgbClr val="4A1520"/>
                </a:solidFill>
                <a:latin typeface="Calibri" pitchFamily="34" charset="0"/>
                <a:ea typeface="Calibri" pitchFamily="34" charset="-122"/>
                <a:cs typeface="Calibri" pitchFamily="34" charset="-120"/>
              </a:rPr>
              <a:t>Luxury restaurants (Price Range 4) are rated nearly double Budget at 2.0 — higher price tiers attract better reviews.</a:t>
            </a:r>
            <a:endParaRPr lang="en-US" sz="900" dirty="0"/>
          </a:p>
        </p:txBody>
      </p:sp>
      <p:sp>
        <p:nvSpPr>
          <p:cNvPr id="34" name="Shape 32"/>
          <p:cNvSpPr/>
          <p:nvPr/>
        </p:nvSpPr>
        <p:spPr>
          <a:xfrm>
            <a:off x="182880" y="2953512"/>
            <a:ext cx="2834640" cy="1847088"/>
          </a:xfrm>
          <a:prstGeom prst="rect">
            <a:avLst/>
          </a:prstGeom>
          <a:solidFill>
            <a:srgbClr val="FFFFFF"/>
          </a:solidFill>
          <a:ln/>
          <a:effectLst>
            <a:outerShdw blurRad="63500" dist="25400" dir="8100000" algn="bl" rotWithShape="0">
              <a:srgbClr val="000000">
                <a:alpha val="10000"/>
              </a:srgbClr>
            </a:outerShdw>
          </a:effectLst>
        </p:spPr>
      </p:sp>
      <p:sp>
        <p:nvSpPr>
          <p:cNvPr id="35" name="Shape 33"/>
          <p:cNvSpPr/>
          <p:nvPr/>
        </p:nvSpPr>
        <p:spPr>
          <a:xfrm>
            <a:off x="182880" y="2953512"/>
            <a:ext cx="50292" cy="1847088"/>
          </a:xfrm>
          <a:prstGeom prst="rect">
            <a:avLst/>
          </a:prstGeom>
          <a:solidFill>
            <a:srgbClr val="B8202E"/>
          </a:solidFill>
          <a:ln/>
        </p:spPr>
      </p:sp>
      <p:sp>
        <p:nvSpPr>
          <p:cNvPr id="36" name="Shape 34"/>
          <p:cNvSpPr/>
          <p:nvPr/>
        </p:nvSpPr>
        <p:spPr>
          <a:xfrm>
            <a:off x="182880" y="2953512"/>
            <a:ext cx="2834640" cy="329184"/>
          </a:xfrm>
          <a:prstGeom prst="rect">
            <a:avLst/>
          </a:prstGeom>
          <a:solidFill>
            <a:srgbClr val="FFF5F6"/>
          </a:solidFill>
          <a:ln/>
        </p:spPr>
      </p:sp>
      <p:sp>
        <p:nvSpPr>
          <p:cNvPr id="37" name="Shape 35"/>
          <p:cNvSpPr/>
          <p:nvPr/>
        </p:nvSpPr>
        <p:spPr>
          <a:xfrm>
            <a:off x="182880" y="2953512"/>
            <a:ext cx="50292" cy="329184"/>
          </a:xfrm>
          <a:prstGeom prst="rect">
            <a:avLst/>
          </a:prstGeom>
          <a:solidFill>
            <a:srgbClr val="B8202E"/>
          </a:solidFill>
          <a:ln/>
        </p:spPr>
      </p:sp>
      <p:sp>
        <p:nvSpPr>
          <p:cNvPr id="38" name="Text 36"/>
          <p:cNvSpPr/>
          <p:nvPr/>
        </p:nvSpPr>
        <p:spPr>
          <a:xfrm>
            <a:off x="292608" y="3017520"/>
            <a:ext cx="384048" cy="228600"/>
          </a:xfrm>
          <a:prstGeom prst="rect">
            <a:avLst/>
          </a:prstGeom>
          <a:noFill/>
          <a:ln/>
        </p:spPr>
        <p:txBody>
          <a:bodyPr wrap="square" lIns="0" tIns="0" rIns="0" bIns="0" rtlCol="0" anchor="ctr"/>
          <a:lstStyle/>
          <a:p>
            <a:pPr marL="0" indent="0">
              <a:buNone/>
            </a:pPr>
            <a:r>
              <a:rPr lang="en-US" sz="1100" b="1" dirty="0">
                <a:solidFill>
                  <a:srgbClr val="B8202E"/>
                </a:solidFill>
              </a:rPr>
              <a:t>04</a:t>
            </a:r>
            <a:endParaRPr lang="en-US" sz="1100" dirty="0"/>
          </a:p>
        </p:txBody>
      </p:sp>
      <p:sp>
        <p:nvSpPr>
          <p:cNvPr id="39" name="Text 37"/>
          <p:cNvSpPr/>
          <p:nvPr/>
        </p:nvSpPr>
        <p:spPr>
          <a:xfrm>
            <a:off x="292608" y="3300984"/>
            <a:ext cx="2633472" cy="274320"/>
          </a:xfrm>
          <a:prstGeom prst="rect">
            <a:avLst/>
          </a:prstGeom>
          <a:noFill/>
          <a:ln/>
        </p:spPr>
        <p:txBody>
          <a:bodyPr wrap="square" lIns="0" tIns="0" rIns="0" bIns="0" rtlCol="0" anchor="ctr"/>
          <a:lstStyle/>
          <a:p>
            <a:pPr marL="0" indent="0">
              <a:buNone/>
            </a:pPr>
            <a:r>
              <a:rPr lang="en-US" sz="1100" b="1" dirty="0">
                <a:solidFill>
                  <a:srgbClr val="2C0A0E"/>
                </a:solidFill>
                <a:latin typeface="Calibri" pitchFamily="34" charset="0"/>
                <a:ea typeface="Calibri" pitchFamily="34" charset="-122"/>
                <a:cs typeface="Calibri" pitchFamily="34" charset="-120"/>
              </a:rPr>
              <a:t>🏆  Excellence Drives Votes</a:t>
            </a:r>
            <a:endParaRPr lang="en-US" sz="1100" dirty="0"/>
          </a:p>
        </p:txBody>
      </p:sp>
      <p:sp>
        <p:nvSpPr>
          <p:cNvPr id="40" name="Text 38"/>
          <p:cNvSpPr/>
          <p:nvPr/>
        </p:nvSpPr>
        <p:spPr>
          <a:xfrm>
            <a:off x="292608" y="3593592"/>
            <a:ext cx="2633472" cy="420624"/>
          </a:xfrm>
          <a:prstGeom prst="rect">
            <a:avLst/>
          </a:prstGeom>
          <a:noFill/>
          <a:ln/>
        </p:spPr>
        <p:txBody>
          <a:bodyPr wrap="square" lIns="0" tIns="0" rIns="0" bIns="0" rtlCol="0" anchor="ctr"/>
          <a:lstStyle/>
          <a:p>
            <a:pPr marL="0" indent="0">
              <a:buNone/>
            </a:pPr>
            <a:r>
              <a:rPr lang="en-US" sz="2400" b="1" dirty="0">
                <a:solidFill>
                  <a:srgbClr val="B8202E"/>
                </a:solidFill>
                <a:latin typeface="Calibri" pitchFamily="34" charset="0"/>
                <a:ea typeface="Calibri" pitchFamily="34" charset="-122"/>
                <a:cs typeface="Calibri" pitchFamily="34" charset="-120"/>
              </a:rPr>
              <a:t>18x</a:t>
            </a:r>
            <a:endParaRPr lang="en-US" sz="2400" dirty="0"/>
          </a:p>
        </p:txBody>
      </p:sp>
      <p:sp>
        <p:nvSpPr>
          <p:cNvPr id="41" name="Text 39"/>
          <p:cNvSpPr/>
          <p:nvPr/>
        </p:nvSpPr>
        <p:spPr>
          <a:xfrm>
            <a:off x="292608" y="3995928"/>
            <a:ext cx="2633472" cy="182880"/>
          </a:xfrm>
          <a:prstGeom prst="rect">
            <a:avLst/>
          </a:prstGeom>
          <a:noFill/>
          <a:ln/>
        </p:spPr>
        <p:txBody>
          <a:bodyPr wrap="square" lIns="0" tIns="0" rIns="0" bIns="0" rtlCol="0" anchor="ctr"/>
          <a:lstStyle/>
          <a:p>
            <a:pPr marL="0" indent="0">
              <a:buNone/>
            </a:pPr>
            <a:r>
              <a:rPr lang="en-US" sz="900" dirty="0">
                <a:solidFill>
                  <a:srgbClr val="9A4A52"/>
                </a:solidFill>
                <a:latin typeface="Calibri" pitchFamily="34" charset="0"/>
                <a:ea typeface="Calibri" pitchFamily="34" charset="-122"/>
                <a:cs typeface="Calibri" pitchFamily="34" charset="-120"/>
              </a:rPr>
              <a:t>more votes than Average</a:t>
            </a:r>
            <a:endParaRPr lang="en-US" sz="900" dirty="0"/>
          </a:p>
        </p:txBody>
      </p:sp>
      <p:sp>
        <p:nvSpPr>
          <p:cNvPr id="42" name="Text 40"/>
          <p:cNvSpPr/>
          <p:nvPr/>
        </p:nvSpPr>
        <p:spPr>
          <a:xfrm>
            <a:off x="292608" y="4197096"/>
            <a:ext cx="2633472" cy="548640"/>
          </a:xfrm>
          <a:prstGeom prst="rect">
            <a:avLst/>
          </a:prstGeom>
          <a:noFill/>
          <a:ln/>
        </p:spPr>
        <p:txBody>
          <a:bodyPr wrap="square" lIns="0" tIns="0" rIns="0" bIns="0" rtlCol="0" anchor="ctr"/>
          <a:lstStyle/>
          <a:p>
            <a:pPr marL="0" indent="0">
              <a:buNone/>
            </a:pPr>
            <a:r>
              <a:rPr lang="en-US" sz="900" dirty="0">
                <a:solidFill>
                  <a:srgbClr val="4A1520"/>
                </a:solidFill>
                <a:latin typeface="Calibri" pitchFamily="34" charset="0"/>
                <a:ea typeface="Calibri" pitchFamily="34" charset="-122"/>
                <a:cs typeface="Calibri" pitchFamily="34" charset="-120"/>
              </a:rPr>
              <a:t>Excellent restaurants get ~852 avg votes vs ~48 for Average. Quality creates a viral cycle of engagement.</a:t>
            </a:r>
            <a:endParaRPr lang="en-US" sz="900" dirty="0"/>
          </a:p>
        </p:txBody>
      </p:sp>
      <p:sp>
        <p:nvSpPr>
          <p:cNvPr id="43" name="Shape 41"/>
          <p:cNvSpPr/>
          <p:nvPr/>
        </p:nvSpPr>
        <p:spPr>
          <a:xfrm>
            <a:off x="3182112" y="2953512"/>
            <a:ext cx="2834640" cy="1847088"/>
          </a:xfrm>
          <a:prstGeom prst="rect">
            <a:avLst/>
          </a:prstGeom>
          <a:solidFill>
            <a:srgbClr val="FFFFFF"/>
          </a:solidFill>
          <a:ln/>
          <a:effectLst>
            <a:outerShdw blurRad="63500" dist="25400" dir="8100000" algn="bl" rotWithShape="0">
              <a:srgbClr val="000000">
                <a:alpha val="10000"/>
              </a:srgbClr>
            </a:outerShdw>
          </a:effectLst>
        </p:spPr>
      </p:sp>
      <p:sp>
        <p:nvSpPr>
          <p:cNvPr id="44" name="Shape 42"/>
          <p:cNvSpPr/>
          <p:nvPr/>
        </p:nvSpPr>
        <p:spPr>
          <a:xfrm>
            <a:off x="3182112" y="2953512"/>
            <a:ext cx="50292" cy="1847088"/>
          </a:xfrm>
          <a:prstGeom prst="rect">
            <a:avLst/>
          </a:prstGeom>
          <a:solidFill>
            <a:srgbClr val="E23744"/>
          </a:solidFill>
          <a:ln/>
        </p:spPr>
      </p:sp>
      <p:sp>
        <p:nvSpPr>
          <p:cNvPr id="45" name="Shape 43"/>
          <p:cNvSpPr/>
          <p:nvPr/>
        </p:nvSpPr>
        <p:spPr>
          <a:xfrm>
            <a:off x="3182112" y="2953512"/>
            <a:ext cx="2834640" cy="329184"/>
          </a:xfrm>
          <a:prstGeom prst="rect">
            <a:avLst/>
          </a:prstGeom>
          <a:solidFill>
            <a:srgbClr val="FFF5F6"/>
          </a:solidFill>
          <a:ln/>
        </p:spPr>
      </p:sp>
      <p:sp>
        <p:nvSpPr>
          <p:cNvPr id="46" name="Shape 44"/>
          <p:cNvSpPr/>
          <p:nvPr/>
        </p:nvSpPr>
        <p:spPr>
          <a:xfrm>
            <a:off x="3182112" y="2953512"/>
            <a:ext cx="50292" cy="329184"/>
          </a:xfrm>
          <a:prstGeom prst="rect">
            <a:avLst/>
          </a:prstGeom>
          <a:solidFill>
            <a:srgbClr val="E23744"/>
          </a:solidFill>
          <a:ln/>
        </p:spPr>
      </p:sp>
      <p:sp>
        <p:nvSpPr>
          <p:cNvPr id="47" name="Text 45"/>
          <p:cNvSpPr/>
          <p:nvPr/>
        </p:nvSpPr>
        <p:spPr>
          <a:xfrm>
            <a:off x="3291840" y="3017520"/>
            <a:ext cx="384048" cy="228600"/>
          </a:xfrm>
          <a:prstGeom prst="rect">
            <a:avLst/>
          </a:prstGeom>
          <a:noFill/>
          <a:ln/>
        </p:spPr>
        <p:txBody>
          <a:bodyPr wrap="square" lIns="0" tIns="0" rIns="0" bIns="0" rtlCol="0" anchor="ctr"/>
          <a:lstStyle/>
          <a:p>
            <a:pPr marL="0" indent="0">
              <a:buNone/>
            </a:pPr>
            <a:r>
              <a:rPr lang="en-US" sz="1100" b="1" dirty="0">
                <a:solidFill>
                  <a:srgbClr val="E23744"/>
                </a:solidFill>
              </a:rPr>
              <a:t>05</a:t>
            </a:r>
            <a:endParaRPr lang="en-US" sz="1100" dirty="0"/>
          </a:p>
        </p:txBody>
      </p:sp>
      <p:sp>
        <p:nvSpPr>
          <p:cNvPr id="48" name="Text 46"/>
          <p:cNvSpPr/>
          <p:nvPr/>
        </p:nvSpPr>
        <p:spPr>
          <a:xfrm>
            <a:off x="3291840" y="3300984"/>
            <a:ext cx="2633472" cy="274320"/>
          </a:xfrm>
          <a:prstGeom prst="rect">
            <a:avLst/>
          </a:prstGeom>
          <a:noFill/>
          <a:ln/>
        </p:spPr>
        <p:txBody>
          <a:bodyPr wrap="square" lIns="0" tIns="0" rIns="0" bIns="0" rtlCol="0" anchor="ctr"/>
          <a:lstStyle/>
          <a:p>
            <a:pPr marL="0" indent="0">
              <a:buNone/>
            </a:pPr>
            <a:r>
              <a:rPr lang="en-US" sz="1100" b="1" dirty="0">
                <a:solidFill>
                  <a:srgbClr val="2C0A0E"/>
                </a:solidFill>
                <a:latin typeface="Calibri" pitchFamily="34" charset="0"/>
                <a:ea typeface="Calibri" pitchFamily="34" charset="-122"/>
                <a:cs typeface="Calibri" pitchFamily="34" charset="-120"/>
              </a:rPr>
              <a:t>⚠️  22.5% Are Unrated</a:t>
            </a:r>
            <a:endParaRPr lang="en-US" sz="1100" dirty="0"/>
          </a:p>
        </p:txBody>
      </p:sp>
      <p:sp>
        <p:nvSpPr>
          <p:cNvPr id="49" name="Text 47"/>
          <p:cNvSpPr/>
          <p:nvPr/>
        </p:nvSpPr>
        <p:spPr>
          <a:xfrm>
            <a:off x="3291840" y="3593592"/>
            <a:ext cx="2633472" cy="420624"/>
          </a:xfrm>
          <a:prstGeom prst="rect">
            <a:avLst/>
          </a:prstGeom>
          <a:noFill/>
          <a:ln/>
        </p:spPr>
        <p:txBody>
          <a:bodyPr wrap="square" lIns="0" tIns="0" rIns="0" bIns="0" rtlCol="0" anchor="ctr"/>
          <a:lstStyle/>
          <a:p>
            <a:pPr marL="0" indent="0">
              <a:buNone/>
            </a:pPr>
            <a:r>
              <a:rPr lang="en-US" sz="2400" b="1" dirty="0">
                <a:solidFill>
                  <a:srgbClr val="E23744"/>
                </a:solidFill>
                <a:latin typeface="Calibri" pitchFamily="34" charset="0"/>
                <a:ea typeface="Calibri" pitchFamily="34" charset="-122"/>
                <a:cs typeface="Calibri" pitchFamily="34" charset="-120"/>
              </a:rPr>
              <a:t>2,148</a:t>
            </a:r>
            <a:endParaRPr lang="en-US" sz="2400" dirty="0"/>
          </a:p>
        </p:txBody>
      </p:sp>
      <p:sp>
        <p:nvSpPr>
          <p:cNvPr id="50" name="Text 48"/>
          <p:cNvSpPr/>
          <p:nvPr/>
        </p:nvSpPr>
        <p:spPr>
          <a:xfrm>
            <a:off x="3291840" y="3995928"/>
            <a:ext cx="2633472" cy="182880"/>
          </a:xfrm>
          <a:prstGeom prst="rect">
            <a:avLst/>
          </a:prstGeom>
          <a:noFill/>
          <a:ln/>
        </p:spPr>
        <p:txBody>
          <a:bodyPr wrap="square" lIns="0" tIns="0" rIns="0" bIns="0" rtlCol="0" anchor="ctr"/>
          <a:lstStyle/>
          <a:p>
            <a:pPr marL="0" indent="0">
              <a:buNone/>
            </a:pPr>
            <a:r>
              <a:rPr lang="en-US" sz="900" dirty="0">
                <a:solidFill>
                  <a:srgbClr val="9A4A52"/>
                </a:solidFill>
                <a:latin typeface="Calibri" pitchFamily="34" charset="0"/>
                <a:ea typeface="Calibri" pitchFamily="34" charset="-122"/>
                <a:cs typeface="Calibri" pitchFamily="34" charset="-120"/>
              </a:rPr>
              <a:t>restaurants with no ratings</a:t>
            </a:r>
            <a:endParaRPr lang="en-US" sz="900" dirty="0"/>
          </a:p>
        </p:txBody>
      </p:sp>
      <p:sp>
        <p:nvSpPr>
          <p:cNvPr id="51" name="Text 49"/>
          <p:cNvSpPr/>
          <p:nvPr/>
        </p:nvSpPr>
        <p:spPr>
          <a:xfrm>
            <a:off x="3291840" y="4197096"/>
            <a:ext cx="2633472" cy="548640"/>
          </a:xfrm>
          <a:prstGeom prst="rect">
            <a:avLst/>
          </a:prstGeom>
          <a:noFill/>
          <a:ln/>
        </p:spPr>
        <p:txBody>
          <a:bodyPr wrap="square" lIns="0" tIns="0" rIns="0" bIns="0" rtlCol="0" anchor="ctr"/>
          <a:lstStyle/>
          <a:p>
            <a:pPr marL="0" indent="0">
              <a:buNone/>
            </a:pPr>
            <a:r>
              <a:rPr lang="en-US" sz="900" dirty="0">
                <a:solidFill>
                  <a:srgbClr val="4A1520"/>
                </a:solidFill>
                <a:latin typeface="Calibri" pitchFamily="34" charset="0"/>
                <a:ea typeface="Calibri" pitchFamily="34" charset="-122"/>
                <a:cs typeface="Calibri" pitchFamily="34" charset="-120"/>
              </a:rPr>
              <a:t>Over 2,000 restaurants have never been rated — a major business opportunity for Zomato to drive engagement.</a:t>
            </a:r>
            <a:endParaRPr lang="en-US" sz="900" dirty="0"/>
          </a:p>
        </p:txBody>
      </p:sp>
      <p:sp>
        <p:nvSpPr>
          <p:cNvPr id="52" name="Shape 50"/>
          <p:cNvSpPr/>
          <p:nvPr/>
        </p:nvSpPr>
        <p:spPr>
          <a:xfrm>
            <a:off x="6181344" y="2953512"/>
            <a:ext cx="2834640" cy="1847088"/>
          </a:xfrm>
          <a:prstGeom prst="rect">
            <a:avLst/>
          </a:prstGeom>
          <a:solidFill>
            <a:srgbClr val="FFFFFF"/>
          </a:solidFill>
          <a:ln/>
          <a:effectLst>
            <a:outerShdw blurRad="63500" dist="25400" dir="8100000" algn="bl" rotWithShape="0">
              <a:srgbClr val="000000">
                <a:alpha val="10000"/>
              </a:srgbClr>
            </a:outerShdw>
          </a:effectLst>
        </p:spPr>
      </p:sp>
      <p:sp>
        <p:nvSpPr>
          <p:cNvPr id="53" name="Shape 51"/>
          <p:cNvSpPr/>
          <p:nvPr/>
        </p:nvSpPr>
        <p:spPr>
          <a:xfrm>
            <a:off x="6181344" y="2953512"/>
            <a:ext cx="50292" cy="1847088"/>
          </a:xfrm>
          <a:prstGeom prst="rect">
            <a:avLst/>
          </a:prstGeom>
          <a:solidFill>
            <a:srgbClr val="B8202E"/>
          </a:solidFill>
          <a:ln/>
        </p:spPr>
      </p:sp>
      <p:sp>
        <p:nvSpPr>
          <p:cNvPr id="54" name="Shape 52"/>
          <p:cNvSpPr/>
          <p:nvPr/>
        </p:nvSpPr>
        <p:spPr>
          <a:xfrm>
            <a:off x="6181344" y="2953512"/>
            <a:ext cx="2834640" cy="329184"/>
          </a:xfrm>
          <a:prstGeom prst="rect">
            <a:avLst/>
          </a:prstGeom>
          <a:solidFill>
            <a:srgbClr val="FFF5F6"/>
          </a:solidFill>
          <a:ln/>
        </p:spPr>
      </p:sp>
      <p:sp>
        <p:nvSpPr>
          <p:cNvPr id="55" name="Shape 53"/>
          <p:cNvSpPr/>
          <p:nvPr/>
        </p:nvSpPr>
        <p:spPr>
          <a:xfrm>
            <a:off x="6181344" y="2953512"/>
            <a:ext cx="50292" cy="329184"/>
          </a:xfrm>
          <a:prstGeom prst="rect">
            <a:avLst/>
          </a:prstGeom>
          <a:solidFill>
            <a:srgbClr val="B8202E"/>
          </a:solidFill>
          <a:ln/>
        </p:spPr>
      </p:sp>
      <p:sp>
        <p:nvSpPr>
          <p:cNvPr id="56" name="Text 54"/>
          <p:cNvSpPr/>
          <p:nvPr/>
        </p:nvSpPr>
        <p:spPr>
          <a:xfrm>
            <a:off x="6291072" y="3017520"/>
            <a:ext cx="384048" cy="228600"/>
          </a:xfrm>
          <a:prstGeom prst="rect">
            <a:avLst/>
          </a:prstGeom>
          <a:noFill/>
          <a:ln/>
        </p:spPr>
        <p:txBody>
          <a:bodyPr wrap="square" lIns="0" tIns="0" rIns="0" bIns="0" rtlCol="0" anchor="ctr"/>
          <a:lstStyle/>
          <a:p>
            <a:pPr marL="0" indent="0">
              <a:buNone/>
            </a:pPr>
            <a:r>
              <a:rPr lang="en-US" sz="1100" b="1" dirty="0">
                <a:solidFill>
                  <a:srgbClr val="B8202E"/>
                </a:solidFill>
              </a:rPr>
              <a:t>06</a:t>
            </a:r>
            <a:endParaRPr lang="en-US" sz="1100" dirty="0"/>
          </a:p>
        </p:txBody>
      </p:sp>
      <p:sp>
        <p:nvSpPr>
          <p:cNvPr id="57" name="Text 55"/>
          <p:cNvSpPr/>
          <p:nvPr/>
        </p:nvSpPr>
        <p:spPr>
          <a:xfrm>
            <a:off x="6291072" y="3300984"/>
            <a:ext cx="2633472" cy="274320"/>
          </a:xfrm>
          <a:prstGeom prst="rect">
            <a:avLst/>
          </a:prstGeom>
          <a:noFill/>
          <a:ln/>
        </p:spPr>
        <p:txBody>
          <a:bodyPr wrap="square" lIns="0" tIns="0" rIns="0" bIns="0" rtlCol="0" anchor="ctr"/>
          <a:lstStyle/>
          <a:p>
            <a:pPr marL="0" indent="0">
              <a:buNone/>
            </a:pPr>
            <a:r>
              <a:rPr lang="en-US" sz="1100" b="1" dirty="0">
                <a:solidFill>
                  <a:srgbClr val="2C0A0E"/>
                </a:solidFill>
                <a:latin typeface="Calibri" pitchFamily="34" charset="0"/>
                <a:ea typeface="Calibri" pitchFamily="34" charset="-122"/>
                <a:cs typeface="Calibri" pitchFamily="34" charset="-120"/>
              </a:rPr>
              <a:t>🌍  Africa Leads Rating Quality</a:t>
            </a:r>
            <a:endParaRPr lang="en-US" sz="1100" dirty="0"/>
          </a:p>
        </p:txBody>
      </p:sp>
      <p:sp>
        <p:nvSpPr>
          <p:cNvPr id="58" name="Text 56"/>
          <p:cNvSpPr/>
          <p:nvPr/>
        </p:nvSpPr>
        <p:spPr>
          <a:xfrm>
            <a:off x="6291072" y="3593592"/>
            <a:ext cx="2633472" cy="420624"/>
          </a:xfrm>
          <a:prstGeom prst="rect">
            <a:avLst/>
          </a:prstGeom>
          <a:noFill/>
          <a:ln/>
        </p:spPr>
        <p:txBody>
          <a:bodyPr wrap="square" lIns="0" tIns="0" rIns="0" bIns="0" rtlCol="0" anchor="ctr"/>
          <a:lstStyle/>
          <a:p>
            <a:pPr marL="0" indent="0">
              <a:buNone/>
            </a:pPr>
            <a:r>
              <a:rPr lang="en-US" sz="2400" b="1" dirty="0">
                <a:solidFill>
                  <a:srgbClr val="B8202E"/>
                </a:solidFill>
                <a:latin typeface="Calibri" pitchFamily="34" charset="0"/>
                <a:ea typeface="Calibri" pitchFamily="34" charset="-122"/>
                <a:cs typeface="Calibri" pitchFamily="34" charset="-120"/>
              </a:rPr>
              <a:t>4.21</a:t>
            </a:r>
            <a:endParaRPr lang="en-US" sz="2400" dirty="0"/>
          </a:p>
        </p:txBody>
      </p:sp>
      <p:sp>
        <p:nvSpPr>
          <p:cNvPr id="59" name="Text 57"/>
          <p:cNvSpPr/>
          <p:nvPr/>
        </p:nvSpPr>
        <p:spPr>
          <a:xfrm>
            <a:off x="6291072" y="3995928"/>
            <a:ext cx="2633472" cy="182880"/>
          </a:xfrm>
          <a:prstGeom prst="rect">
            <a:avLst/>
          </a:prstGeom>
          <a:noFill/>
          <a:ln/>
        </p:spPr>
        <p:txBody>
          <a:bodyPr wrap="square" lIns="0" tIns="0" rIns="0" bIns="0" rtlCol="0" anchor="ctr"/>
          <a:lstStyle/>
          <a:p>
            <a:pPr marL="0" indent="0">
              <a:buNone/>
            </a:pPr>
            <a:r>
              <a:rPr lang="en-US" sz="900" dirty="0">
                <a:solidFill>
                  <a:srgbClr val="9A4A52"/>
                </a:solidFill>
                <a:latin typeface="Calibri" pitchFamily="34" charset="0"/>
                <a:ea typeface="Calibri" pitchFamily="34" charset="-122"/>
                <a:cs typeface="Calibri" pitchFamily="34" charset="-120"/>
              </a:rPr>
              <a:t>Africa's avg rating</a:t>
            </a:r>
            <a:endParaRPr lang="en-US" sz="900" dirty="0"/>
          </a:p>
        </p:txBody>
      </p:sp>
      <p:sp>
        <p:nvSpPr>
          <p:cNvPr id="60" name="Text 58"/>
          <p:cNvSpPr/>
          <p:nvPr/>
        </p:nvSpPr>
        <p:spPr>
          <a:xfrm>
            <a:off x="6291072" y="4197096"/>
            <a:ext cx="2633472" cy="548640"/>
          </a:xfrm>
          <a:prstGeom prst="rect">
            <a:avLst/>
          </a:prstGeom>
          <a:noFill/>
          <a:ln/>
        </p:spPr>
        <p:txBody>
          <a:bodyPr wrap="square" lIns="0" tIns="0" rIns="0" bIns="0" rtlCol="0" anchor="ctr"/>
          <a:lstStyle/>
          <a:p>
            <a:pPr marL="0" indent="0">
              <a:buNone/>
            </a:pPr>
            <a:r>
              <a:rPr lang="en-US" sz="900" dirty="0">
                <a:solidFill>
                  <a:srgbClr val="4A1520"/>
                </a:solidFill>
                <a:latin typeface="Calibri" pitchFamily="34" charset="0"/>
                <a:ea typeface="Calibri" pitchFamily="34" charset="-122"/>
                <a:cs typeface="Calibri" pitchFamily="34" charset="-120"/>
              </a:rPr>
              <a:t>Despite very few restaurants, Africa tops continent ratings at 4.21. Asia with 8,815 restaurants has lowest at 3.37.</a:t>
            </a:r>
            <a:endParaRPr lang="en-US" sz="900" dirty="0"/>
          </a:p>
        </p:txBody>
      </p:sp>
      <p:sp>
        <p:nvSpPr>
          <p:cNvPr id="61" name="Shape 59"/>
          <p:cNvSpPr/>
          <p:nvPr/>
        </p:nvSpPr>
        <p:spPr>
          <a:xfrm>
            <a:off x="0" y="4832604"/>
            <a:ext cx="9144000" cy="310896"/>
          </a:xfrm>
          <a:prstGeom prst="rect">
            <a:avLst/>
          </a:prstGeom>
          <a:solidFill>
            <a:srgbClr val="E23744"/>
          </a:solidFill>
          <a:ln/>
        </p:spPr>
      </p:sp>
      <p:sp>
        <p:nvSpPr>
          <p:cNvPr id="62" name="Text 60"/>
          <p:cNvSpPr/>
          <p:nvPr/>
        </p:nvSpPr>
        <p:spPr>
          <a:xfrm>
            <a:off x="274320" y="4832604"/>
            <a:ext cx="8595360" cy="310896"/>
          </a:xfrm>
          <a:prstGeom prst="rect">
            <a:avLst/>
          </a:prstGeom>
          <a:noFill/>
          <a:ln/>
        </p:spPr>
        <p:txBody>
          <a:bodyPr wrap="square" rtlCol="0" anchor="ctr"/>
          <a:lstStyle/>
          <a:p>
            <a:pPr marL="0" indent="0">
              <a:buNone/>
            </a:pP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23744"/>
          </a:solidFill>
          <a:ln/>
        </p:spPr>
      </p:sp>
      <p:sp>
        <p:nvSpPr>
          <p:cNvPr id="3" name="Shape 1"/>
          <p:cNvSpPr/>
          <p:nvPr/>
        </p:nvSpPr>
        <p:spPr>
          <a:xfrm>
            <a:off x="0" y="749808"/>
            <a:ext cx="9144000" cy="45720"/>
          </a:xfrm>
          <a:prstGeom prst="rect">
            <a:avLst/>
          </a:prstGeom>
          <a:solidFill>
            <a:srgbClr val="B8202E"/>
          </a:solidFill>
          <a:ln/>
        </p:spPr>
      </p:sp>
      <p:sp>
        <p:nvSpPr>
          <p:cNvPr id="4" name="Text 2"/>
          <p:cNvSpPr/>
          <p:nvPr/>
        </p:nvSpPr>
        <p:spPr>
          <a:xfrm>
            <a:off x="320040" y="0"/>
            <a:ext cx="8229600" cy="749808"/>
          </a:xfrm>
          <a:prstGeom prst="rect">
            <a:avLst/>
          </a:prstGeom>
          <a:noFill/>
          <a:ln/>
        </p:spPr>
        <p:txBody>
          <a:bodyPr wrap="square"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RECOMMENDATIONS</a:t>
            </a:r>
            <a:endParaRPr lang="en-US" sz="2300" dirty="0"/>
          </a:p>
        </p:txBody>
      </p:sp>
      <p:sp>
        <p:nvSpPr>
          <p:cNvPr id="5" name="Shape 3"/>
          <p:cNvSpPr/>
          <p:nvPr/>
        </p:nvSpPr>
        <p:spPr>
          <a:xfrm>
            <a:off x="8705088" y="109728"/>
            <a:ext cx="347472" cy="347472"/>
          </a:xfrm>
          <a:prstGeom prst="ellipse">
            <a:avLst/>
          </a:prstGeom>
          <a:solidFill>
            <a:srgbClr val="B8202E"/>
          </a:solidFill>
          <a:ln/>
        </p:spPr>
      </p:sp>
      <p:sp>
        <p:nvSpPr>
          <p:cNvPr id="6" name="Text 4"/>
          <p:cNvSpPr/>
          <p:nvPr/>
        </p:nvSpPr>
        <p:spPr>
          <a:xfrm>
            <a:off x="8705088" y="1097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13</a:t>
            </a:r>
            <a:endParaRPr lang="en-US" sz="1300" dirty="0"/>
          </a:p>
        </p:txBody>
      </p:sp>
      <p:sp>
        <p:nvSpPr>
          <p:cNvPr id="7" name="Shape 5"/>
          <p:cNvSpPr/>
          <p:nvPr/>
        </p:nvSpPr>
        <p:spPr>
          <a:xfrm>
            <a:off x="256032" y="960120"/>
            <a:ext cx="8631936" cy="896112"/>
          </a:xfrm>
          <a:prstGeom prst="rect">
            <a:avLst/>
          </a:prstGeom>
          <a:solidFill>
            <a:srgbClr val="FFFFFF"/>
          </a:solidFill>
          <a:ln/>
          <a:effectLst>
            <a:outerShdw blurRad="63500" dist="25400" dir="8100000" algn="bl" rotWithShape="0">
              <a:srgbClr val="000000">
                <a:alpha val="10000"/>
              </a:srgbClr>
            </a:outerShdw>
          </a:effectLst>
        </p:spPr>
      </p:sp>
      <p:sp>
        <p:nvSpPr>
          <p:cNvPr id="8" name="Shape 6"/>
          <p:cNvSpPr/>
          <p:nvPr/>
        </p:nvSpPr>
        <p:spPr>
          <a:xfrm>
            <a:off x="256032" y="960120"/>
            <a:ext cx="54864" cy="896112"/>
          </a:xfrm>
          <a:prstGeom prst="rect">
            <a:avLst/>
          </a:prstGeom>
          <a:solidFill>
            <a:srgbClr val="E23744"/>
          </a:solidFill>
          <a:ln/>
        </p:spPr>
      </p:sp>
      <p:sp>
        <p:nvSpPr>
          <p:cNvPr id="9" name="Shape 7"/>
          <p:cNvSpPr/>
          <p:nvPr/>
        </p:nvSpPr>
        <p:spPr>
          <a:xfrm>
            <a:off x="256032" y="960120"/>
            <a:ext cx="566928" cy="896112"/>
          </a:xfrm>
          <a:prstGeom prst="rect">
            <a:avLst/>
          </a:prstGeom>
          <a:solidFill>
            <a:srgbClr val="FFF5F6"/>
          </a:solidFill>
          <a:ln/>
        </p:spPr>
      </p:sp>
      <p:sp>
        <p:nvSpPr>
          <p:cNvPr id="10" name="Shape 8"/>
          <p:cNvSpPr/>
          <p:nvPr/>
        </p:nvSpPr>
        <p:spPr>
          <a:xfrm>
            <a:off x="256032" y="960120"/>
            <a:ext cx="54864" cy="896112"/>
          </a:xfrm>
          <a:prstGeom prst="rect">
            <a:avLst/>
          </a:prstGeom>
          <a:solidFill>
            <a:srgbClr val="E23744"/>
          </a:solidFill>
          <a:ln/>
        </p:spPr>
      </p:sp>
      <p:sp>
        <p:nvSpPr>
          <p:cNvPr id="11" name="Text 9"/>
          <p:cNvSpPr/>
          <p:nvPr/>
        </p:nvSpPr>
        <p:spPr>
          <a:xfrm>
            <a:off x="310896" y="960120"/>
            <a:ext cx="512064" cy="896112"/>
          </a:xfrm>
          <a:prstGeom prst="rect">
            <a:avLst/>
          </a:prstGeom>
          <a:noFill/>
          <a:ln/>
        </p:spPr>
        <p:txBody>
          <a:bodyPr wrap="square" lIns="0" tIns="0" rIns="0" bIns="0" rtlCol="0" anchor="ctr"/>
          <a:lstStyle/>
          <a:p>
            <a:pPr marL="0" indent="0" algn="ctr">
              <a:buNone/>
            </a:pPr>
            <a:r>
              <a:rPr lang="en-US" sz="2200" b="1" dirty="0">
                <a:solidFill>
                  <a:srgbClr val="E23744"/>
                </a:solidFill>
              </a:rPr>
              <a:t>1</a:t>
            </a:r>
            <a:endParaRPr lang="en-US" sz="2200" dirty="0"/>
          </a:p>
        </p:txBody>
      </p:sp>
      <p:sp>
        <p:nvSpPr>
          <p:cNvPr id="12" name="Shape 10"/>
          <p:cNvSpPr/>
          <p:nvPr/>
        </p:nvSpPr>
        <p:spPr>
          <a:xfrm>
            <a:off x="822960" y="1033272"/>
            <a:ext cx="960120" cy="256032"/>
          </a:xfrm>
          <a:prstGeom prst="rect">
            <a:avLst/>
          </a:prstGeom>
          <a:solidFill>
            <a:srgbClr val="E23744"/>
          </a:solidFill>
          <a:ln/>
        </p:spPr>
      </p:sp>
      <p:sp>
        <p:nvSpPr>
          <p:cNvPr id="13" name="Text 11"/>
          <p:cNvSpPr/>
          <p:nvPr/>
        </p:nvSpPr>
        <p:spPr>
          <a:xfrm>
            <a:off x="822960" y="1033272"/>
            <a:ext cx="960120" cy="256032"/>
          </a:xfrm>
          <a:prstGeom prst="rect">
            <a:avLst/>
          </a:prstGeom>
          <a:noFill/>
          <a:ln/>
        </p:spPr>
        <p:txBody>
          <a:bodyPr wrap="square" lIns="0" tIns="0" rIns="0" bIns="0" rtlCol="0" anchor="ctr"/>
          <a:lstStyle/>
          <a:p>
            <a:pPr marL="0" indent="0" algn="ctr">
              <a:buNone/>
            </a:pPr>
            <a:r>
              <a:rPr lang="en-US" sz="900" b="1" kern="0" spc="100" dirty="0">
                <a:solidFill>
                  <a:srgbClr val="FFFFFF"/>
                </a:solidFill>
              </a:rPr>
              <a:t>STRATEGY</a:t>
            </a:r>
            <a:endParaRPr lang="en-US" sz="900" dirty="0"/>
          </a:p>
        </p:txBody>
      </p:sp>
      <p:sp>
        <p:nvSpPr>
          <p:cNvPr id="14" name="Text 12"/>
          <p:cNvSpPr/>
          <p:nvPr/>
        </p:nvSpPr>
        <p:spPr>
          <a:xfrm>
            <a:off x="822960" y="1325880"/>
            <a:ext cx="2926080" cy="256032"/>
          </a:xfrm>
          <a:prstGeom prst="rect">
            <a:avLst/>
          </a:prstGeom>
          <a:noFill/>
          <a:ln/>
        </p:spPr>
        <p:txBody>
          <a:bodyPr wrap="square" lIns="0" tIns="0" rIns="0" bIns="0" rtlCol="0" anchor="ctr"/>
          <a:lstStyle/>
          <a:p>
            <a:pPr marL="0" indent="0">
              <a:buNone/>
            </a:pPr>
            <a:r>
              <a:rPr lang="en-US" sz="1250" b="1" dirty="0">
                <a:solidFill>
                  <a:srgbClr val="2C0A0E"/>
                </a:solidFill>
                <a:latin typeface="Calibri" pitchFamily="34" charset="0"/>
                <a:ea typeface="Calibri" pitchFamily="34" charset="-122"/>
                <a:cs typeface="Calibri" pitchFamily="34" charset="-120"/>
              </a:rPr>
              <a:t>🛵  Promote Online Delivery Adoption</a:t>
            </a:r>
            <a:endParaRPr lang="en-US" sz="1250" dirty="0"/>
          </a:p>
        </p:txBody>
      </p:sp>
      <p:sp>
        <p:nvSpPr>
          <p:cNvPr id="15" name="Text 13"/>
          <p:cNvSpPr/>
          <p:nvPr/>
        </p:nvSpPr>
        <p:spPr>
          <a:xfrm>
            <a:off x="3840480" y="1051560"/>
            <a:ext cx="4937760" cy="713232"/>
          </a:xfrm>
          <a:prstGeom prst="rect">
            <a:avLst/>
          </a:prstGeom>
          <a:noFill/>
          <a:ln/>
        </p:spPr>
        <p:txBody>
          <a:bodyPr wrap="square" lIns="0" tIns="0" rIns="0" bIns="0" rtlCol="0" anchor="ctr"/>
          <a:lstStyle/>
          <a:p>
            <a:pPr marL="0" indent="0">
              <a:buNone/>
            </a:pPr>
            <a:r>
              <a:rPr lang="en-US" sz="1100" dirty="0">
                <a:solidFill>
                  <a:srgbClr val="4A1520"/>
                </a:solidFill>
                <a:latin typeface="Calibri" pitchFamily="34" charset="0"/>
                <a:ea typeface="Calibri" pitchFamily="34" charset="-122"/>
                <a:cs typeface="Calibri" pitchFamily="34" charset="-120"/>
              </a:rPr>
              <a:t>With delivery restaurants consistently rated 0.78 pts higher, Zomato should actively incentivize non-delivery restaurants to join the delivery platform — especially in underserved regions.</a:t>
            </a:r>
            <a:endParaRPr lang="en-US" sz="1100" dirty="0"/>
          </a:p>
        </p:txBody>
      </p:sp>
      <p:sp>
        <p:nvSpPr>
          <p:cNvPr id="16" name="Shape 14"/>
          <p:cNvSpPr/>
          <p:nvPr/>
        </p:nvSpPr>
        <p:spPr>
          <a:xfrm>
            <a:off x="3749040" y="1069848"/>
            <a:ext cx="0" cy="676656"/>
          </a:xfrm>
          <a:prstGeom prst="line">
            <a:avLst/>
          </a:prstGeom>
          <a:noFill/>
          <a:ln w="12700">
            <a:solidFill>
              <a:srgbClr val="F5B8BE"/>
            </a:solidFill>
            <a:prstDash val="solid"/>
          </a:ln>
        </p:spPr>
      </p:sp>
      <p:sp>
        <p:nvSpPr>
          <p:cNvPr id="17" name="Shape 15"/>
          <p:cNvSpPr/>
          <p:nvPr/>
        </p:nvSpPr>
        <p:spPr>
          <a:xfrm>
            <a:off x="256032" y="1965960"/>
            <a:ext cx="8631936" cy="896112"/>
          </a:xfrm>
          <a:prstGeom prst="rect">
            <a:avLst/>
          </a:prstGeom>
          <a:solidFill>
            <a:srgbClr val="FFFFFF"/>
          </a:solidFill>
          <a:ln/>
          <a:effectLst>
            <a:outerShdw blurRad="63500" dist="25400" dir="8100000" algn="bl" rotWithShape="0">
              <a:srgbClr val="000000">
                <a:alpha val="10000"/>
              </a:srgbClr>
            </a:outerShdw>
          </a:effectLst>
        </p:spPr>
      </p:sp>
      <p:sp>
        <p:nvSpPr>
          <p:cNvPr id="18" name="Shape 16"/>
          <p:cNvSpPr/>
          <p:nvPr/>
        </p:nvSpPr>
        <p:spPr>
          <a:xfrm>
            <a:off x="256032" y="1965960"/>
            <a:ext cx="54864" cy="896112"/>
          </a:xfrm>
          <a:prstGeom prst="rect">
            <a:avLst/>
          </a:prstGeom>
          <a:solidFill>
            <a:srgbClr val="B8202E"/>
          </a:solidFill>
          <a:ln/>
        </p:spPr>
      </p:sp>
      <p:sp>
        <p:nvSpPr>
          <p:cNvPr id="19" name="Shape 17"/>
          <p:cNvSpPr/>
          <p:nvPr/>
        </p:nvSpPr>
        <p:spPr>
          <a:xfrm>
            <a:off x="256032" y="1965960"/>
            <a:ext cx="566928" cy="896112"/>
          </a:xfrm>
          <a:prstGeom prst="rect">
            <a:avLst/>
          </a:prstGeom>
          <a:solidFill>
            <a:srgbClr val="FFF5F6"/>
          </a:solidFill>
          <a:ln/>
        </p:spPr>
      </p:sp>
      <p:sp>
        <p:nvSpPr>
          <p:cNvPr id="20" name="Shape 18"/>
          <p:cNvSpPr/>
          <p:nvPr/>
        </p:nvSpPr>
        <p:spPr>
          <a:xfrm>
            <a:off x="256032" y="1965960"/>
            <a:ext cx="54864" cy="896112"/>
          </a:xfrm>
          <a:prstGeom prst="rect">
            <a:avLst/>
          </a:prstGeom>
          <a:solidFill>
            <a:srgbClr val="B8202E"/>
          </a:solidFill>
          <a:ln/>
        </p:spPr>
      </p:sp>
      <p:sp>
        <p:nvSpPr>
          <p:cNvPr id="21" name="Text 19"/>
          <p:cNvSpPr/>
          <p:nvPr/>
        </p:nvSpPr>
        <p:spPr>
          <a:xfrm>
            <a:off x="310896" y="1965960"/>
            <a:ext cx="512064" cy="896112"/>
          </a:xfrm>
          <a:prstGeom prst="rect">
            <a:avLst/>
          </a:prstGeom>
          <a:noFill/>
          <a:ln/>
        </p:spPr>
        <p:txBody>
          <a:bodyPr wrap="square" lIns="0" tIns="0" rIns="0" bIns="0" rtlCol="0" anchor="ctr"/>
          <a:lstStyle/>
          <a:p>
            <a:pPr marL="0" indent="0" algn="ctr">
              <a:buNone/>
            </a:pPr>
            <a:r>
              <a:rPr lang="en-US" sz="2200" b="1" dirty="0">
                <a:solidFill>
                  <a:srgbClr val="B8202E"/>
                </a:solidFill>
              </a:rPr>
              <a:t>2</a:t>
            </a:r>
            <a:endParaRPr lang="en-US" sz="2200" dirty="0"/>
          </a:p>
        </p:txBody>
      </p:sp>
      <p:sp>
        <p:nvSpPr>
          <p:cNvPr id="22" name="Shape 20"/>
          <p:cNvSpPr/>
          <p:nvPr/>
        </p:nvSpPr>
        <p:spPr>
          <a:xfrm>
            <a:off x="822960" y="2039112"/>
            <a:ext cx="960120" cy="256032"/>
          </a:xfrm>
          <a:prstGeom prst="rect">
            <a:avLst/>
          </a:prstGeom>
          <a:solidFill>
            <a:srgbClr val="B8202E"/>
          </a:solidFill>
          <a:ln/>
        </p:spPr>
      </p:sp>
      <p:sp>
        <p:nvSpPr>
          <p:cNvPr id="23" name="Text 21"/>
          <p:cNvSpPr/>
          <p:nvPr/>
        </p:nvSpPr>
        <p:spPr>
          <a:xfrm>
            <a:off x="822960" y="2039112"/>
            <a:ext cx="960120" cy="256032"/>
          </a:xfrm>
          <a:prstGeom prst="rect">
            <a:avLst/>
          </a:prstGeom>
          <a:noFill/>
          <a:ln/>
        </p:spPr>
        <p:txBody>
          <a:bodyPr wrap="square" lIns="0" tIns="0" rIns="0" bIns="0" rtlCol="0" anchor="ctr"/>
          <a:lstStyle/>
          <a:p>
            <a:pPr marL="0" indent="0" algn="ctr">
              <a:buNone/>
            </a:pPr>
            <a:r>
              <a:rPr lang="en-US" sz="900" b="1" kern="0" spc="100" dirty="0">
                <a:solidFill>
                  <a:srgbClr val="FFFFFF"/>
                </a:solidFill>
              </a:rPr>
              <a:t>ENGAGEMENT</a:t>
            </a:r>
            <a:endParaRPr lang="en-US" sz="900" dirty="0"/>
          </a:p>
        </p:txBody>
      </p:sp>
      <p:sp>
        <p:nvSpPr>
          <p:cNvPr id="24" name="Text 22"/>
          <p:cNvSpPr/>
          <p:nvPr/>
        </p:nvSpPr>
        <p:spPr>
          <a:xfrm>
            <a:off x="822960" y="2331720"/>
            <a:ext cx="2926080" cy="256032"/>
          </a:xfrm>
          <a:prstGeom prst="rect">
            <a:avLst/>
          </a:prstGeom>
          <a:noFill/>
          <a:ln/>
        </p:spPr>
        <p:txBody>
          <a:bodyPr wrap="square" lIns="0" tIns="0" rIns="0" bIns="0" rtlCol="0" anchor="ctr"/>
          <a:lstStyle/>
          <a:p>
            <a:pPr marL="0" indent="0">
              <a:buNone/>
            </a:pPr>
            <a:r>
              <a:rPr lang="en-US" sz="1250" b="1" dirty="0">
                <a:solidFill>
                  <a:srgbClr val="2C0A0E"/>
                </a:solidFill>
                <a:latin typeface="Calibri" pitchFamily="34" charset="0"/>
                <a:ea typeface="Calibri" pitchFamily="34" charset="-122"/>
                <a:cs typeface="Calibri" pitchFamily="34" charset="-120"/>
              </a:rPr>
              <a:t>⭐  Launch First-Review Campaigns</a:t>
            </a:r>
            <a:endParaRPr lang="en-US" sz="1250" dirty="0"/>
          </a:p>
        </p:txBody>
      </p:sp>
      <p:sp>
        <p:nvSpPr>
          <p:cNvPr id="25" name="Text 23"/>
          <p:cNvSpPr/>
          <p:nvPr/>
        </p:nvSpPr>
        <p:spPr>
          <a:xfrm>
            <a:off x="3840480" y="2057400"/>
            <a:ext cx="4937760" cy="713232"/>
          </a:xfrm>
          <a:prstGeom prst="rect">
            <a:avLst/>
          </a:prstGeom>
          <a:noFill/>
          <a:ln/>
        </p:spPr>
        <p:txBody>
          <a:bodyPr wrap="square" lIns="0" tIns="0" rIns="0" bIns="0" rtlCol="0" anchor="ctr"/>
          <a:lstStyle/>
          <a:p>
            <a:pPr marL="0" indent="0">
              <a:buNone/>
            </a:pPr>
            <a:r>
              <a:rPr lang="en-US" sz="1100" dirty="0">
                <a:solidFill>
                  <a:srgbClr val="4A1520"/>
                </a:solidFill>
                <a:latin typeface="Calibri" pitchFamily="34" charset="0"/>
                <a:ea typeface="Calibri" pitchFamily="34" charset="-122"/>
                <a:cs typeface="Calibri" pitchFamily="34" charset="-120"/>
              </a:rPr>
              <a:t>2,148 restaurants have zero reviews. A targeted push notification or discount campaign encouraging first-time reviewers would significantly improve data completeness and restaurant visibility.</a:t>
            </a:r>
            <a:endParaRPr lang="en-US" sz="1100" dirty="0"/>
          </a:p>
        </p:txBody>
      </p:sp>
      <p:sp>
        <p:nvSpPr>
          <p:cNvPr id="26" name="Shape 24"/>
          <p:cNvSpPr/>
          <p:nvPr/>
        </p:nvSpPr>
        <p:spPr>
          <a:xfrm>
            <a:off x="3749040" y="2075688"/>
            <a:ext cx="0" cy="676656"/>
          </a:xfrm>
          <a:prstGeom prst="line">
            <a:avLst/>
          </a:prstGeom>
          <a:noFill/>
          <a:ln w="12700">
            <a:solidFill>
              <a:srgbClr val="F5B8BE"/>
            </a:solidFill>
            <a:prstDash val="solid"/>
          </a:ln>
        </p:spPr>
      </p:sp>
      <p:sp>
        <p:nvSpPr>
          <p:cNvPr id="27" name="Shape 25"/>
          <p:cNvSpPr/>
          <p:nvPr/>
        </p:nvSpPr>
        <p:spPr>
          <a:xfrm>
            <a:off x="256032" y="2971800"/>
            <a:ext cx="8631936" cy="896112"/>
          </a:xfrm>
          <a:prstGeom prst="rect">
            <a:avLst/>
          </a:prstGeom>
          <a:solidFill>
            <a:srgbClr val="FFFFFF"/>
          </a:solidFill>
          <a:ln/>
          <a:effectLst>
            <a:outerShdw blurRad="63500" dist="25400" dir="8100000" algn="bl" rotWithShape="0">
              <a:srgbClr val="000000">
                <a:alpha val="10000"/>
              </a:srgbClr>
            </a:outerShdw>
          </a:effectLst>
        </p:spPr>
      </p:sp>
      <p:sp>
        <p:nvSpPr>
          <p:cNvPr id="28" name="Shape 26"/>
          <p:cNvSpPr/>
          <p:nvPr/>
        </p:nvSpPr>
        <p:spPr>
          <a:xfrm>
            <a:off x="256032" y="2971800"/>
            <a:ext cx="54864" cy="896112"/>
          </a:xfrm>
          <a:prstGeom prst="rect">
            <a:avLst/>
          </a:prstGeom>
          <a:solidFill>
            <a:srgbClr val="E23744"/>
          </a:solidFill>
          <a:ln/>
        </p:spPr>
      </p:sp>
      <p:sp>
        <p:nvSpPr>
          <p:cNvPr id="29" name="Shape 27"/>
          <p:cNvSpPr/>
          <p:nvPr/>
        </p:nvSpPr>
        <p:spPr>
          <a:xfrm>
            <a:off x="256032" y="2971800"/>
            <a:ext cx="566928" cy="896112"/>
          </a:xfrm>
          <a:prstGeom prst="rect">
            <a:avLst/>
          </a:prstGeom>
          <a:solidFill>
            <a:srgbClr val="FFF5F6"/>
          </a:solidFill>
          <a:ln/>
        </p:spPr>
      </p:sp>
      <p:sp>
        <p:nvSpPr>
          <p:cNvPr id="30" name="Shape 28"/>
          <p:cNvSpPr/>
          <p:nvPr/>
        </p:nvSpPr>
        <p:spPr>
          <a:xfrm>
            <a:off x="256032" y="2971800"/>
            <a:ext cx="54864" cy="896112"/>
          </a:xfrm>
          <a:prstGeom prst="rect">
            <a:avLst/>
          </a:prstGeom>
          <a:solidFill>
            <a:srgbClr val="E23744"/>
          </a:solidFill>
          <a:ln/>
        </p:spPr>
      </p:sp>
      <p:sp>
        <p:nvSpPr>
          <p:cNvPr id="31" name="Text 29"/>
          <p:cNvSpPr/>
          <p:nvPr/>
        </p:nvSpPr>
        <p:spPr>
          <a:xfrm>
            <a:off x="310896" y="2971800"/>
            <a:ext cx="512064" cy="896112"/>
          </a:xfrm>
          <a:prstGeom prst="rect">
            <a:avLst/>
          </a:prstGeom>
          <a:noFill/>
          <a:ln/>
        </p:spPr>
        <p:txBody>
          <a:bodyPr wrap="square" lIns="0" tIns="0" rIns="0" bIns="0" rtlCol="0" anchor="ctr"/>
          <a:lstStyle/>
          <a:p>
            <a:pPr marL="0" indent="0" algn="ctr">
              <a:buNone/>
            </a:pPr>
            <a:r>
              <a:rPr lang="en-US" sz="2200" b="1" dirty="0">
                <a:solidFill>
                  <a:srgbClr val="E23744"/>
                </a:solidFill>
              </a:rPr>
              <a:t>3</a:t>
            </a:r>
            <a:endParaRPr lang="en-US" sz="2200" dirty="0"/>
          </a:p>
        </p:txBody>
      </p:sp>
      <p:sp>
        <p:nvSpPr>
          <p:cNvPr id="32" name="Shape 30"/>
          <p:cNvSpPr/>
          <p:nvPr/>
        </p:nvSpPr>
        <p:spPr>
          <a:xfrm>
            <a:off x="822960" y="3044952"/>
            <a:ext cx="960120" cy="256032"/>
          </a:xfrm>
          <a:prstGeom prst="rect">
            <a:avLst/>
          </a:prstGeom>
          <a:solidFill>
            <a:srgbClr val="E23744"/>
          </a:solidFill>
          <a:ln/>
        </p:spPr>
      </p:sp>
      <p:sp>
        <p:nvSpPr>
          <p:cNvPr id="33" name="Text 31"/>
          <p:cNvSpPr/>
          <p:nvPr/>
        </p:nvSpPr>
        <p:spPr>
          <a:xfrm>
            <a:off x="822960" y="3044952"/>
            <a:ext cx="960120" cy="256032"/>
          </a:xfrm>
          <a:prstGeom prst="rect">
            <a:avLst/>
          </a:prstGeom>
          <a:noFill/>
          <a:ln/>
        </p:spPr>
        <p:txBody>
          <a:bodyPr wrap="square" lIns="0" tIns="0" rIns="0" bIns="0" rtlCol="0" anchor="ctr"/>
          <a:lstStyle/>
          <a:p>
            <a:pPr marL="0" indent="0" algn="ctr">
              <a:buNone/>
            </a:pPr>
            <a:r>
              <a:rPr lang="en-US" sz="900" b="1" kern="0" spc="100" dirty="0">
                <a:solidFill>
                  <a:srgbClr val="FFFFFF"/>
                </a:solidFill>
              </a:rPr>
              <a:t>QUALITY</a:t>
            </a:r>
            <a:endParaRPr lang="en-US" sz="900" dirty="0"/>
          </a:p>
        </p:txBody>
      </p:sp>
      <p:sp>
        <p:nvSpPr>
          <p:cNvPr id="34" name="Text 32"/>
          <p:cNvSpPr/>
          <p:nvPr/>
        </p:nvSpPr>
        <p:spPr>
          <a:xfrm>
            <a:off x="822960" y="3337560"/>
            <a:ext cx="2926080" cy="256032"/>
          </a:xfrm>
          <a:prstGeom prst="rect">
            <a:avLst/>
          </a:prstGeom>
          <a:noFill/>
          <a:ln/>
        </p:spPr>
        <p:txBody>
          <a:bodyPr wrap="square" lIns="0" tIns="0" rIns="0" bIns="0" rtlCol="0" anchor="ctr"/>
          <a:lstStyle/>
          <a:p>
            <a:pPr marL="0" indent="0">
              <a:buNone/>
            </a:pPr>
            <a:r>
              <a:rPr lang="en-US" sz="1250" b="1" dirty="0">
                <a:solidFill>
                  <a:srgbClr val="2C0A0E"/>
                </a:solidFill>
                <a:latin typeface="Calibri" pitchFamily="34" charset="0"/>
                <a:ea typeface="Calibri" pitchFamily="34" charset="-122"/>
                <a:cs typeface="Calibri" pitchFamily="34" charset="-120"/>
              </a:rPr>
              <a:t>💰  Introduce Premium Restaurant Badging</a:t>
            </a:r>
            <a:endParaRPr lang="en-US" sz="1250" dirty="0"/>
          </a:p>
        </p:txBody>
      </p:sp>
      <p:sp>
        <p:nvSpPr>
          <p:cNvPr id="35" name="Text 33"/>
          <p:cNvSpPr/>
          <p:nvPr/>
        </p:nvSpPr>
        <p:spPr>
          <a:xfrm>
            <a:off x="3840480" y="3063240"/>
            <a:ext cx="4937760" cy="713232"/>
          </a:xfrm>
          <a:prstGeom prst="rect">
            <a:avLst/>
          </a:prstGeom>
          <a:noFill/>
          <a:ln/>
        </p:spPr>
        <p:txBody>
          <a:bodyPr wrap="square" lIns="0" tIns="0" rIns="0" bIns="0" rtlCol="0" anchor="ctr"/>
          <a:lstStyle/>
          <a:p>
            <a:pPr marL="0" indent="0">
              <a:buNone/>
            </a:pPr>
            <a:r>
              <a:rPr lang="en-US" sz="1100" dirty="0">
                <a:solidFill>
                  <a:srgbClr val="4A1520"/>
                </a:solidFill>
                <a:latin typeface="Calibri" pitchFamily="34" charset="0"/>
                <a:ea typeface="Calibri" pitchFamily="34" charset="-122"/>
                <a:cs typeface="Calibri" pitchFamily="34" charset="-120"/>
              </a:rPr>
              <a:t>Since luxury restaurants (Price Range 4) have the highest ratings at 3.82, a 'Premium Quality' badge could help customers quickly identify high-value restaurants and improve conversions.</a:t>
            </a:r>
            <a:endParaRPr lang="en-US" sz="1100" dirty="0"/>
          </a:p>
        </p:txBody>
      </p:sp>
      <p:sp>
        <p:nvSpPr>
          <p:cNvPr id="36" name="Shape 34"/>
          <p:cNvSpPr/>
          <p:nvPr/>
        </p:nvSpPr>
        <p:spPr>
          <a:xfrm>
            <a:off x="3749040" y="3081528"/>
            <a:ext cx="0" cy="676656"/>
          </a:xfrm>
          <a:prstGeom prst="line">
            <a:avLst/>
          </a:prstGeom>
          <a:noFill/>
          <a:ln w="12700">
            <a:solidFill>
              <a:srgbClr val="F5B8BE"/>
            </a:solidFill>
            <a:prstDash val="solid"/>
          </a:ln>
        </p:spPr>
      </p:sp>
      <p:sp>
        <p:nvSpPr>
          <p:cNvPr id="37" name="Shape 35"/>
          <p:cNvSpPr/>
          <p:nvPr/>
        </p:nvSpPr>
        <p:spPr>
          <a:xfrm>
            <a:off x="256032" y="3977640"/>
            <a:ext cx="8631936" cy="896112"/>
          </a:xfrm>
          <a:prstGeom prst="rect">
            <a:avLst/>
          </a:prstGeom>
          <a:solidFill>
            <a:srgbClr val="FFFFFF"/>
          </a:solidFill>
          <a:ln/>
          <a:effectLst>
            <a:outerShdw blurRad="63500" dist="25400" dir="8100000" algn="bl" rotWithShape="0">
              <a:srgbClr val="000000">
                <a:alpha val="10000"/>
              </a:srgbClr>
            </a:outerShdw>
          </a:effectLst>
        </p:spPr>
      </p:sp>
      <p:sp>
        <p:nvSpPr>
          <p:cNvPr id="38" name="Shape 36"/>
          <p:cNvSpPr/>
          <p:nvPr/>
        </p:nvSpPr>
        <p:spPr>
          <a:xfrm>
            <a:off x="256032" y="3977640"/>
            <a:ext cx="54864" cy="896112"/>
          </a:xfrm>
          <a:prstGeom prst="rect">
            <a:avLst/>
          </a:prstGeom>
          <a:solidFill>
            <a:srgbClr val="B8202E"/>
          </a:solidFill>
          <a:ln/>
        </p:spPr>
      </p:sp>
      <p:sp>
        <p:nvSpPr>
          <p:cNvPr id="39" name="Shape 37"/>
          <p:cNvSpPr/>
          <p:nvPr/>
        </p:nvSpPr>
        <p:spPr>
          <a:xfrm>
            <a:off x="256032" y="3977640"/>
            <a:ext cx="566928" cy="896112"/>
          </a:xfrm>
          <a:prstGeom prst="rect">
            <a:avLst/>
          </a:prstGeom>
          <a:solidFill>
            <a:srgbClr val="FFF5F6"/>
          </a:solidFill>
          <a:ln/>
        </p:spPr>
      </p:sp>
      <p:sp>
        <p:nvSpPr>
          <p:cNvPr id="40" name="Shape 38"/>
          <p:cNvSpPr/>
          <p:nvPr/>
        </p:nvSpPr>
        <p:spPr>
          <a:xfrm>
            <a:off x="256032" y="3977640"/>
            <a:ext cx="54864" cy="896112"/>
          </a:xfrm>
          <a:prstGeom prst="rect">
            <a:avLst/>
          </a:prstGeom>
          <a:solidFill>
            <a:srgbClr val="B8202E"/>
          </a:solidFill>
          <a:ln/>
        </p:spPr>
      </p:sp>
      <p:sp>
        <p:nvSpPr>
          <p:cNvPr id="41" name="Text 39"/>
          <p:cNvSpPr/>
          <p:nvPr/>
        </p:nvSpPr>
        <p:spPr>
          <a:xfrm>
            <a:off x="310896" y="3977640"/>
            <a:ext cx="512064" cy="896112"/>
          </a:xfrm>
          <a:prstGeom prst="rect">
            <a:avLst/>
          </a:prstGeom>
          <a:noFill/>
          <a:ln/>
        </p:spPr>
        <p:txBody>
          <a:bodyPr wrap="square" lIns="0" tIns="0" rIns="0" bIns="0" rtlCol="0" anchor="ctr"/>
          <a:lstStyle/>
          <a:p>
            <a:pPr marL="0" indent="0" algn="ctr">
              <a:buNone/>
            </a:pPr>
            <a:r>
              <a:rPr lang="en-US" sz="2200" b="1" dirty="0">
                <a:solidFill>
                  <a:srgbClr val="B8202E"/>
                </a:solidFill>
              </a:rPr>
              <a:t>4</a:t>
            </a:r>
            <a:endParaRPr lang="en-US" sz="2200" dirty="0"/>
          </a:p>
        </p:txBody>
      </p:sp>
      <p:sp>
        <p:nvSpPr>
          <p:cNvPr id="42" name="Shape 40"/>
          <p:cNvSpPr/>
          <p:nvPr/>
        </p:nvSpPr>
        <p:spPr>
          <a:xfrm>
            <a:off x="822960" y="4050792"/>
            <a:ext cx="960120" cy="256032"/>
          </a:xfrm>
          <a:prstGeom prst="rect">
            <a:avLst/>
          </a:prstGeom>
          <a:solidFill>
            <a:srgbClr val="B8202E"/>
          </a:solidFill>
          <a:ln/>
        </p:spPr>
      </p:sp>
      <p:sp>
        <p:nvSpPr>
          <p:cNvPr id="43" name="Text 41"/>
          <p:cNvSpPr/>
          <p:nvPr/>
        </p:nvSpPr>
        <p:spPr>
          <a:xfrm>
            <a:off x="822960" y="4050792"/>
            <a:ext cx="960120" cy="256032"/>
          </a:xfrm>
          <a:prstGeom prst="rect">
            <a:avLst/>
          </a:prstGeom>
          <a:noFill/>
          <a:ln/>
        </p:spPr>
        <p:txBody>
          <a:bodyPr wrap="square" lIns="0" tIns="0" rIns="0" bIns="0" rtlCol="0" anchor="ctr"/>
          <a:lstStyle/>
          <a:p>
            <a:pPr marL="0" indent="0" algn="ctr">
              <a:buNone/>
            </a:pPr>
            <a:r>
              <a:rPr lang="en-US" sz="900" b="1" kern="0" spc="100" dirty="0">
                <a:solidFill>
                  <a:srgbClr val="FFFFFF"/>
                </a:solidFill>
              </a:rPr>
              <a:t>EXPANSION</a:t>
            </a:r>
            <a:endParaRPr lang="en-US" sz="900" dirty="0"/>
          </a:p>
        </p:txBody>
      </p:sp>
      <p:sp>
        <p:nvSpPr>
          <p:cNvPr id="44" name="Text 42"/>
          <p:cNvSpPr/>
          <p:nvPr/>
        </p:nvSpPr>
        <p:spPr>
          <a:xfrm>
            <a:off x="822960" y="4343400"/>
            <a:ext cx="2926080" cy="256032"/>
          </a:xfrm>
          <a:prstGeom prst="rect">
            <a:avLst/>
          </a:prstGeom>
          <a:noFill/>
          <a:ln/>
        </p:spPr>
        <p:txBody>
          <a:bodyPr wrap="square" lIns="0" tIns="0" rIns="0" bIns="0" rtlCol="0" anchor="ctr"/>
          <a:lstStyle/>
          <a:p>
            <a:pPr marL="0" indent="0">
              <a:buNone/>
            </a:pPr>
            <a:r>
              <a:rPr lang="en-US" sz="1250" b="1" dirty="0">
                <a:solidFill>
                  <a:srgbClr val="2C0A0E"/>
                </a:solidFill>
                <a:latin typeface="Calibri" pitchFamily="34" charset="0"/>
                <a:ea typeface="Calibri" pitchFamily="34" charset="-122"/>
                <a:cs typeface="Calibri" pitchFamily="34" charset="-120"/>
              </a:rPr>
              <a:t>🌍  Invest in International Market Growth</a:t>
            </a:r>
            <a:endParaRPr lang="en-US" sz="1250" dirty="0"/>
          </a:p>
        </p:txBody>
      </p:sp>
      <p:sp>
        <p:nvSpPr>
          <p:cNvPr id="45" name="Text 43"/>
          <p:cNvSpPr/>
          <p:nvPr/>
        </p:nvSpPr>
        <p:spPr>
          <a:xfrm>
            <a:off x="3840480" y="4069080"/>
            <a:ext cx="4937760" cy="713232"/>
          </a:xfrm>
          <a:prstGeom prst="rect">
            <a:avLst/>
          </a:prstGeom>
          <a:noFill/>
          <a:ln/>
        </p:spPr>
        <p:txBody>
          <a:bodyPr wrap="square" lIns="0" tIns="0" rIns="0" bIns="0" rtlCol="0" anchor="ctr"/>
          <a:lstStyle/>
          <a:p>
            <a:pPr marL="0" indent="0">
              <a:buNone/>
            </a:pPr>
            <a:r>
              <a:rPr lang="en-US" sz="1100" dirty="0">
                <a:solidFill>
                  <a:srgbClr val="4A1520"/>
                </a:solidFill>
                <a:latin typeface="Calibri" pitchFamily="34" charset="0"/>
                <a:ea typeface="Calibri" pitchFamily="34" charset="-122"/>
                <a:cs typeface="Calibri" pitchFamily="34" charset="-120"/>
              </a:rPr>
              <a:t>Africa and Europe show the highest average ratings (4.21 and 4.19) despite low restaurant counts. These markets represent a high-quality growth opportunity for Zomato's global expansion.</a:t>
            </a:r>
            <a:endParaRPr lang="en-US" sz="1100" dirty="0"/>
          </a:p>
        </p:txBody>
      </p:sp>
      <p:sp>
        <p:nvSpPr>
          <p:cNvPr id="46" name="Shape 44"/>
          <p:cNvSpPr/>
          <p:nvPr/>
        </p:nvSpPr>
        <p:spPr>
          <a:xfrm>
            <a:off x="3749040" y="4087368"/>
            <a:ext cx="0" cy="676656"/>
          </a:xfrm>
          <a:prstGeom prst="line">
            <a:avLst/>
          </a:prstGeom>
          <a:noFill/>
          <a:ln w="12700">
            <a:solidFill>
              <a:srgbClr val="F5B8BE"/>
            </a:solidFill>
            <a:prstDash val="solid"/>
          </a:ln>
        </p:spPr>
      </p:sp>
      <p:sp>
        <p:nvSpPr>
          <p:cNvPr id="47" name="Shape 45"/>
          <p:cNvSpPr/>
          <p:nvPr/>
        </p:nvSpPr>
        <p:spPr>
          <a:xfrm>
            <a:off x="0" y="4832604"/>
            <a:ext cx="9144000" cy="310896"/>
          </a:xfrm>
          <a:prstGeom prst="rect">
            <a:avLst/>
          </a:prstGeom>
          <a:solidFill>
            <a:srgbClr val="E23744"/>
          </a:solidFill>
          <a:ln/>
        </p:spPr>
        <p:txBody>
          <a:bodyPr/>
          <a:lstStyle/>
          <a:p>
            <a:endParaRPr lang="en-IN" dirty="0"/>
          </a:p>
        </p:txBody>
      </p:sp>
      <p:sp>
        <p:nvSpPr>
          <p:cNvPr id="48" name="Text 46"/>
          <p:cNvSpPr/>
          <p:nvPr/>
        </p:nvSpPr>
        <p:spPr>
          <a:xfrm>
            <a:off x="274320" y="4832604"/>
            <a:ext cx="8595360" cy="310896"/>
          </a:xfrm>
          <a:prstGeom prst="rect">
            <a:avLst/>
          </a:prstGeom>
          <a:noFill/>
          <a:ln/>
        </p:spPr>
        <p:txBody>
          <a:bodyPr wrap="square" rtlCol="0" anchor="ctr"/>
          <a:lstStyle/>
          <a:p>
            <a:pPr marL="0" indent="0">
              <a:buNone/>
            </a:pP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E23744"/>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FFFFF"/>
          </a:solidFill>
          <a:ln/>
        </p:spPr>
      </p:sp>
      <p:sp>
        <p:nvSpPr>
          <p:cNvPr id="3" name="Shape 1"/>
          <p:cNvSpPr/>
          <p:nvPr/>
        </p:nvSpPr>
        <p:spPr>
          <a:xfrm>
            <a:off x="365760" y="256032"/>
            <a:ext cx="1371600" cy="1371600"/>
          </a:xfrm>
          <a:prstGeom prst="ellipse">
            <a:avLst/>
          </a:prstGeom>
          <a:solidFill>
            <a:srgbClr val="B8202E"/>
          </a:solidFill>
          <a:ln w="38100">
            <a:solidFill>
              <a:srgbClr val="FFFFFF"/>
            </a:solidFill>
            <a:prstDash val="solid"/>
          </a:ln>
        </p:spPr>
      </p:sp>
      <p:sp>
        <p:nvSpPr>
          <p:cNvPr id="4" name="Text 2"/>
          <p:cNvSpPr/>
          <p:nvPr/>
        </p:nvSpPr>
        <p:spPr>
          <a:xfrm>
            <a:off x="365760" y="256032"/>
            <a:ext cx="1371600" cy="1371600"/>
          </a:xfrm>
          <a:prstGeom prst="rect">
            <a:avLst/>
          </a:prstGeom>
          <a:noFill/>
          <a:ln/>
        </p:spPr>
        <p:txBody>
          <a:bodyPr wrap="square" lIns="0" tIns="0" rIns="0" bIns="0" rtlCol="0" anchor="ctr"/>
          <a:lstStyle/>
          <a:p>
            <a:pPr marL="0" indent="0" algn="ctr">
              <a:buNone/>
            </a:pPr>
            <a:r>
              <a:rPr lang="en-US" sz="4600" b="1" dirty="0">
                <a:solidFill>
                  <a:srgbClr val="FFFFFF"/>
                </a:solidFill>
                <a:latin typeface="Calibri Black" pitchFamily="34" charset="0"/>
                <a:ea typeface="Calibri Black" pitchFamily="34" charset="-122"/>
                <a:cs typeface="Calibri Black" pitchFamily="34" charset="-120"/>
              </a:rPr>
              <a:t>Z</a:t>
            </a:r>
            <a:endParaRPr lang="en-US" sz="4600" dirty="0"/>
          </a:p>
        </p:txBody>
      </p:sp>
      <p:sp>
        <p:nvSpPr>
          <p:cNvPr id="5" name="Text 3"/>
          <p:cNvSpPr/>
          <p:nvPr/>
        </p:nvSpPr>
        <p:spPr>
          <a:xfrm>
            <a:off x="365760" y="1810512"/>
            <a:ext cx="8412480" cy="713232"/>
          </a:xfrm>
          <a:prstGeom prst="rect">
            <a:avLst/>
          </a:prstGeom>
          <a:noFill/>
          <a:ln/>
        </p:spPr>
        <p:txBody>
          <a:bodyPr wrap="square" rtlCol="0" anchor="ctr"/>
          <a:lstStyle/>
          <a:p>
            <a:pPr marL="0" indent="0" algn="ctr">
              <a:buNone/>
            </a:pPr>
            <a:r>
              <a:rPr lang="en-US" sz="4400" b="1" kern="0" spc="500" dirty="0">
                <a:solidFill>
                  <a:srgbClr val="FFFFFF"/>
                </a:solidFill>
                <a:latin typeface="Calibri" pitchFamily="34" charset="0"/>
                <a:ea typeface="Calibri" pitchFamily="34" charset="-122"/>
                <a:cs typeface="Calibri" pitchFamily="34" charset="-120"/>
              </a:rPr>
              <a:t>CONCLUSION</a:t>
            </a:r>
            <a:endParaRPr lang="en-US" sz="4400" dirty="0"/>
          </a:p>
        </p:txBody>
      </p:sp>
      <p:sp>
        <p:nvSpPr>
          <p:cNvPr id="6" name="Text 4"/>
          <p:cNvSpPr/>
          <p:nvPr/>
        </p:nvSpPr>
        <p:spPr>
          <a:xfrm>
            <a:off x="822960" y="2606040"/>
            <a:ext cx="7498080" cy="804672"/>
          </a:xfrm>
          <a:prstGeom prst="rect">
            <a:avLst/>
          </a:prstGeom>
          <a:noFill/>
          <a:ln/>
        </p:spPr>
        <p:txBody>
          <a:bodyPr wrap="square" rtlCol="0" anchor="ctr"/>
          <a:lstStyle/>
          <a:p>
            <a:pPr marL="0" indent="0" algn="ctr">
              <a:buNone/>
            </a:pPr>
            <a:r>
              <a:rPr lang="en-US" sz="1250" dirty="0">
                <a:solidFill>
                  <a:srgbClr val="FFD0D4"/>
                </a:solidFill>
                <a:latin typeface="Calibri" pitchFamily="34" charset="0"/>
                <a:ea typeface="Calibri" pitchFamily="34" charset="-122"/>
                <a:cs typeface="Calibri" pitchFamily="34" charset="-120"/>
              </a:rPr>
              <a:t>This Power BI capstone project transforms raw Zomato data into actionable business intelligence. By building a 3-table Star Schema, writing 20 DAX measures, and designing 2 interactive dashboard pages, I uncovered key patterns in global restaurant performance, pricing, delivery impact, and customer engagement.</a:t>
            </a:r>
            <a:endParaRPr lang="en-US" sz="1250" dirty="0"/>
          </a:p>
        </p:txBody>
      </p:sp>
      <p:sp>
        <p:nvSpPr>
          <p:cNvPr id="9" name="Text 7"/>
          <p:cNvSpPr/>
          <p:nvPr/>
        </p:nvSpPr>
        <p:spPr>
          <a:xfrm>
            <a:off x="594360" y="3602736"/>
            <a:ext cx="1828800" cy="859536"/>
          </a:xfrm>
          <a:prstGeom prst="rect">
            <a:avLst/>
          </a:prstGeom>
          <a:noFill/>
          <a:ln/>
        </p:spPr>
        <p:txBody>
          <a:bodyPr wrap="square" rtlCol="0" anchor="ctr"/>
          <a:lstStyle/>
          <a:p>
            <a:pPr marL="0" indent="0" algn="ctr">
              <a:buNone/>
            </a:pPr>
            <a:endParaRPr lang="en-US" sz="1300" dirty="0"/>
          </a:p>
        </p:txBody>
      </p:sp>
      <p:sp>
        <p:nvSpPr>
          <p:cNvPr id="12" name="Text 10"/>
          <p:cNvSpPr/>
          <p:nvPr/>
        </p:nvSpPr>
        <p:spPr>
          <a:xfrm>
            <a:off x="2606040" y="3602736"/>
            <a:ext cx="1828800" cy="859536"/>
          </a:xfrm>
          <a:prstGeom prst="rect">
            <a:avLst/>
          </a:prstGeom>
          <a:noFill/>
          <a:ln/>
        </p:spPr>
        <p:txBody>
          <a:bodyPr wrap="square" rtlCol="0" anchor="ctr"/>
          <a:lstStyle/>
          <a:p>
            <a:pPr marL="0" indent="0" algn="ctr">
              <a:buNone/>
            </a:pPr>
            <a:endParaRPr lang="en-US" sz="1300" dirty="0"/>
          </a:p>
        </p:txBody>
      </p:sp>
      <p:sp>
        <p:nvSpPr>
          <p:cNvPr id="15" name="Text 13"/>
          <p:cNvSpPr/>
          <p:nvPr/>
        </p:nvSpPr>
        <p:spPr>
          <a:xfrm>
            <a:off x="4617720" y="3602736"/>
            <a:ext cx="1828800" cy="859536"/>
          </a:xfrm>
          <a:prstGeom prst="rect">
            <a:avLst/>
          </a:prstGeom>
          <a:noFill/>
          <a:ln/>
        </p:spPr>
        <p:txBody>
          <a:bodyPr wrap="square" rtlCol="0" anchor="ctr"/>
          <a:lstStyle/>
          <a:p>
            <a:pPr marL="0" indent="0" algn="ctr">
              <a:buNone/>
            </a:pPr>
            <a:endParaRPr lang="en-US" sz="1300" dirty="0"/>
          </a:p>
        </p:txBody>
      </p:sp>
      <p:sp>
        <p:nvSpPr>
          <p:cNvPr id="18" name="Text 16"/>
          <p:cNvSpPr/>
          <p:nvPr/>
        </p:nvSpPr>
        <p:spPr>
          <a:xfrm>
            <a:off x="6629400" y="3602736"/>
            <a:ext cx="1828800" cy="859536"/>
          </a:xfrm>
          <a:prstGeom prst="rect">
            <a:avLst/>
          </a:prstGeom>
          <a:noFill/>
          <a:ln/>
        </p:spPr>
        <p:txBody>
          <a:bodyPr wrap="square" rtlCol="0" anchor="ctr"/>
          <a:lstStyle/>
          <a:p>
            <a:pPr marL="0" indent="0" algn="ctr">
              <a:buNone/>
            </a:pPr>
            <a:endParaRPr lang="en-US" sz="1300" dirty="0"/>
          </a:p>
        </p:txBody>
      </p:sp>
      <p:sp>
        <p:nvSpPr>
          <p:cNvPr id="19" name="Shape 17"/>
          <p:cNvSpPr/>
          <p:nvPr/>
        </p:nvSpPr>
        <p:spPr>
          <a:xfrm>
            <a:off x="0" y="4828032"/>
            <a:ext cx="9144000" cy="315468"/>
          </a:xfrm>
          <a:prstGeom prst="rect">
            <a:avLst/>
          </a:prstGeom>
          <a:solidFill>
            <a:srgbClr val="B8202E"/>
          </a:solidFill>
          <a:ln/>
        </p:spPr>
      </p:sp>
      <p:sp>
        <p:nvSpPr>
          <p:cNvPr id="20" name="Text 18"/>
          <p:cNvSpPr/>
          <p:nvPr/>
        </p:nvSpPr>
        <p:spPr>
          <a:xfrm>
            <a:off x="274320" y="4828032"/>
            <a:ext cx="8595360" cy="31546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Thank You  |  Chithra P R  |  PGDA Batch-45  |  </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188</TotalTime>
  <Words>2984</Words>
  <Application>Microsoft Office PowerPoint</Application>
  <PresentationFormat>On-screen Show (16:9)</PresentationFormat>
  <Paragraphs>342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Zomato Restaurant Analytics — Capstone</dc:title>
  <dc:subject>PptxGenJS Presentation</dc:subject>
  <dc:creator>PptxGenJS</dc:creator>
  <cp:lastModifiedBy>Chithra P R</cp:lastModifiedBy>
  <cp:revision>5</cp:revision>
  <dcterms:created xsi:type="dcterms:W3CDTF">2026-03-07T14:51:24Z</dcterms:created>
  <dcterms:modified xsi:type="dcterms:W3CDTF">2026-03-08T04:40:32Z</dcterms:modified>
</cp:coreProperties>
</file>